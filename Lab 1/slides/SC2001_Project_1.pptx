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Explain the research question. The headline is a measured result on this implementation, not a universal claim. Add team names and lab group if desired before presenting.</a:t>
            </a:r>
          </a:p>
          <a:p/>
          <a:p>
            <a:r>
              <a:t>## Slide 1 — Can a small-array switch make merge sort faster? (0:00–0:30)</a:t>
            </a:r>
          </a:p>
          <a:p/>
          <a:p>
            <a:r>
              <a:t>**On slide**</a:t>
            </a:r>
          </a:p>
          <a:p/>
          <a:p>
            <a:r>
              <a:t>- Hybrid merge sort + insertion sort.</a:t>
            </a:r>
          </a:p>
          <a:p>
            <a:r>
              <a:t>- n = input length; S = insertion-sort threshold.</a:t>
            </a:r>
          </a:p>
          <a:p>
            <a:r>
              <a:t>- Question: which S minimizes CPU time, and does it also minimize comparisons?</a:t>
            </a:r>
          </a:p>
          <a:p>
            <a:r>
              <a:t>- Team member names and lab group.</a:t>
            </a:r>
          </a:p>
          <a:p/>
          <a:p>
            <a:r>
              <a:t>**Visual:** one simple pipeline: split → insertion-sort small leaves → merge.</a:t>
            </a:r>
          </a:p>
          <a:p/>
          <a:p>
            <a:r>
              <a:t>**Say:** “Merge sort scales well, but recursive splitting and merging add overhead on small subarrays. We keep its structure and replace only the small-leaf work. We measure both key comparisons and CPU time because they need not favor the same threshold.”</a:t>
            </a:r>
          </a:p>
          <a:p/>
          <a:p>
            <a:r>
              <a:t>**Transition:** “Here is the exact switch we implemented.”</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 seconds. Tree nodes show subarray lengths. Correctness follows from insertion-sort invariant and induction through stable merge. Half-open intervals exclude the right endpoint.</a:t>
            </a:r>
          </a:p>
          <a:p/>
          <a:p>
            <a:r>
              <a:t>## Slide 2 — Sort small leaves, then merge sorted halves (0:30–1:40)</a:t>
            </a:r>
          </a:p>
          <a:p/>
          <a:p>
            <a:r>
              <a:t>**On slide:** the following pseudocode, with a recursion tree beside it.</a:t>
            </a:r>
          </a:p>
          <a:p/>
          <a:p>
            <a:r>
              <a:t>```text</a:t>
            </a:r>
          </a:p>
          <a:p>
            <a:r>
              <a:t>hybrid(A, left, right, S):</a:t>
            </a:r>
          </a:p>
          <a:p>
            <a:r>
              <a:t>    if right-left &lt;= 1: return</a:t>
            </a:r>
          </a:p>
          <a:p>
            <a:r>
              <a:t>    if right-left &lt;= S:</a:t>
            </a:r>
          </a:p>
          <a:p>
            <a:r>
              <a:t>        insertionSort(A, left, right)</a:t>
            </a:r>
          </a:p>
          <a:p>
            <a:r>
              <a:t>        return</a:t>
            </a:r>
          </a:p>
          <a:p>
            <a:r>
              <a:t>    mid = left + (right-left)/2</a:t>
            </a:r>
          </a:p>
          <a:p>
            <a:r>
              <a:t>    hybrid(A, left, mid, S)</a:t>
            </a:r>
          </a:p>
          <a:p>
            <a:r>
              <a:t>    hybrid(A, mid, right, S)</a:t>
            </a:r>
          </a:p>
          <a:p>
            <a:r>
              <a:t>    merge(A, left, mid, right)</a:t>
            </a:r>
          </a:p>
          <a:p>
            <a:r>
              <a:t>```</a:t>
            </a:r>
          </a:p>
          <a:p/>
          <a:p>
            <a:r>
              <a:t>**Tree:** n=16, S=4: one 16 node → two 8 nodes → four highlighted 4-element leaves. Label leaves “insertion sort,” upper levels “merge.”</a:t>
            </a:r>
          </a:p>
          <a:p/>
          <a:p>
            <a:r>
              <a:t>**Footer:** stable; one reusable auxiliary array; tests against `std::sort`.</a:t>
            </a:r>
          </a:p>
          <a:p/>
          <a:p>
            <a:r>
              <a:t>**Say:** “Intervals exclude the right endpoint. Insertion sort maintains a sorted prefix, so every leaf is sorted. By induction, recursive calls return sorted halves. Merge repeatedly selects the smaller front element, so the combined interval is sorted and preserves all elements. Insertion shifts only strictly larger values, and merge takes the left value on ties, preserving stability.”</a:t>
            </a:r>
          </a:p>
          <a:p/>
          <a:p>
            <a:r>
              <a:t>**Code reference:** `src/sorting.hpp`. Show pseudocode rather than a screenshot of the whole source file.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 Auxiliary storage O(n), plus O(log(n/S)+1) recursive stack depth for 1≤S≤n. Do not claim differentiation of the bound identifies a universal threshold.</a:t>
            </a:r>
          </a:p>
          <a:p/>
          <a:p>
            <a:r>
              <a:t>## Slide 3 — Threshold trades insertion work for merge levels (1:40–2:40)</a:t>
            </a:r>
          </a:p>
          <a:p/>
          <a:p>
            <a:r>
              <a:t>**On slide**</a:t>
            </a:r>
          </a:p>
          <a:p/>
          <a:p>
            <a:r>
              <a:t>\[</a:t>
            </a:r>
          </a:p>
          <a:p>
            <a:r>
              <a:t>\underbrace{O((n/S)S^2)}_{\text{small-leaf sorting}}+</a:t>
            </a:r>
          </a:p>
          <a:p>
            <a:r>
              <a:t>\underbrace{O(n\log_2(n/S))}_{\text{merge levels}}</a:t>
            </a:r>
          </a:p>
          <a:p>
            <a:r>
              <a:t>=O(nS+n\log_2(n/S)).</a:t>
            </a:r>
          </a:p>
          <a:p>
            <a:r>
              <a:t>\]</a:t>
            </a:r>
          </a:p>
          <a:p/>
          <a:p>
            <a:r>
              <a:t>- Fixed S: Θ(n log n) worst case.</a:t>
            </a:r>
          </a:p>
          <a:p>
            <a:r>
              <a:t>- S=1: ordinary merge sort. S≥n: insertion sort.</a:t>
            </a:r>
          </a:p>
          <a:p>
            <a:r>
              <a:t>- Auxiliary space: O(n), plus recursion stack.</a:t>
            </a:r>
          </a:p>
          <a:p/>
          <a:p>
            <a:r>
              <a:t>**Say:** “Roughly n/S leaves each require at most quadratic insertion work in S. Each merge level processes at most n elements, and there are roughly log₂(n/S) levels. Increasing S reduces merge levels but increases insertion work. This is a worst-case growth bound, not an exact curve for random data and not a formula that directly tells us the fastest threshold.”</a:t>
            </a:r>
          </a:p>
          <a:p/>
          <a:p>
            <a:r>
              <a:t>**Precision for questions:** for non-power-of-two sizes, leaves differ by at most one within a depth and can occur at adjacent depths; the asymptotic bound survives rounding. For n≥2 and 1≤S≤n, insertion leaf lengths are O(S). Fixed S gives the usual worst-case lower and upper order. For S≥n, cap the leaf size at n.</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 seconds. CPU means process CPU via std::clock, not elapsed wall time. Generation, copying, allocations, checks and CSV output are outside timing. See appendix for exact seeds and counting definitions.</a:t>
            </a:r>
          </a:p>
          <a:p/>
          <a:p>
            <a:r>
              <a:t>## Slide 4 — Fair inputs, isolated timing, fresh validation (2:40–3:30)</a:t>
            </a:r>
          </a:p>
          <a:p/>
          <a:p>
            <a:r>
              <a:t>**On slide**</a:t>
            </a:r>
          </a:p>
          <a:p/>
          <a:p>
            <a:r>
              <a:t>- Uniform integers in [1, 10⁷]; n from 10³ to 10⁷.</a:t>
            </a:r>
          </a:p>
          <a:p>
            <a:r>
              <a:t>- Five tuning seeds; three timed repetitions per seed.</a:t>
            </a:r>
          </a:p>
          <a:p>
            <a:r>
              <a:t>- Same inputs across candidates; shuffled configuration order and warm-up.</a:t>
            </a:r>
          </a:p>
          <a:p>
            <a:r>
              <a:t>- Timers cover sorting only; counters compiled out of timed runs.</a:t>
            </a:r>
          </a:p>
          <a:p>
            <a:r>
              <a:t>- Choose S first; compare on five fresh seeds.</a:t>
            </a:r>
          </a:p>
          <a:p>
            <a:r>
              <a:t>- Machine/build: insert verified metadata from the measured content file.</a:t>
            </a:r>
          </a:p>
          <a:p/>
          <a:p>
            <a:r>
              <a:t>**Say:** “A key comparison is a comparison of two data values, including a false comparison that terminates insertion. Index checks are excluded. We count in a separate pass. We summarize repetitions within each seed, then summarize across seeds. Bands are interquartile ranges, not confidence intervals. Every sort is checked against a reference outside the timer.”</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 seconds. The right panel is not perfectly flat: actual leaf sizes vary as n changes, changing insertion work per element. The dashed reference is scaled to the largest point and is not an independently predicted count. Data is consistent with the bound; the derivation establishes it.</a:t>
            </a:r>
          </a:p>
          <a:p/>
          <a:p>
            <a:r>
              <a:t>## Slide 5 — Does comparison growth agree with theory? (3:30–4:25)</a:t>
            </a:r>
          </a:p>
          <a:p/>
          <a:p>
            <a:r>
              <a:t>**Visual:** `figures/01_fixed_s.png` occupying most of the slide. Retain both panels.</a:t>
            </a:r>
          </a:p>
          <a:p/>
          <a:p>
            <a:r>
              <a:t>**On slide:** “S=32, nine input sizes.” Add one measured sentence from `slides/measured_content.md` about the normalized range.</a:t>
            </a:r>
          </a:p>
          <a:p/>
          <a:p>
            <a:r>
              <a:t>**Say:** “The left panel shows the growth of key comparisons on logarithmic axes. The dashed curve is n log₂n scaled to the largest data point, so it is a reference, not a theoretical prediction of the exact count. The right panel divides by n log₂n. A broadly stable ratio supports the fixed-threshold growth prediction. Finite-size changes and leaf work explain why the ratio need not be perfectly constant.”</a:t>
            </a:r>
          </a:p>
          <a:p/>
          <a:p>
            <a:r>
              <a:t>**Avoid:** claiming that any straight log-log plot proves n log n, or asserting the fitted reference validates an exact formula.</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80 seconds. Left: fixed n=100k key comparisons. Right: coarse CPU timings at 10m. All four CPU curves and the refinement graph are in backup slides. The selected S=64 remains the best measured candidate after refining 48–96. S=39–75 generates the same leaves at 10m, so exact ranking within that plateau is not algorithmically meaningful. Later refinement timings differ from reused coarse timings; do not hide this phase limitation.</a:t>
            </a:r>
          </a:p>
          <a:p/>
          <a:p>
            <a:r>
              <a:t>## Slide 6 — Runtime and comparisons favor different tradeoffs (4:25–5:45)</a:t>
            </a:r>
          </a:p>
          <a:p/>
          <a:p>
            <a:r>
              <a:t>**Visual layout:** left 40%: `02_fixed_n.png`; right 60%: `03_threshold_cpu.png`. Use a build/animation or two sequential reveals on the same slide if labels are too small. Put the detailed refinement graph in the appendix.</a:t>
            </a:r>
          </a:p>
          <a:p/>
          <a:p>
            <a:r>
              <a:t>**On slide**</a:t>
            </a:r>
          </a:p>
          <a:p/>
          <a:p>
            <a:r>
              <a:t>- Comparison sweep at n=100,000.</a:t>
            </a:r>
          </a:p>
          <a:p>
            <a:r>
              <a:t>- CPU sweeps at four sizes; orange points mark coarse winners.</a:t>
            </a:r>
          </a:p>
          <a:p>
            <a:r>
              <a:t>- Fine search at 10m → selected S from actual results.</a:t>
            </a:r>
          </a:p>
          <a:p>
            <a:r>
              <a:t>- Several S values can create identical recursion leaves.</a:t>
            </a:r>
          </a:p>
          <a:p/>
          <a:p>
            <a:r>
              <a:t>**Say:** “Fewer key comparisons do not necessarily mean less CPU time. Small insertion-sort leaves can avoid recursive calls and buffer copying even when they make more comparisons. The curves are stepped because the switch depends on actual recursive subarray sizes. We refine around the coarse winner at 10 million and freeze the measured winner before testing fresh seeds. Nearby thresholds with similar times should be described as a fast region rather than a sharply established universal optimum.”</a:t>
            </a:r>
          </a:p>
          <a:p/>
          <a:p>
            <a:r>
              <a:t>Use a result-dependent headline after checking the actual curves; if the claimed tradeoff does not appear, replace the headline with “Measured effect of the threshold.”</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 Median CPU: original 0.443770s; hybrid 0.386277s. Median comparisons: 220,101,526 vs 281,233,315. Speedup uses paired seed ratios, not the ratio of overall medians. The result supports a runtime benefit here despite greater comparison work; no universal claim.</a:t>
            </a:r>
          </a:p>
          <a:p/>
          <a:p>
            <a:r>
              <a:t>## Slide 7 — Held-out comparison at ten million integers (5:45–6:45)</a:t>
            </a:r>
          </a:p>
          <a:p/>
          <a:p>
            <a:r>
              <a:t>**Visual:** `figures/06_validation.png` full width.</a:t>
            </a:r>
          </a:p>
          <a:p/>
          <a:p>
            <a:r>
              <a:t>**On slide:** exact selected S, original/hybrid CPU medians, paired speedup and comparison percentage change. Copy from `slides/measured_content.md`.</a:t>
            </a:r>
          </a:p>
          <a:p/>
          <a:p>
            <a:r>
              <a:t>**Say:** “These seeds were not used to choose S. Both algorithms sort identical arrays. The speedup is original CPU time divided by hybrid CPU time, computed within each seed and then summarized. The error bars show the variation across seeds. Our conclusion is limited to this implementation, machine, and input distribution.”</a:t>
            </a:r>
          </a:p>
          <a:p/>
          <a:p>
            <a:r>
              <a:t>If hybrid is slower, say so directly. Do not change S after seeing validation.</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 seconds: about 35s for demo and 40s for conclusions. Do not run the full benchmark live. Saved fallback: slides/demo-output.txt. End at eight minutes and invite Q&amp;A.</a:t>
            </a:r>
          </a:p>
          <a:p/>
          <a:p>
            <a:r>
              <a:t>## Slide 8 — Demonstration and three conclusions (6:45–8:00)</a:t>
            </a:r>
          </a:p>
          <a:p/>
          <a:p>
            <a:r>
              <a:t>**Demo, 35 seconds:** run `./build/demo` in an already-open terminal. Input `[7,2,5,1,6,3,4,2]`; sorted output `[1,2,2,3,4,5,6,7]`. Ordinary merge and hybrid S=1 both use 17 comparisons; S=4 uses 19; S=8 uses 22. Explain that tiny examples demonstrate behavior, not meaningful timing.</a:t>
            </a:r>
          </a:p>
          <a:p/>
          <a:p>
            <a:r>
              <a:t>**On slide, 40 seconds**</a:t>
            </a:r>
          </a:p>
          <a:p/>
          <a:p>
            <a:r>
              <a:t>1. Correctness: reference checks and sanitizer tests passed.</a:t>
            </a:r>
          </a:p>
          <a:p>
            <a:r>
              <a:t>2. Analysis: fixed-S behavior agrees with the expected growth to the extent shown by data.</a:t>
            </a:r>
          </a:p>
          <a:p>
            <a:r>
              <a:t>3. Performance: insert the actual held-out finding and chosen threshold.</a:t>
            </a:r>
          </a:p>
          <a:p/>
          <a:p>
            <a:r>
              <a:t>**Limitation:** the best measured threshold is implementation/machine/data dependent; timing noise makes neighboring thresholds hard to rank.</a:t>
            </a:r>
          </a:p>
          <a:p/>
          <a:p>
            <a:r>
              <a:t>**Reproducibility footer:** `make test`, `scripts/run_experiments.py`, `scripts/plot_results.py`. Show commands briefly; do not execute the full experiment during the presentation.</a:t>
            </a:r>
          </a:p>
          <a:p/>
          <a:p>
            <a:r>
              <a:t>**Fallback:** if the terminal is unavailable, show the saved demo output in `slides/demo-output.txt`.</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Coarse runtime winners differ across sizes. IQRs overlap for several candidates. Threshold selection is empirical and environment-specific.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Orange markers reuse earlier coarse observations; blue points were measured in the later fine sweep. Their systematic timing difference within the same recursion partition is evidence of a measurement-phase limitation, not threshold-induced algorithmic work. The held-out S=64 vs original result is the basis for the runtime claim.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curves cross because per-element insertion work depends on actual recursive leaf lengths, not just S. Counts are normalized by n here, not by n log n. Same-partition thresholds have identical comparisons on each seed.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Insertion uses j&gt;left &amp;&amp; previous&gt;key. Short circuit at the left boundary does not evaluate another key comparison. Sorted or all-equal length four: 3 comparisons; reverse length four: 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Tests cover lengths 0–260 over random trials and multiple thresholds. Stable behavior follows from strict-greater insertion and left-first merge ties; integer reference checks alone do not test identity ordering among equal keys. Source: results/full/verification.md and audit.txt.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mix smoke-test outputs with full experiment evidence. The sorting auxiliary array is O(n); the benchmark keeps four integer arrays, about 160 MB at n=10m. Fresh seeds prevent retuning to held-out results.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team members should rehearse answering these questions. Sources: supplied Project 1.pdf and info.pdf; implementation src/sorting.hpp; experimental evidence results/full/measurements.csv. Eight main slides total eight minutes; seven backup slides are for Q&amp;A only.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83E"/>
        </a:solidFill>
        <a:effectLst/>
      </p:bgPr>
    </p:bg>
    <p:spTree>
      <p:nvGrpSpPr>
        <p:cNvPr id="1" name=""/>
        <p:cNvGrpSpPr/>
        <p:nvPr/>
      </p:nvGrpSpPr>
      <p:grpSpPr/>
      <p:sp>
        <p:nvSpPr>
          <p:cNvPr id="2" name="TextBox 1"/>
          <p:cNvSpPr txBox="1"/>
          <p:nvPr/>
        </p:nvSpPr>
        <p:spPr>
          <a:xfrm>
            <a:off x="502920" y="228600"/>
            <a:ext cx="10972800" cy="274320"/>
          </a:xfrm>
          <a:prstGeom prst="rect">
            <a:avLst/>
          </a:prstGeom>
          <a:noFill/>
        </p:spPr>
        <p:txBody>
          <a:bodyPr wrap="square" lIns="9144" rIns="9144" tIns="0" bIns="0">
            <a:spAutoFit/>
          </a:bodyPr>
          <a:lstStyle/>
          <a:p>
            <a:pPr>
              <a:spcAft>
                <a:spcPts val="800"/>
              </a:spcAft>
              <a:defRPr sz="1100" b="1">
                <a:solidFill>
                  <a:srgbClr val="D96B27"/>
                </a:solidFill>
                <a:latin typeface="Arial"/>
              </a:defRPr>
            </a:pPr>
            <a:r>
              <a:t>SC2001 / PROJECT 1 / 0:00–0:30</a:t>
            </a:r>
          </a:p>
        </p:txBody>
      </p:sp>
      <p:sp>
        <p:nvSpPr>
          <p:cNvPr id="3" name="TextBox 2"/>
          <p:cNvSpPr txBox="1"/>
          <p:nvPr/>
        </p:nvSpPr>
        <p:spPr>
          <a:xfrm>
            <a:off x="502920" y="685800"/>
            <a:ext cx="11201400" cy="777240"/>
          </a:xfrm>
          <a:prstGeom prst="rect">
            <a:avLst/>
          </a:prstGeom>
          <a:noFill/>
        </p:spPr>
        <p:txBody>
          <a:bodyPr wrap="square" lIns="9144" rIns="9144" tIns="0" bIns="0">
            <a:spAutoFit/>
          </a:bodyPr>
          <a:lstStyle/>
          <a:p>
            <a:pPr>
              <a:spcAft>
                <a:spcPts val="800"/>
              </a:spcAft>
              <a:defRPr sz="3000" b="1">
                <a:solidFill>
                  <a:srgbClr val="FFFFFF"/>
                </a:solidFill>
                <a:latin typeface="Arial"/>
              </a:defRPr>
            </a:pPr>
            <a:r>
              <a:t>Can a small-array switch make merge sort faster?</a:t>
            </a:r>
          </a:p>
        </p:txBody>
      </p:sp>
      <p:sp>
        <p:nvSpPr>
          <p:cNvPr id="4" name="Rectangle 3"/>
          <p:cNvSpPr/>
          <p:nvPr/>
        </p:nvSpPr>
        <p:spPr>
          <a:xfrm>
            <a:off x="502920" y="6473952"/>
            <a:ext cx="11155680" cy="10972"/>
          </a:xfrm>
          <a:prstGeom prst="rect">
            <a:avLst/>
          </a:prstGeom>
          <a:solidFill>
            <a:srgbClr val="5667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65392"/>
            <a:ext cx="7315200" cy="182880"/>
          </a:xfrm>
          <a:prstGeom prst="rect">
            <a:avLst/>
          </a:prstGeom>
          <a:noFill/>
        </p:spPr>
        <p:txBody>
          <a:bodyPr wrap="square" lIns="9144" rIns="9144" tIns="0" bIns="0">
            <a:spAutoFit/>
          </a:bodyPr>
          <a:lstStyle/>
          <a:p>
            <a:pPr>
              <a:spcAft>
                <a:spcPts val="800"/>
              </a:spcAft>
              <a:defRPr sz="900" b="0">
                <a:solidFill>
                  <a:srgbClr val="B2C3D2"/>
                </a:solidFill>
                <a:latin typeface="Arial"/>
              </a:defRPr>
            </a:pPr>
            <a:r>
              <a:t>MERGE SORT + INSERTION SORT</a:t>
            </a:r>
          </a:p>
        </p:txBody>
      </p:sp>
      <p:sp>
        <p:nvSpPr>
          <p:cNvPr id="6" name="TextBox 5"/>
          <p:cNvSpPr txBox="1"/>
          <p:nvPr/>
        </p:nvSpPr>
        <p:spPr>
          <a:xfrm>
            <a:off x="11064240" y="6528816"/>
            <a:ext cx="548640" cy="228600"/>
          </a:xfrm>
          <a:prstGeom prst="rect">
            <a:avLst/>
          </a:prstGeom>
          <a:noFill/>
        </p:spPr>
        <p:txBody>
          <a:bodyPr wrap="square" lIns="9144" rIns="9144" tIns="0" bIns="0">
            <a:spAutoFit/>
          </a:bodyPr>
          <a:lstStyle/>
          <a:p>
            <a:pPr algn="r">
              <a:spcAft>
                <a:spcPts val="800"/>
              </a:spcAft>
              <a:defRPr sz="1100" b="0">
                <a:solidFill>
                  <a:srgbClr val="FFFFFF"/>
                </a:solidFill>
                <a:latin typeface="Arial"/>
              </a:defRPr>
            </a:pPr>
            <a:r>
              <a:t>01</a:t>
            </a:r>
          </a:p>
        </p:txBody>
      </p:sp>
      <p:sp>
        <p:nvSpPr>
          <p:cNvPr id="7" name="TextBox 6"/>
          <p:cNvSpPr txBox="1"/>
          <p:nvPr/>
        </p:nvSpPr>
        <p:spPr>
          <a:xfrm>
            <a:off x="594360" y="1737360"/>
            <a:ext cx="7315200" cy="1417320"/>
          </a:xfrm>
          <a:prstGeom prst="rect">
            <a:avLst/>
          </a:prstGeom>
          <a:noFill/>
        </p:spPr>
        <p:txBody>
          <a:bodyPr wrap="square" lIns="9144" rIns="9144" tIns="0" bIns="0">
            <a:spAutoFit/>
          </a:bodyPr>
          <a:lstStyle/>
          <a:p>
            <a:pPr>
              <a:spcAft>
                <a:spcPts val="800"/>
              </a:spcAft>
              <a:defRPr sz="4000" b="1">
                <a:solidFill>
                  <a:srgbClr val="FFFFFF"/>
                </a:solidFill>
                <a:latin typeface="Arial"/>
              </a:defRPr>
            </a:pPr>
            <a:r>
              <a:t>Hybrid merge sort</a:t>
            </a:r>
          </a:p>
          <a:p>
            <a:pPr>
              <a:spcAft>
                <a:spcPts val="800"/>
              </a:spcAft>
              <a:defRPr sz="4000" b="1">
                <a:solidFill>
                  <a:srgbClr val="FFFFFF"/>
                </a:solidFill>
                <a:latin typeface="Arial"/>
              </a:defRPr>
            </a:pPr>
            <a:r>
              <a:t>+ insertion sort</a:t>
            </a:r>
          </a:p>
        </p:txBody>
      </p:sp>
      <p:sp>
        <p:nvSpPr>
          <p:cNvPr id="8" name="TextBox 7"/>
          <p:cNvSpPr txBox="1"/>
          <p:nvPr/>
        </p:nvSpPr>
        <p:spPr>
          <a:xfrm>
            <a:off x="594360" y="3474720"/>
            <a:ext cx="6583680" cy="914400"/>
          </a:xfrm>
          <a:prstGeom prst="rect">
            <a:avLst/>
          </a:prstGeom>
          <a:noFill/>
        </p:spPr>
        <p:txBody>
          <a:bodyPr wrap="square" lIns="9144" rIns="9144" tIns="0" bIns="0">
            <a:spAutoFit/>
          </a:bodyPr>
          <a:lstStyle/>
          <a:p>
            <a:pPr>
              <a:spcAft>
                <a:spcPts val="800"/>
              </a:spcAft>
              <a:defRPr sz="2400" b="0">
                <a:solidFill>
                  <a:srgbClr val="C8D5DF"/>
                </a:solidFill>
                <a:latin typeface="Arial"/>
              </a:defRPr>
            </a:pPr>
            <a:r>
              <a:t>Choose a threshold S. Measure both CPU time and key comparisons.</a:t>
            </a:r>
          </a:p>
        </p:txBody>
      </p:sp>
      <p:sp>
        <p:nvSpPr>
          <p:cNvPr id="9" name="Rectangle 8"/>
          <p:cNvSpPr/>
          <p:nvPr/>
        </p:nvSpPr>
        <p:spPr>
          <a:xfrm>
            <a:off x="8321040" y="1828800"/>
            <a:ext cx="3200400" cy="2880360"/>
          </a:xfrm>
          <a:prstGeom prst="rect">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03920" y="2194560"/>
            <a:ext cx="2834640" cy="822960"/>
          </a:xfrm>
          <a:prstGeom prst="rect">
            <a:avLst/>
          </a:prstGeom>
          <a:noFill/>
        </p:spPr>
        <p:txBody>
          <a:bodyPr wrap="square" lIns="9144" rIns="9144" tIns="0" bIns="0">
            <a:spAutoFit/>
          </a:bodyPr>
          <a:lstStyle/>
          <a:p>
            <a:pPr algn="ctr">
              <a:spcAft>
                <a:spcPts val="800"/>
              </a:spcAft>
              <a:defRPr sz="5200" b="1">
                <a:solidFill>
                  <a:srgbClr val="FFFFFF"/>
                </a:solidFill>
                <a:latin typeface="Arial"/>
              </a:defRPr>
            </a:pPr>
            <a:r>
              <a:t>1.147×</a:t>
            </a:r>
          </a:p>
        </p:txBody>
      </p:sp>
      <p:sp>
        <p:nvSpPr>
          <p:cNvPr id="11" name="TextBox 10"/>
          <p:cNvSpPr txBox="1"/>
          <p:nvPr/>
        </p:nvSpPr>
        <p:spPr>
          <a:xfrm>
            <a:off x="8549640" y="3200400"/>
            <a:ext cx="2743200" cy="868680"/>
          </a:xfrm>
          <a:prstGeom prst="rect">
            <a:avLst/>
          </a:prstGeom>
          <a:noFill/>
        </p:spPr>
        <p:txBody>
          <a:bodyPr wrap="square" lIns="9144" rIns="9144" tIns="0" bIns="0">
            <a:spAutoFit/>
          </a:bodyPr>
          <a:lstStyle/>
          <a:p>
            <a:pPr algn="ctr">
              <a:spcAft>
                <a:spcPts val="800"/>
              </a:spcAft>
              <a:defRPr sz="2000" b="0">
                <a:solidFill>
                  <a:srgbClr val="FFFFFF"/>
                </a:solidFill>
                <a:latin typeface="Arial"/>
              </a:defRPr>
            </a:pPr>
            <a:r>
              <a:t>measured speedup</a:t>
            </a:r>
          </a:p>
          <a:p>
            <a:pPr algn="ctr">
              <a:spcAft>
                <a:spcPts val="800"/>
              </a:spcAft>
              <a:defRPr sz="2000" b="0">
                <a:solidFill>
                  <a:srgbClr val="FFFFFF"/>
                </a:solidFill>
                <a:latin typeface="Arial"/>
              </a:defRPr>
            </a:pPr>
            <a:r>
              <a:t>on fresh 10m-element arrays</a:t>
            </a:r>
          </a:p>
        </p:txBody>
      </p:sp>
      <p:sp>
        <p:nvSpPr>
          <p:cNvPr id="12" name="TextBox 11"/>
          <p:cNvSpPr txBox="1"/>
          <p:nvPr/>
        </p:nvSpPr>
        <p:spPr>
          <a:xfrm>
            <a:off x="594360" y="5120640"/>
            <a:ext cx="10058400" cy="411480"/>
          </a:xfrm>
          <a:prstGeom prst="rect">
            <a:avLst/>
          </a:prstGeom>
          <a:noFill/>
        </p:spPr>
        <p:txBody>
          <a:bodyPr wrap="square" lIns="9144" rIns="9144" tIns="0" bIns="0">
            <a:spAutoFit/>
          </a:bodyPr>
          <a:lstStyle/>
          <a:p>
            <a:pPr>
              <a:spcAft>
                <a:spcPts val="800"/>
              </a:spcAft>
              <a:defRPr sz="2100" b="0">
                <a:solidFill>
                  <a:srgbClr val="FFFFFF"/>
                </a:solidFill>
                <a:latin typeface="Arial"/>
              </a:defRPr>
            </a:pPr>
            <a:r>
              <a:t>n = input length     S = insertion-sort threshold</a:t>
            </a:r>
          </a:p>
        </p:txBody>
      </p:sp>
      <p:sp>
        <p:nvSpPr>
          <p:cNvPr id="13" name="TextBox 12"/>
          <p:cNvSpPr txBox="1"/>
          <p:nvPr/>
        </p:nvSpPr>
        <p:spPr>
          <a:xfrm>
            <a:off x="594360" y="5715000"/>
            <a:ext cx="10972800" cy="365760"/>
          </a:xfrm>
          <a:prstGeom prst="rect">
            <a:avLst/>
          </a:prstGeom>
          <a:noFill/>
        </p:spPr>
        <p:txBody>
          <a:bodyPr wrap="square" lIns="9144" rIns="9144" tIns="0" bIns="0">
            <a:spAutoFit/>
          </a:bodyPr>
          <a:lstStyle/>
          <a:p>
            <a:pPr>
              <a:spcAft>
                <a:spcPts val="800"/>
              </a:spcAft>
              <a:defRPr sz="2200" b="0">
                <a:solidFill>
                  <a:srgbClr val="C8D5DF"/>
                </a:solidFill>
                <a:latin typeface="Arial"/>
              </a:defRPr>
            </a:pPr>
            <a:r>
              <a:t>Research question: does the fastest S also minimize comparisons?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0972800" cy="274320"/>
          </a:xfrm>
          <a:prstGeom prst="rect">
            <a:avLst/>
          </a:prstGeom>
          <a:noFill/>
        </p:spPr>
        <p:txBody>
          <a:bodyPr wrap="square" lIns="9144" rIns="9144" tIns="0" bIns="0">
            <a:spAutoFit/>
          </a:bodyPr>
          <a:lstStyle/>
          <a:p>
            <a:pPr>
              <a:spcAft>
                <a:spcPts val="800"/>
              </a:spcAft>
              <a:defRPr sz="1100" b="1">
                <a:solidFill>
                  <a:srgbClr val="D96B27"/>
                </a:solidFill>
                <a:latin typeface="Arial"/>
              </a:defRPr>
            </a:pPr>
            <a:r>
              <a:t>ALGORITHM &amp; CORRECTNESS / (a) / 0:30–1:40</a:t>
            </a:r>
          </a:p>
        </p:txBody>
      </p:sp>
      <p:sp>
        <p:nvSpPr>
          <p:cNvPr id="3" name="TextBox 2"/>
          <p:cNvSpPr txBox="1"/>
          <p:nvPr/>
        </p:nvSpPr>
        <p:spPr>
          <a:xfrm>
            <a:off x="502920" y="685800"/>
            <a:ext cx="11201400" cy="777240"/>
          </a:xfrm>
          <a:prstGeom prst="rect">
            <a:avLst/>
          </a:prstGeom>
          <a:noFill/>
        </p:spPr>
        <p:txBody>
          <a:bodyPr wrap="square" lIns="9144" rIns="9144" tIns="0" bIns="0">
            <a:spAutoFit/>
          </a:bodyPr>
          <a:lstStyle/>
          <a:p>
            <a:pPr>
              <a:spcAft>
                <a:spcPts val="800"/>
              </a:spcAft>
              <a:defRPr sz="3000" b="1">
                <a:solidFill>
                  <a:srgbClr val="12283E"/>
                </a:solidFill>
                <a:latin typeface="Arial"/>
              </a:defRPr>
            </a:pPr>
            <a:r>
              <a:t>Sort small leaves; merge the sorted halves</a:t>
            </a:r>
          </a:p>
        </p:txBody>
      </p:sp>
      <p:sp>
        <p:nvSpPr>
          <p:cNvPr id="4" name="Rectangle 3"/>
          <p:cNvSpPr/>
          <p:nvPr/>
        </p:nvSpPr>
        <p:spPr>
          <a:xfrm>
            <a:off x="502920" y="6473952"/>
            <a:ext cx="11155680" cy="10972"/>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65392"/>
            <a:ext cx="7315200" cy="182880"/>
          </a:xfrm>
          <a:prstGeom prst="rect">
            <a:avLst/>
          </a:prstGeom>
          <a:noFill/>
        </p:spPr>
        <p:txBody>
          <a:bodyPr wrap="square" lIns="9144" rIns="9144" tIns="0" bIns="0">
            <a:spAutoFit/>
          </a:bodyPr>
          <a:lstStyle/>
          <a:p>
            <a:pPr>
              <a:spcAft>
                <a:spcPts val="800"/>
              </a:spcAft>
              <a:defRPr sz="900" b="0">
                <a:solidFill>
                  <a:srgbClr val="566779"/>
                </a:solidFill>
                <a:latin typeface="Arial"/>
              </a:defRPr>
            </a:pPr>
            <a:r>
              <a:t>MERGE SORT + INSERTION SORT</a:t>
            </a:r>
          </a:p>
        </p:txBody>
      </p:sp>
      <p:sp>
        <p:nvSpPr>
          <p:cNvPr id="6" name="TextBox 5"/>
          <p:cNvSpPr txBox="1"/>
          <p:nvPr/>
        </p:nvSpPr>
        <p:spPr>
          <a:xfrm>
            <a:off x="11064240" y="6528816"/>
            <a:ext cx="548640" cy="228600"/>
          </a:xfrm>
          <a:prstGeom prst="rect">
            <a:avLst/>
          </a:prstGeom>
          <a:noFill/>
        </p:spPr>
        <p:txBody>
          <a:bodyPr wrap="square" lIns="9144" rIns="9144" tIns="0" bIns="0">
            <a:spAutoFit/>
          </a:bodyPr>
          <a:lstStyle/>
          <a:p>
            <a:pPr algn="r">
              <a:spcAft>
                <a:spcPts val="800"/>
              </a:spcAft>
              <a:defRPr sz="1100" b="0">
                <a:solidFill>
                  <a:srgbClr val="12283E"/>
                </a:solidFill>
                <a:latin typeface="Arial"/>
              </a:defRPr>
            </a:pPr>
            <a:r>
              <a:t>02</a:t>
            </a:r>
          </a:p>
        </p:txBody>
      </p:sp>
      <p:sp>
        <p:nvSpPr>
          <p:cNvPr id="7" name="Rectangle 6"/>
          <p:cNvSpPr/>
          <p:nvPr/>
        </p:nvSpPr>
        <p:spPr>
          <a:xfrm>
            <a:off x="502920" y="1645920"/>
            <a:ext cx="5852160" cy="434340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56231"/>
            <a:ext cx="5486400" cy="3931920"/>
          </a:xfrm>
          <a:prstGeom prst="rect">
            <a:avLst/>
          </a:prstGeom>
          <a:noFill/>
        </p:spPr>
        <p:txBody>
          <a:bodyPr wrap="square" lIns="9144" rIns="9144" tIns="0" bIns="0">
            <a:spAutoFit/>
          </a:bodyPr>
          <a:lstStyle/>
          <a:p>
            <a:pPr>
              <a:spcAft>
                <a:spcPts val="800"/>
              </a:spcAft>
              <a:defRPr sz="1800" b="0">
                <a:solidFill>
                  <a:srgbClr val="12283E"/>
                </a:solidFill>
                <a:latin typeface="Menlo"/>
              </a:defRPr>
            </a:pPr>
            <a:r>
              <a:t>hybrid(A, left, right, S):</a:t>
            </a:r>
          </a:p>
          <a:p>
            <a:pPr>
              <a:spcAft>
                <a:spcPts val="800"/>
              </a:spcAft>
              <a:defRPr sz="1800" b="0">
                <a:solidFill>
                  <a:srgbClr val="12283E"/>
                </a:solidFill>
                <a:latin typeface="Menlo"/>
              </a:defRPr>
            </a:pPr>
            <a:r>
              <a:t>  if right-left &lt;= 1: return</a:t>
            </a:r>
          </a:p>
          <a:p>
            <a:pPr>
              <a:spcAft>
                <a:spcPts val="800"/>
              </a:spcAft>
              <a:defRPr sz="1800" b="0">
                <a:solidFill>
                  <a:srgbClr val="12283E"/>
                </a:solidFill>
                <a:latin typeface="Menlo"/>
              </a:defRPr>
            </a:pPr>
            <a:r>
              <a:t>  if right-left &lt;= S:</a:t>
            </a:r>
          </a:p>
          <a:p>
            <a:pPr>
              <a:spcAft>
                <a:spcPts val="800"/>
              </a:spcAft>
              <a:defRPr sz="1800" b="0">
                <a:solidFill>
                  <a:srgbClr val="12283E"/>
                </a:solidFill>
                <a:latin typeface="Menlo"/>
              </a:defRPr>
            </a:pPr>
            <a:r>
              <a:t>    insertionSort(A, left, right)</a:t>
            </a:r>
          </a:p>
          <a:p>
            <a:pPr>
              <a:spcAft>
                <a:spcPts val="800"/>
              </a:spcAft>
              <a:defRPr sz="1800" b="0">
                <a:solidFill>
                  <a:srgbClr val="12283E"/>
                </a:solidFill>
                <a:latin typeface="Menlo"/>
              </a:defRPr>
            </a:pPr>
            <a:r>
              <a:t>    return</a:t>
            </a:r>
          </a:p>
          <a:p>
            <a:pPr>
              <a:spcAft>
                <a:spcPts val="800"/>
              </a:spcAft>
              <a:defRPr sz="1800" b="0">
                <a:solidFill>
                  <a:srgbClr val="12283E"/>
                </a:solidFill>
                <a:latin typeface="Menlo"/>
              </a:defRPr>
            </a:pPr>
            <a:r>
              <a:t>  mid = left + (right-left)/2</a:t>
            </a:r>
          </a:p>
          <a:p>
            <a:pPr>
              <a:spcAft>
                <a:spcPts val="800"/>
              </a:spcAft>
              <a:defRPr sz="1800" b="0">
                <a:solidFill>
                  <a:srgbClr val="12283E"/>
                </a:solidFill>
                <a:latin typeface="Menlo"/>
              </a:defRPr>
            </a:pPr>
            <a:r>
              <a:t>  hybrid(A, left, mid, S)</a:t>
            </a:r>
          </a:p>
          <a:p>
            <a:pPr>
              <a:spcAft>
                <a:spcPts val="800"/>
              </a:spcAft>
              <a:defRPr sz="1800" b="0">
                <a:solidFill>
                  <a:srgbClr val="12283E"/>
                </a:solidFill>
                <a:latin typeface="Menlo"/>
              </a:defRPr>
            </a:pPr>
            <a:r>
              <a:t>  hybrid(A, mid, right, S)</a:t>
            </a:r>
          </a:p>
          <a:p>
            <a:pPr>
              <a:spcAft>
                <a:spcPts val="800"/>
              </a:spcAft>
              <a:defRPr sz="1800" b="0">
                <a:solidFill>
                  <a:srgbClr val="12283E"/>
                </a:solidFill>
                <a:latin typeface="Menlo"/>
              </a:defRPr>
            </a:pPr>
            <a:r>
              <a:t>  merge(A, left, mid, right)</a:t>
            </a:r>
          </a:p>
        </p:txBody>
      </p:sp>
      <p:cxnSp>
        <p:nvCxnSpPr>
          <p:cNvPr id="9" name="Connector 8"/>
          <p:cNvCxnSpPr/>
          <p:nvPr/>
        </p:nvCxnSpPr>
        <p:spPr>
          <a:xfrm flipH="1">
            <a:off x="7818120" y="2560320"/>
            <a:ext cx="1188720" cy="320040"/>
          </a:xfrm>
          <a:prstGeom prst="line">
            <a:avLst/>
          </a:prstGeom>
          <a:ln>
            <a:solidFill>
              <a:srgbClr val="566779"/>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06840" y="2560320"/>
            <a:ext cx="1188720" cy="320040"/>
          </a:xfrm>
          <a:prstGeom prst="line">
            <a:avLst/>
          </a:prstGeom>
          <a:ln>
            <a:solidFill>
              <a:srgbClr val="566779"/>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7178040" y="3429000"/>
            <a:ext cx="640080" cy="320040"/>
          </a:xfrm>
          <a:prstGeom prst="line">
            <a:avLst/>
          </a:prstGeom>
          <a:ln>
            <a:solidFill>
              <a:srgbClr val="566779"/>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818120" y="3429000"/>
            <a:ext cx="640080" cy="320040"/>
          </a:xfrm>
          <a:prstGeom prst="line">
            <a:avLst/>
          </a:prstGeom>
          <a:ln>
            <a:solidFill>
              <a:srgbClr val="566779"/>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9738360" y="3429000"/>
            <a:ext cx="457200" cy="320040"/>
          </a:xfrm>
          <a:prstGeom prst="line">
            <a:avLst/>
          </a:prstGeom>
          <a:ln>
            <a:solidFill>
              <a:srgbClr val="566779"/>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95560" y="3429000"/>
            <a:ext cx="822960" cy="320040"/>
          </a:xfrm>
          <a:prstGeom prst="line">
            <a:avLst/>
          </a:prstGeom>
          <a:ln>
            <a:solidFill>
              <a:srgbClr val="566779"/>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8641080" y="2029967"/>
            <a:ext cx="731520" cy="530352"/>
          </a:xfrm>
          <a:prstGeom prst="rect">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0" y="2084831"/>
            <a:ext cx="640080" cy="365760"/>
          </a:xfrm>
          <a:prstGeom prst="rect">
            <a:avLst/>
          </a:prstGeom>
          <a:noFill/>
        </p:spPr>
        <p:txBody>
          <a:bodyPr wrap="square" lIns="9144" rIns="9144" tIns="0" bIns="0">
            <a:spAutoFit/>
          </a:bodyPr>
          <a:lstStyle/>
          <a:p>
            <a:pPr algn="ctr">
              <a:spcAft>
                <a:spcPts val="800"/>
              </a:spcAft>
              <a:defRPr sz="2000" b="1">
                <a:solidFill>
                  <a:srgbClr val="FFFFFF"/>
                </a:solidFill>
                <a:latin typeface="Arial"/>
              </a:defRPr>
            </a:pPr>
            <a:r>
              <a:t>16</a:t>
            </a:r>
          </a:p>
        </p:txBody>
      </p:sp>
      <p:sp>
        <p:nvSpPr>
          <p:cNvPr id="17" name="Rectangle 16"/>
          <p:cNvSpPr/>
          <p:nvPr/>
        </p:nvSpPr>
        <p:spPr>
          <a:xfrm>
            <a:off x="7452360" y="2898648"/>
            <a:ext cx="731520" cy="530352"/>
          </a:xfrm>
          <a:prstGeom prst="rect">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0" y="2953512"/>
            <a:ext cx="640080" cy="365760"/>
          </a:xfrm>
          <a:prstGeom prst="rect">
            <a:avLst/>
          </a:prstGeom>
          <a:noFill/>
        </p:spPr>
        <p:txBody>
          <a:bodyPr wrap="square" lIns="9144" rIns="9144" tIns="0" bIns="0">
            <a:spAutoFit/>
          </a:bodyPr>
          <a:lstStyle/>
          <a:p>
            <a:pPr algn="ctr">
              <a:spcAft>
                <a:spcPts val="800"/>
              </a:spcAft>
              <a:defRPr sz="2000" b="1">
                <a:solidFill>
                  <a:srgbClr val="FFFFFF"/>
                </a:solidFill>
                <a:latin typeface="Arial"/>
              </a:defRPr>
            </a:pPr>
            <a:r>
              <a:t>8</a:t>
            </a:r>
          </a:p>
        </p:txBody>
      </p:sp>
      <p:sp>
        <p:nvSpPr>
          <p:cNvPr id="19" name="Rectangle 18"/>
          <p:cNvSpPr/>
          <p:nvPr/>
        </p:nvSpPr>
        <p:spPr>
          <a:xfrm>
            <a:off x="9829800" y="2898648"/>
            <a:ext cx="731520" cy="530352"/>
          </a:xfrm>
          <a:prstGeom prst="rect">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75520" y="2953512"/>
            <a:ext cx="640080" cy="365760"/>
          </a:xfrm>
          <a:prstGeom prst="rect">
            <a:avLst/>
          </a:prstGeom>
          <a:noFill/>
        </p:spPr>
        <p:txBody>
          <a:bodyPr wrap="square" lIns="9144" rIns="9144" tIns="0" bIns="0">
            <a:spAutoFit/>
          </a:bodyPr>
          <a:lstStyle/>
          <a:p>
            <a:pPr algn="ctr">
              <a:spcAft>
                <a:spcPts val="800"/>
              </a:spcAft>
              <a:defRPr sz="2000" b="1">
                <a:solidFill>
                  <a:srgbClr val="FFFFFF"/>
                </a:solidFill>
                <a:latin typeface="Arial"/>
              </a:defRPr>
            </a:pPr>
            <a:r>
              <a:t>8</a:t>
            </a:r>
          </a:p>
        </p:txBody>
      </p:sp>
      <p:sp>
        <p:nvSpPr>
          <p:cNvPr id="21" name="Rectangle 20"/>
          <p:cNvSpPr/>
          <p:nvPr/>
        </p:nvSpPr>
        <p:spPr>
          <a:xfrm>
            <a:off x="6812279" y="3767328"/>
            <a:ext cx="731520" cy="530352"/>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0" y="3822192"/>
            <a:ext cx="640080" cy="365760"/>
          </a:xfrm>
          <a:prstGeom prst="rect">
            <a:avLst/>
          </a:prstGeom>
          <a:noFill/>
        </p:spPr>
        <p:txBody>
          <a:bodyPr wrap="square" lIns="9144" rIns="9144" tIns="0" bIns="0">
            <a:spAutoFit/>
          </a:bodyPr>
          <a:lstStyle/>
          <a:p>
            <a:pPr algn="ctr">
              <a:spcAft>
                <a:spcPts val="800"/>
              </a:spcAft>
              <a:defRPr sz="2000" b="1">
                <a:solidFill>
                  <a:srgbClr val="FFFFFF"/>
                </a:solidFill>
                <a:latin typeface="Arial"/>
              </a:defRPr>
            </a:pPr>
            <a:r>
              <a:t>4</a:t>
            </a:r>
          </a:p>
        </p:txBody>
      </p:sp>
      <p:sp>
        <p:nvSpPr>
          <p:cNvPr id="23" name="Rectangle 22"/>
          <p:cNvSpPr/>
          <p:nvPr/>
        </p:nvSpPr>
        <p:spPr>
          <a:xfrm>
            <a:off x="8092440" y="3767328"/>
            <a:ext cx="731520" cy="530352"/>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38160" y="3822192"/>
            <a:ext cx="640080" cy="365760"/>
          </a:xfrm>
          <a:prstGeom prst="rect">
            <a:avLst/>
          </a:prstGeom>
          <a:noFill/>
        </p:spPr>
        <p:txBody>
          <a:bodyPr wrap="square" lIns="9144" rIns="9144" tIns="0" bIns="0">
            <a:spAutoFit/>
          </a:bodyPr>
          <a:lstStyle/>
          <a:p>
            <a:pPr algn="ctr">
              <a:spcAft>
                <a:spcPts val="800"/>
              </a:spcAft>
              <a:defRPr sz="2000" b="1">
                <a:solidFill>
                  <a:srgbClr val="FFFFFF"/>
                </a:solidFill>
                <a:latin typeface="Arial"/>
              </a:defRPr>
            </a:pPr>
            <a:r>
              <a:t>4</a:t>
            </a:r>
          </a:p>
        </p:txBody>
      </p:sp>
      <p:sp>
        <p:nvSpPr>
          <p:cNvPr id="25" name="Rectangle 24"/>
          <p:cNvSpPr/>
          <p:nvPr/>
        </p:nvSpPr>
        <p:spPr>
          <a:xfrm>
            <a:off x="9372600" y="3767328"/>
            <a:ext cx="731520" cy="530352"/>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0" y="3822192"/>
            <a:ext cx="640080" cy="365760"/>
          </a:xfrm>
          <a:prstGeom prst="rect">
            <a:avLst/>
          </a:prstGeom>
          <a:noFill/>
        </p:spPr>
        <p:txBody>
          <a:bodyPr wrap="square" lIns="9144" rIns="9144" tIns="0" bIns="0">
            <a:spAutoFit/>
          </a:bodyPr>
          <a:lstStyle/>
          <a:p>
            <a:pPr algn="ctr">
              <a:spcAft>
                <a:spcPts val="800"/>
              </a:spcAft>
              <a:defRPr sz="2000" b="1">
                <a:solidFill>
                  <a:srgbClr val="FFFFFF"/>
                </a:solidFill>
                <a:latin typeface="Arial"/>
              </a:defRPr>
            </a:pPr>
            <a:r>
              <a:t>4</a:t>
            </a:r>
          </a:p>
        </p:txBody>
      </p:sp>
      <p:sp>
        <p:nvSpPr>
          <p:cNvPr id="27" name="Rectangle 26"/>
          <p:cNvSpPr/>
          <p:nvPr/>
        </p:nvSpPr>
        <p:spPr>
          <a:xfrm>
            <a:off x="10652760" y="3767328"/>
            <a:ext cx="731520" cy="530352"/>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698480" y="3822192"/>
            <a:ext cx="640080" cy="365760"/>
          </a:xfrm>
          <a:prstGeom prst="rect">
            <a:avLst/>
          </a:prstGeom>
          <a:noFill/>
        </p:spPr>
        <p:txBody>
          <a:bodyPr wrap="square" lIns="9144" rIns="9144" tIns="0" bIns="0">
            <a:spAutoFit/>
          </a:bodyPr>
          <a:lstStyle/>
          <a:p>
            <a:pPr algn="ctr">
              <a:spcAft>
                <a:spcPts val="800"/>
              </a:spcAft>
              <a:defRPr sz="2000" b="1">
                <a:solidFill>
                  <a:srgbClr val="FFFFFF"/>
                </a:solidFill>
                <a:latin typeface="Arial"/>
              </a:defRPr>
            </a:pPr>
            <a:r>
              <a:t>4</a:t>
            </a:r>
          </a:p>
        </p:txBody>
      </p:sp>
      <p:sp>
        <p:nvSpPr>
          <p:cNvPr id="29" name="TextBox 28"/>
          <p:cNvSpPr txBox="1"/>
          <p:nvPr/>
        </p:nvSpPr>
        <p:spPr>
          <a:xfrm>
            <a:off x="6858000" y="1554480"/>
            <a:ext cx="4572000" cy="365760"/>
          </a:xfrm>
          <a:prstGeom prst="rect">
            <a:avLst/>
          </a:prstGeom>
          <a:noFill/>
        </p:spPr>
        <p:txBody>
          <a:bodyPr wrap="square" lIns="9144" rIns="9144" tIns="0" bIns="0">
            <a:spAutoFit/>
          </a:bodyPr>
          <a:lstStyle/>
          <a:p>
            <a:pPr algn="ctr">
              <a:spcAft>
                <a:spcPts val="800"/>
              </a:spcAft>
              <a:defRPr sz="2100" b="1">
                <a:solidFill>
                  <a:srgbClr val="12283E"/>
                </a:solidFill>
                <a:latin typeface="Arial"/>
              </a:defRPr>
            </a:pPr>
            <a:r>
              <a:t>n=16, S=4</a:t>
            </a:r>
          </a:p>
        </p:txBody>
      </p:sp>
      <p:sp>
        <p:nvSpPr>
          <p:cNvPr id="30" name="TextBox 29"/>
          <p:cNvSpPr txBox="1"/>
          <p:nvPr/>
        </p:nvSpPr>
        <p:spPr>
          <a:xfrm>
            <a:off x="6720840" y="4526280"/>
            <a:ext cx="4892040" cy="411480"/>
          </a:xfrm>
          <a:prstGeom prst="rect">
            <a:avLst/>
          </a:prstGeom>
          <a:noFill/>
        </p:spPr>
        <p:txBody>
          <a:bodyPr wrap="square" lIns="9144" rIns="9144" tIns="0" bIns="0">
            <a:spAutoFit/>
          </a:bodyPr>
          <a:lstStyle/>
          <a:p>
            <a:pPr algn="ctr">
              <a:spcAft>
                <a:spcPts val="800"/>
              </a:spcAft>
              <a:defRPr sz="2000" b="1">
                <a:solidFill>
                  <a:srgbClr val="D96B27"/>
                </a:solidFill>
                <a:latin typeface="Arial"/>
              </a:defRPr>
            </a:pPr>
            <a:r>
              <a:t>Insertion sort at the four leaves</a:t>
            </a:r>
          </a:p>
        </p:txBody>
      </p:sp>
      <p:sp>
        <p:nvSpPr>
          <p:cNvPr id="31" name="TextBox 30"/>
          <p:cNvSpPr txBox="1"/>
          <p:nvPr/>
        </p:nvSpPr>
        <p:spPr>
          <a:xfrm>
            <a:off x="6720840" y="4983480"/>
            <a:ext cx="4892040" cy="914400"/>
          </a:xfrm>
          <a:prstGeom prst="rect">
            <a:avLst/>
          </a:prstGeom>
          <a:noFill/>
        </p:spPr>
        <p:txBody>
          <a:bodyPr wrap="square" lIns="9144" rIns="9144" tIns="0" bIns="0">
            <a:spAutoFit/>
          </a:bodyPr>
          <a:lstStyle/>
          <a:p>
            <a:pPr algn="ctr">
              <a:spcAft>
                <a:spcPts val="800"/>
              </a:spcAft>
              <a:defRPr sz="1800" b="0">
                <a:solidFill>
                  <a:srgbClr val="566779"/>
                </a:solidFill>
                <a:latin typeface="Arial"/>
              </a:defRPr>
            </a:pPr>
            <a:r>
              <a:t>Sorted leaves → sorted halves → sorted whole</a:t>
            </a:r>
          </a:p>
          <a:p>
            <a:pPr algn="ctr">
              <a:spcAft>
                <a:spcPts val="800"/>
              </a:spcAft>
              <a:defRPr sz="1800" b="0">
                <a:solidFill>
                  <a:srgbClr val="566779"/>
                </a:solidFill>
                <a:latin typeface="Arial"/>
              </a:defRPr>
            </a:pPr>
            <a:r>
              <a:t>Stable ties • one reusable buffer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0972800" cy="274320"/>
          </a:xfrm>
          <a:prstGeom prst="rect">
            <a:avLst/>
          </a:prstGeom>
          <a:noFill/>
        </p:spPr>
        <p:txBody>
          <a:bodyPr wrap="square" lIns="9144" rIns="9144" tIns="0" bIns="0">
            <a:spAutoFit/>
          </a:bodyPr>
          <a:lstStyle/>
          <a:p>
            <a:pPr>
              <a:spcAft>
                <a:spcPts val="800"/>
              </a:spcAft>
              <a:defRPr sz="1100" b="1">
                <a:solidFill>
                  <a:srgbClr val="D96B27"/>
                </a:solidFill>
                <a:latin typeface="Arial"/>
              </a:defRPr>
            </a:pPr>
            <a:r>
              <a:t>THEORETICAL ANALYSIS / (c) / 1:40–2:40</a:t>
            </a:r>
          </a:p>
        </p:txBody>
      </p:sp>
      <p:sp>
        <p:nvSpPr>
          <p:cNvPr id="3" name="TextBox 2"/>
          <p:cNvSpPr txBox="1"/>
          <p:nvPr/>
        </p:nvSpPr>
        <p:spPr>
          <a:xfrm>
            <a:off x="502920" y="685800"/>
            <a:ext cx="11201400" cy="777240"/>
          </a:xfrm>
          <a:prstGeom prst="rect">
            <a:avLst/>
          </a:prstGeom>
          <a:noFill/>
        </p:spPr>
        <p:txBody>
          <a:bodyPr wrap="square" lIns="9144" rIns="9144" tIns="0" bIns="0">
            <a:spAutoFit/>
          </a:bodyPr>
          <a:lstStyle/>
          <a:p>
            <a:pPr>
              <a:spcAft>
                <a:spcPts val="800"/>
              </a:spcAft>
              <a:defRPr sz="3000" b="1">
                <a:solidFill>
                  <a:srgbClr val="12283E"/>
                </a:solidFill>
                <a:latin typeface="Arial"/>
              </a:defRPr>
            </a:pPr>
            <a:r>
              <a:t>The threshold trades leaf work for merge levels</a:t>
            </a:r>
          </a:p>
        </p:txBody>
      </p:sp>
      <p:sp>
        <p:nvSpPr>
          <p:cNvPr id="4" name="Rectangle 3"/>
          <p:cNvSpPr/>
          <p:nvPr/>
        </p:nvSpPr>
        <p:spPr>
          <a:xfrm>
            <a:off x="502920" y="6473952"/>
            <a:ext cx="11155680" cy="10972"/>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65392"/>
            <a:ext cx="7315200" cy="182880"/>
          </a:xfrm>
          <a:prstGeom prst="rect">
            <a:avLst/>
          </a:prstGeom>
          <a:noFill/>
        </p:spPr>
        <p:txBody>
          <a:bodyPr wrap="square" lIns="9144" rIns="9144" tIns="0" bIns="0">
            <a:spAutoFit/>
          </a:bodyPr>
          <a:lstStyle/>
          <a:p>
            <a:pPr>
              <a:spcAft>
                <a:spcPts val="800"/>
              </a:spcAft>
              <a:defRPr sz="900" b="0">
                <a:solidFill>
                  <a:srgbClr val="566779"/>
                </a:solidFill>
                <a:latin typeface="Arial"/>
              </a:defRPr>
            </a:pPr>
            <a:r>
              <a:t>MERGE SORT + INSERTION SORT</a:t>
            </a:r>
          </a:p>
        </p:txBody>
      </p:sp>
      <p:sp>
        <p:nvSpPr>
          <p:cNvPr id="6" name="TextBox 5"/>
          <p:cNvSpPr txBox="1"/>
          <p:nvPr/>
        </p:nvSpPr>
        <p:spPr>
          <a:xfrm>
            <a:off x="11064240" y="6528816"/>
            <a:ext cx="548640" cy="228600"/>
          </a:xfrm>
          <a:prstGeom prst="rect">
            <a:avLst/>
          </a:prstGeom>
          <a:noFill/>
        </p:spPr>
        <p:txBody>
          <a:bodyPr wrap="square" lIns="9144" rIns="9144" tIns="0" bIns="0">
            <a:spAutoFit/>
          </a:bodyPr>
          <a:lstStyle/>
          <a:p>
            <a:pPr algn="r">
              <a:spcAft>
                <a:spcPts val="800"/>
              </a:spcAft>
              <a:defRPr sz="1100" b="0">
                <a:solidFill>
                  <a:srgbClr val="12283E"/>
                </a:solidFill>
                <a:latin typeface="Arial"/>
              </a:defRPr>
            </a:pPr>
            <a:r>
              <a:t>03</a:t>
            </a:r>
          </a:p>
        </p:txBody>
      </p:sp>
      <p:sp>
        <p:nvSpPr>
          <p:cNvPr id="7" name="Rectangle 6"/>
          <p:cNvSpPr/>
          <p:nvPr/>
        </p:nvSpPr>
        <p:spPr>
          <a:xfrm>
            <a:off x="594360" y="1691640"/>
            <a:ext cx="5394960" cy="123444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691640"/>
            <a:ext cx="50292" cy="1234440"/>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801368"/>
            <a:ext cx="5065776" cy="365760"/>
          </a:xfrm>
          <a:prstGeom prst="rect">
            <a:avLst/>
          </a:prstGeom>
          <a:noFill/>
        </p:spPr>
        <p:txBody>
          <a:bodyPr wrap="square" lIns="9144" rIns="9144" tIns="0" bIns="0">
            <a:spAutoFit/>
          </a:bodyPr>
          <a:lstStyle/>
          <a:p>
            <a:pPr>
              <a:spcAft>
                <a:spcPts val="800"/>
              </a:spcAft>
              <a:defRPr sz="2000" b="1">
                <a:solidFill>
                  <a:srgbClr val="D96B27"/>
                </a:solidFill>
                <a:latin typeface="Arial"/>
              </a:defRPr>
            </a:pPr>
            <a:r>
              <a:t>Insertion-sort leaves</a:t>
            </a:r>
          </a:p>
        </p:txBody>
      </p:sp>
      <p:sp>
        <p:nvSpPr>
          <p:cNvPr id="10" name="TextBox 9"/>
          <p:cNvSpPr txBox="1"/>
          <p:nvPr/>
        </p:nvSpPr>
        <p:spPr>
          <a:xfrm>
            <a:off x="758952" y="2194560"/>
            <a:ext cx="5065776" cy="685800"/>
          </a:xfrm>
          <a:prstGeom prst="rect">
            <a:avLst/>
          </a:prstGeom>
          <a:noFill/>
        </p:spPr>
        <p:txBody>
          <a:bodyPr wrap="square" lIns="9144" rIns="9144" tIns="0" bIns="0">
            <a:spAutoFit/>
          </a:bodyPr>
          <a:lstStyle/>
          <a:p>
            <a:pPr>
              <a:spcAft>
                <a:spcPts val="800"/>
              </a:spcAft>
              <a:defRPr sz="1600" b="0">
                <a:solidFill>
                  <a:srgbClr val="566779"/>
                </a:solidFill>
                <a:latin typeface="Arial"/>
              </a:defRPr>
            </a:pPr>
            <a:r>
              <a:t>About n/S leaves × O(S²) work per leaf</a:t>
            </a:r>
          </a:p>
        </p:txBody>
      </p:sp>
      <p:sp>
        <p:nvSpPr>
          <p:cNvPr id="11" name="Rectangle 10"/>
          <p:cNvSpPr/>
          <p:nvPr/>
        </p:nvSpPr>
        <p:spPr>
          <a:xfrm>
            <a:off x="6217920" y="1691640"/>
            <a:ext cx="5394960" cy="123444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691640"/>
            <a:ext cx="50292" cy="1234440"/>
          </a:xfrm>
          <a:prstGeom prst="rect">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801368"/>
            <a:ext cx="5065776" cy="365760"/>
          </a:xfrm>
          <a:prstGeom prst="rect">
            <a:avLst/>
          </a:prstGeom>
          <a:noFill/>
        </p:spPr>
        <p:txBody>
          <a:bodyPr wrap="square" lIns="9144" rIns="9144" tIns="0" bIns="0">
            <a:spAutoFit/>
          </a:bodyPr>
          <a:lstStyle/>
          <a:p>
            <a:pPr>
              <a:spcAft>
                <a:spcPts val="800"/>
              </a:spcAft>
              <a:defRPr sz="2000" b="1">
                <a:solidFill>
                  <a:srgbClr val="176B9B"/>
                </a:solidFill>
                <a:latin typeface="Arial"/>
              </a:defRPr>
            </a:pPr>
            <a:r>
              <a:t>Merge levels</a:t>
            </a:r>
          </a:p>
        </p:txBody>
      </p:sp>
      <p:sp>
        <p:nvSpPr>
          <p:cNvPr id="14" name="TextBox 13"/>
          <p:cNvSpPr txBox="1"/>
          <p:nvPr/>
        </p:nvSpPr>
        <p:spPr>
          <a:xfrm>
            <a:off x="6382512" y="2194560"/>
            <a:ext cx="5065776" cy="685800"/>
          </a:xfrm>
          <a:prstGeom prst="rect">
            <a:avLst/>
          </a:prstGeom>
          <a:noFill/>
        </p:spPr>
        <p:txBody>
          <a:bodyPr wrap="square" lIns="9144" rIns="9144" tIns="0" bIns="0">
            <a:spAutoFit/>
          </a:bodyPr>
          <a:lstStyle/>
          <a:p>
            <a:pPr>
              <a:spcAft>
                <a:spcPts val="800"/>
              </a:spcAft>
              <a:defRPr sz="1600" b="0">
                <a:solidFill>
                  <a:srgbClr val="566779"/>
                </a:solidFill>
                <a:latin typeface="Arial"/>
              </a:defRPr>
            </a:pPr>
            <a:r>
              <a:t>About log₂(n/S) levels × O(n) work per level</a:t>
            </a:r>
          </a:p>
        </p:txBody>
      </p:sp>
      <p:sp>
        <p:nvSpPr>
          <p:cNvPr id="15" name="TextBox 14"/>
          <p:cNvSpPr txBox="1"/>
          <p:nvPr/>
        </p:nvSpPr>
        <p:spPr>
          <a:xfrm>
            <a:off x="731520" y="3337560"/>
            <a:ext cx="10789920" cy="640080"/>
          </a:xfrm>
          <a:prstGeom prst="rect">
            <a:avLst/>
          </a:prstGeom>
          <a:noFill/>
        </p:spPr>
        <p:txBody>
          <a:bodyPr wrap="square" lIns="9144" rIns="9144" tIns="0" bIns="0">
            <a:spAutoFit/>
          </a:bodyPr>
          <a:lstStyle/>
          <a:p>
            <a:pPr algn="ctr">
              <a:spcAft>
                <a:spcPts val="800"/>
              </a:spcAft>
              <a:defRPr sz="3600" b="1">
                <a:solidFill>
                  <a:srgbClr val="12283E"/>
                </a:solidFill>
                <a:latin typeface="Arial"/>
              </a:defRPr>
            </a:pPr>
            <a:r>
              <a:t>T(n,S) = O(nS + n log₂(n/S))</a:t>
            </a:r>
          </a:p>
        </p:txBody>
      </p:sp>
      <p:sp>
        <p:nvSpPr>
          <p:cNvPr id="16" name="TextBox 15"/>
          <p:cNvSpPr txBox="1"/>
          <p:nvPr/>
        </p:nvSpPr>
        <p:spPr>
          <a:xfrm>
            <a:off x="914400" y="4114800"/>
            <a:ext cx="10332720" cy="457200"/>
          </a:xfrm>
          <a:prstGeom prst="rect">
            <a:avLst/>
          </a:prstGeom>
          <a:noFill/>
        </p:spPr>
        <p:txBody>
          <a:bodyPr wrap="square" lIns="9144" rIns="9144" tIns="0" bIns="0">
            <a:spAutoFit/>
          </a:bodyPr>
          <a:lstStyle/>
          <a:p>
            <a:pPr algn="ctr">
              <a:spcAft>
                <a:spcPts val="800"/>
              </a:spcAft>
              <a:defRPr sz="2000" b="0">
                <a:solidFill>
                  <a:srgbClr val="566779"/>
                </a:solidFill>
                <a:latin typeface="Arial"/>
              </a:defRPr>
            </a:pPr>
            <a:r>
              <a:t>Worst-case bound for 1 ≤ S ≤ n; not an exact random-input count.</a:t>
            </a:r>
          </a:p>
        </p:txBody>
      </p:sp>
      <p:sp>
        <p:nvSpPr>
          <p:cNvPr id="17" name="Rectangle 16"/>
          <p:cNvSpPr/>
          <p:nvPr/>
        </p:nvSpPr>
        <p:spPr>
          <a:xfrm>
            <a:off x="594360" y="4983480"/>
            <a:ext cx="3429000" cy="105156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4360" y="4983480"/>
            <a:ext cx="50292" cy="1051560"/>
          </a:xfrm>
          <a:prstGeom prst="rect">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5093208"/>
            <a:ext cx="3099816" cy="365760"/>
          </a:xfrm>
          <a:prstGeom prst="rect">
            <a:avLst/>
          </a:prstGeom>
          <a:noFill/>
        </p:spPr>
        <p:txBody>
          <a:bodyPr wrap="square" lIns="9144" rIns="9144" tIns="0" bIns="0">
            <a:spAutoFit/>
          </a:bodyPr>
          <a:lstStyle/>
          <a:p>
            <a:pPr>
              <a:spcAft>
                <a:spcPts val="800"/>
              </a:spcAft>
              <a:defRPr sz="2000" b="1">
                <a:solidFill>
                  <a:srgbClr val="176B9B"/>
                </a:solidFill>
                <a:latin typeface="Arial"/>
              </a:defRPr>
            </a:pPr>
            <a:r>
              <a:t>Fixed S</a:t>
            </a:r>
          </a:p>
        </p:txBody>
      </p:sp>
      <p:sp>
        <p:nvSpPr>
          <p:cNvPr id="20" name="TextBox 19"/>
          <p:cNvSpPr txBox="1"/>
          <p:nvPr/>
        </p:nvSpPr>
        <p:spPr>
          <a:xfrm>
            <a:off x="758952" y="5486400"/>
            <a:ext cx="3099816" cy="502919"/>
          </a:xfrm>
          <a:prstGeom prst="rect">
            <a:avLst/>
          </a:prstGeom>
          <a:noFill/>
        </p:spPr>
        <p:txBody>
          <a:bodyPr wrap="square" lIns="9144" rIns="9144" tIns="0" bIns="0">
            <a:spAutoFit/>
          </a:bodyPr>
          <a:lstStyle/>
          <a:p>
            <a:pPr>
              <a:spcAft>
                <a:spcPts val="800"/>
              </a:spcAft>
              <a:defRPr sz="1600" b="0">
                <a:solidFill>
                  <a:srgbClr val="566779"/>
                </a:solidFill>
                <a:latin typeface="Arial"/>
              </a:defRPr>
            </a:pPr>
            <a:r>
              <a:t>Θ(n log n) worst case</a:t>
            </a:r>
          </a:p>
        </p:txBody>
      </p:sp>
      <p:sp>
        <p:nvSpPr>
          <p:cNvPr id="21" name="Rectangle 20"/>
          <p:cNvSpPr/>
          <p:nvPr/>
        </p:nvSpPr>
        <p:spPr>
          <a:xfrm>
            <a:off x="4389120" y="4983480"/>
            <a:ext cx="3429000" cy="105156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9120" y="4983480"/>
            <a:ext cx="50292" cy="1051560"/>
          </a:xfrm>
          <a:prstGeom prst="rect">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3712" y="5093208"/>
            <a:ext cx="3099816" cy="365760"/>
          </a:xfrm>
          <a:prstGeom prst="rect">
            <a:avLst/>
          </a:prstGeom>
          <a:noFill/>
        </p:spPr>
        <p:txBody>
          <a:bodyPr wrap="square" lIns="9144" rIns="9144" tIns="0" bIns="0">
            <a:spAutoFit/>
          </a:bodyPr>
          <a:lstStyle/>
          <a:p>
            <a:pPr>
              <a:spcAft>
                <a:spcPts val="800"/>
              </a:spcAft>
              <a:defRPr sz="2000" b="1">
                <a:solidFill>
                  <a:srgbClr val="176B9B"/>
                </a:solidFill>
                <a:latin typeface="Arial"/>
              </a:defRPr>
            </a:pPr>
            <a:r>
              <a:t>S = 1</a:t>
            </a:r>
          </a:p>
        </p:txBody>
      </p:sp>
      <p:sp>
        <p:nvSpPr>
          <p:cNvPr id="24" name="TextBox 23"/>
          <p:cNvSpPr txBox="1"/>
          <p:nvPr/>
        </p:nvSpPr>
        <p:spPr>
          <a:xfrm>
            <a:off x="4553712" y="5486400"/>
            <a:ext cx="3099816" cy="502919"/>
          </a:xfrm>
          <a:prstGeom prst="rect">
            <a:avLst/>
          </a:prstGeom>
          <a:noFill/>
        </p:spPr>
        <p:txBody>
          <a:bodyPr wrap="square" lIns="9144" rIns="9144" tIns="0" bIns="0">
            <a:spAutoFit/>
          </a:bodyPr>
          <a:lstStyle/>
          <a:p>
            <a:pPr>
              <a:spcAft>
                <a:spcPts val="800"/>
              </a:spcAft>
              <a:defRPr sz="1600" b="0">
                <a:solidFill>
                  <a:srgbClr val="566779"/>
                </a:solidFill>
                <a:latin typeface="Arial"/>
              </a:defRPr>
            </a:pPr>
            <a:r>
              <a:t>Ordinary merge sort</a:t>
            </a:r>
          </a:p>
        </p:txBody>
      </p:sp>
      <p:sp>
        <p:nvSpPr>
          <p:cNvPr id="25" name="Rectangle 24"/>
          <p:cNvSpPr/>
          <p:nvPr/>
        </p:nvSpPr>
        <p:spPr>
          <a:xfrm>
            <a:off x="8183879" y="4983480"/>
            <a:ext cx="3429000" cy="105156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83879" y="4983480"/>
            <a:ext cx="50292" cy="1051560"/>
          </a:xfrm>
          <a:prstGeom prst="rect">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48471" y="5093208"/>
            <a:ext cx="3099816" cy="365760"/>
          </a:xfrm>
          <a:prstGeom prst="rect">
            <a:avLst/>
          </a:prstGeom>
          <a:noFill/>
        </p:spPr>
        <p:txBody>
          <a:bodyPr wrap="square" lIns="9144" rIns="9144" tIns="0" bIns="0">
            <a:spAutoFit/>
          </a:bodyPr>
          <a:lstStyle/>
          <a:p>
            <a:pPr>
              <a:spcAft>
                <a:spcPts val="800"/>
              </a:spcAft>
              <a:defRPr sz="2000" b="1">
                <a:solidFill>
                  <a:srgbClr val="176B9B"/>
                </a:solidFill>
                <a:latin typeface="Arial"/>
              </a:defRPr>
            </a:pPr>
            <a:r>
              <a:t>S ≥ n</a:t>
            </a:r>
          </a:p>
        </p:txBody>
      </p:sp>
      <p:sp>
        <p:nvSpPr>
          <p:cNvPr id="28" name="TextBox 27"/>
          <p:cNvSpPr txBox="1"/>
          <p:nvPr/>
        </p:nvSpPr>
        <p:spPr>
          <a:xfrm>
            <a:off x="8348471" y="5486400"/>
            <a:ext cx="3099816" cy="502919"/>
          </a:xfrm>
          <a:prstGeom prst="rect">
            <a:avLst/>
          </a:prstGeom>
          <a:noFill/>
        </p:spPr>
        <p:txBody>
          <a:bodyPr wrap="square" lIns="9144" rIns="9144" tIns="0" bIns="0">
            <a:spAutoFit/>
          </a:bodyPr>
          <a:lstStyle/>
          <a:p>
            <a:pPr>
              <a:spcAft>
                <a:spcPts val="800"/>
              </a:spcAft>
              <a:defRPr sz="1600" b="0">
                <a:solidFill>
                  <a:srgbClr val="566779"/>
                </a:solidFill>
                <a:latin typeface="Arial"/>
              </a:defRPr>
            </a:pPr>
            <a:r>
              <a:t>Insertion sort: O(n²) worst case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0972800" cy="274320"/>
          </a:xfrm>
          <a:prstGeom prst="rect">
            <a:avLst/>
          </a:prstGeom>
          <a:noFill/>
        </p:spPr>
        <p:txBody>
          <a:bodyPr wrap="square" lIns="9144" rIns="9144" tIns="0" bIns="0">
            <a:spAutoFit/>
          </a:bodyPr>
          <a:lstStyle/>
          <a:p>
            <a:pPr>
              <a:spcAft>
                <a:spcPts val="800"/>
              </a:spcAft>
              <a:defRPr sz="1100" b="1">
                <a:solidFill>
                  <a:srgbClr val="D96B27"/>
                </a:solidFill>
                <a:latin typeface="Arial"/>
              </a:defRPr>
            </a:pPr>
            <a:r>
              <a:t>EXPERIMENTAL METHOD / (b)–(d) / 2:40–3:30</a:t>
            </a:r>
          </a:p>
        </p:txBody>
      </p:sp>
      <p:sp>
        <p:nvSpPr>
          <p:cNvPr id="3" name="TextBox 2"/>
          <p:cNvSpPr txBox="1"/>
          <p:nvPr/>
        </p:nvSpPr>
        <p:spPr>
          <a:xfrm>
            <a:off x="502920" y="685800"/>
            <a:ext cx="11201400" cy="777240"/>
          </a:xfrm>
          <a:prstGeom prst="rect">
            <a:avLst/>
          </a:prstGeom>
          <a:noFill/>
        </p:spPr>
        <p:txBody>
          <a:bodyPr wrap="square" lIns="9144" rIns="9144" tIns="0" bIns="0">
            <a:spAutoFit/>
          </a:bodyPr>
          <a:lstStyle/>
          <a:p>
            <a:pPr>
              <a:spcAft>
                <a:spcPts val="800"/>
              </a:spcAft>
              <a:defRPr sz="3000" b="1">
                <a:solidFill>
                  <a:srgbClr val="12283E"/>
                </a:solidFill>
                <a:latin typeface="Arial"/>
              </a:defRPr>
            </a:pPr>
            <a:r>
              <a:t>Choose S on tuning data; validate on fresh data</a:t>
            </a:r>
          </a:p>
        </p:txBody>
      </p:sp>
      <p:sp>
        <p:nvSpPr>
          <p:cNvPr id="4" name="Rectangle 3"/>
          <p:cNvSpPr/>
          <p:nvPr/>
        </p:nvSpPr>
        <p:spPr>
          <a:xfrm>
            <a:off x="502920" y="6473952"/>
            <a:ext cx="11155680" cy="10972"/>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65392"/>
            <a:ext cx="7315200" cy="182880"/>
          </a:xfrm>
          <a:prstGeom prst="rect">
            <a:avLst/>
          </a:prstGeom>
          <a:noFill/>
        </p:spPr>
        <p:txBody>
          <a:bodyPr wrap="square" lIns="9144" rIns="9144" tIns="0" bIns="0">
            <a:spAutoFit/>
          </a:bodyPr>
          <a:lstStyle/>
          <a:p>
            <a:pPr>
              <a:spcAft>
                <a:spcPts val="800"/>
              </a:spcAft>
              <a:defRPr sz="900" b="0">
                <a:solidFill>
                  <a:srgbClr val="566779"/>
                </a:solidFill>
                <a:latin typeface="Arial"/>
              </a:defRPr>
            </a:pPr>
            <a:r>
              <a:t>MERGE SORT + INSERTION SORT</a:t>
            </a:r>
          </a:p>
        </p:txBody>
      </p:sp>
      <p:sp>
        <p:nvSpPr>
          <p:cNvPr id="6" name="TextBox 5"/>
          <p:cNvSpPr txBox="1"/>
          <p:nvPr/>
        </p:nvSpPr>
        <p:spPr>
          <a:xfrm>
            <a:off x="11064240" y="6528816"/>
            <a:ext cx="548640" cy="228600"/>
          </a:xfrm>
          <a:prstGeom prst="rect">
            <a:avLst/>
          </a:prstGeom>
          <a:noFill/>
        </p:spPr>
        <p:txBody>
          <a:bodyPr wrap="square" lIns="9144" rIns="9144" tIns="0" bIns="0">
            <a:spAutoFit/>
          </a:bodyPr>
          <a:lstStyle/>
          <a:p>
            <a:pPr algn="r">
              <a:spcAft>
                <a:spcPts val="800"/>
              </a:spcAft>
              <a:defRPr sz="1100" b="0">
                <a:solidFill>
                  <a:srgbClr val="12283E"/>
                </a:solidFill>
                <a:latin typeface="Arial"/>
              </a:defRPr>
            </a:pPr>
            <a:r>
              <a:t>04</a:t>
            </a:r>
          </a:p>
        </p:txBody>
      </p:sp>
      <p:sp>
        <p:nvSpPr>
          <p:cNvPr id="7" name="Rectangle 6"/>
          <p:cNvSpPr/>
          <p:nvPr/>
        </p:nvSpPr>
        <p:spPr>
          <a:xfrm>
            <a:off x="594360" y="1783080"/>
            <a:ext cx="3611880" cy="150876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83080"/>
            <a:ext cx="50292" cy="1508760"/>
          </a:xfrm>
          <a:prstGeom prst="rect">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892807"/>
            <a:ext cx="3282696" cy="365760"/>
          </a:xfrm>
          <a:prstGeom prst="rect">
            <a:avLst/>
          </a:prstGeom>
          <a:noFill/>
        </p:spPr>
        <p:txBody>
          <a:bodyPr wrap="square" lIns="9144" rIns="9144" tIns="0" bIns="0">
            <a:spAutoFit/>
          </a:bodyPr>
          <a:lstStyle/>
          <a:p>
            <a:pPr>
              <a:spcAft>
                <a:spcPts val="800"/>
              </a:spcAft>
              <a:defRPr sz="2000" b="1">
                <a:solidFill>
                  <a:srgbClr val="176B9B"/>
                </a:solidFill>
                <a:latin typeface="Arial"/>
              </a:defRPr>
            </a:pPr>
            <a:r>
              <a:t>01  Generate</a:t>
            </a:r>
          </a:p>
        </p:txBody>
      </p:sp>
      <p:sp>
        <p:nvSpPr>
          <p:cNvPr id="10" name="TextBox 9"/>
          <p:cNvSpPr txBox="1"/>
          <p:nvPr/>
        </p:nvSpPr>
        <p:spPr>
          <a:xfrm>
            <a:off x="758952" y="2286000"/>
            <a:ext cx="3282696" cy="960119"/>
          </a:xfrm>
          <a:prstGeom prst="rect">
            <a:avLst/>
          </a:prstGeom>
          <a:noFill/>
        </p:spPr>
        <p:txBody>
          <a:bodyPr wrap="square" lIns="9144" rIns="9144" tIns="0" bIns="0">
            <a:spAutoFit/>
          </a:bodyPr>
          <a:lstStyle/>
          <a:p>
            <a:pPr>
              <a:spcAft>
                <a:spcPts val="800"/>
              </a:spcAft>
              <a:defRPr sz="1600" b="0">
                <a:solidFill>
                  <a:srgbClr val="566779"/>
                </a:solidFill>
                <a:latin typeface="Arial"/>
              </a:defRPr>
            </a:pPr>
            <a:r>
              <a:t>Uniform integers in [1, 10⁷]</a:t>
            </a:r>
          </a:p>
          <a:p>
            <a:pPr>
              <a:spcAft>
                <a:spcPts val="800"/>
              </a:spcAft>
              <a:defRPr sz="1600" b="0">
                <a:solidFill>
                  <a:srgbClr val="566779"/>
                </a:solidFill>
                <a:latin typeface="Arial"/>
              </a:defRPr>
            </a:pPr>
            <a:r>
              <a:t>Nine sizes: 10³ to 10⁷</a:t>
            </a:r>
          </a:p>
        </p:txBody>
      </p:sp>
      <p:sp>
        <p:nvSpPr>
          <p:cNvPr id="11" name="Rectangle 10"/>
          <p:cNvSpPr/>
          <p:nvPr/>
        </p:nvSpPr>
        <p:spPr>
          <a:xfrm>
            <a:off x="4434840" y="1783080"/>
            <a:ext cx="3611880" cy="150876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34840" y="1783080"/>
            <a:ext cx="50292" cy="1508760"/>
          </a:xfrm>
          <a:prstGeom prst="rect">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9432" y="1892807"/>
            <a:ext cx="3282696" cy="365760"/>
          </a:xfrm>
          <a:prstGeom prst="rect">
            <a:avLst/>
          </a:prstGeom>
          <a:noFill/>
        </p:spPr>
        <p:txBody>
          <a:bodyPr wrap="square" lIns="9144" rIns="9144" tIns="0" bIns="0">
            <a:spAutoFit/>
          </a:bodyPr>
          <a:lstStyle/>
          <a:p>
            <a:pPr>
              <a:spcAft>
                <a:spcPts val="800"/>
              </a:spcAft>
              <a:defRPr sz="2000" b="1">
                <a:solidFill>
                  <a:srgbClr val="176B9B"/>
                </a:solidFill>
                <a:latin typeface="Arial"/>
              </a:defRPr>
            </a:pPr>
            <a:r>
              <a:t>02  Tune</a:t>
            </a:r>
          </a:p>
        </p:txBody>
      </p:sp>
      <p:sp>
        <p:nvSpPr>
          <p:cNvPr id="14" name="TextBox 13"/>
          <p:cNvSpPr txBox="1"/>
          <p:nvPr/>
        </p:nvSpPr>
        <p:spPr>
          <a:xfrm>
            <a:off x="4599432" y="2286000"/>
            <a:ext cx="3282696" cy="960119"/>
          </a:xfrm>
          <a:prstGeom prst="rect">
            <a:avLst/>
          </a:prstGeom>
          <a:noFill/>
        </p:spPr>
        <p:txBody>
          <a:bodyPr wrap="square" lIns="9144" rIns="9144" tIns="0" bIns="0">
            <a:spAutoFit/>
          </a:bodyPr>
          <a:lstStyle/>
          <a:p>
            <a:pPr>
              <a:spcAft>
                <a:spcPts val="800"/>
              </a:spcAft>
              <a:defRPr sz="1600" b="0">
                <a:solidFill>
                  <a:srgbClr val="566779"/>
                </a:solidFill>
                <a:latin typeface="Arial"/>
              </a:defRPr>
            </a:pPr>
            <a:r>
              <a:t>Five seeds × three repetitions</a:t>
            </a:r>
          </a:p>
          <a:p>
            <a:pPr>
              <a:spcAft>
                <a:spcPts val="800"/>
              </a:spcAft>
              <a:defRPr sz="1600" b="0">
                <a:solidFill>
                  <a:srgbClr val="566779"/>
                </a:solidFill>
                <a:latin typeface="Arial"/>
              </a:defRPr>
            </a:pPr>
            <a:r>
              <a:t>Coarse sweep, then integer refinement</a:t>
            </a:r>
          </a:p>
        </p:txBody>
      </p:sp>
      <p:sp>
        <p:nvSpPr>
          <p:cNvPr id="15" name="Rectangle 14"/>
          <p:cNvSpPr/>
          <p:nvPr/>
        </p:nvSpPr>
        <p:spPr>
          <a:xfrm>
            <a:off x="8275320" y="1783080"/>
            <a:ext cx="3611880" cy="150876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75320" y="1783080"/>
            <a:ext cx="50292" cy="1508760"/>
          </a:xfrm>
          <a:prstGeom prst="rect">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9912" y="1892807"/>
            <a:ext cx="3282696" cy="365760"/>
          </a:xfrm>
          <a:prstGeom prst="rect">
            <a:avLst/>
          </a:prstGeom>
          <a:noFill/>
        </p:spPr>
        <p:txBody>
          <a:bodyPr wrap="square" lIns="9144" rIns="9144" tIns="0" bIns="0">
            <a:spAutoFit/>
          </a:bodyPr>
          <a:lstStyle/>
          <a:p>
            <a:pPr>
              <a:spcAft>
                <a:spcPts val="800"/>
              </a:spcAft>
              <a:defRPr sz="2000" b="1">
                <a:solidFill>
                  <a:srgbClr val="176B9B"/>
                </a:solidFill>
                <a:latin typeface="Arial"/>
              </a:defRPr>
            </a:pPr>
            <a:r>
              <a:t>03  Validate</a:t>
            </a:r>
          </a:p>
        </p:txBody>
      </p:sp>
      <p:sp>
        <p:nvSpPr>
          <p:cNvPr id="18" name="TextBox 17"/>
          <p:cNvSpPr txBox="1"/>
          <p:nvPr/>
        </p:nvSpPr>
        <p:spPr>
          <a:xfrm>
            <a:off x="8439912" y="2286000"/>
            <a:ext cx="3282696" cy="960119"/>
          </a:xfrm>
          <a:prstGeom prst="rect">
            <a:avLst/>
          </a:prstGeom>
          <a:noFill/>
        </p:spPr>
        <p:txBody>
          <a:bodyPr wrap="square" lIns="9144" rIns="9144" tIns="0" bIns="0">
            <a:spAutoFit/>
          </a:bodyPr>
          <a:lstStyle/>
          <a:p>
            <a:pPr>
              <a:spcAft>
                <a:spcPts val="800"/>
              </a:spcAft>
              <a:defRPr sz="1600" b="0">
                <a:solidFill>
                  <a:srgbClr val="566779"/>
                </a:solidFill>
                <a:latin typeface="Arial"/>
              </a:defRPr>
            </a:pPr>
            <a:r>
              <a:t>Lock S before testing</a:t>
            </a:r>
          </a:p>
          <a:p>
            <a:pPr>
              <a:spcAft>
                <a:spcPts val="800"/>
              </a:spcAft>
              <a:defRPr sz="1600" b="0">
                <a:solidFill>
                  <a:srgbClr val="566779"/>
                </a:solidFill>
                <a:latin typeface="Arial"/>
              </a:defRPr>
            </a:pPr>
            <a:r>
              <a:t>Five fresh 10m-element datasets</a:t>
            </a:r>
          </a:p>
        </p:txBody>
      </p:sp>
      <p:sp>
        <p:nvSpPr>
          <p:cNvPr id="19" name="TextBox 18"/>
          <p:cNvSpPr txBox="1"/>
          <p:nvPr/>
        </p:nvSpPr>
        <p:spPr>
          <a:xfrm>
            <a:off x="685800" y="3703320"/>
            <a:ext cx="5212080" cy="365760"/>
          </a:xfrm>
          <a:prstGeom prst="rect">
            <a:avLst/>
          </a:prstGeom>
          <a:noFill/>
        </p:spPr>
        <p:txBody>
          <a:bodyPr wrap="square" lIns="9144" rIns="9144" tIns="0" bIns="0">
            <a:spAutoFit/>
          </a:bodyPr>
          <a:lstStyle/>
          <a:p>
            <a:pPr>
              <a:spcAft>
                <a:spcPts val="800"/>
              </a:spcAft>
              <a:defRPr sz="2400" b="1">
                <a:solidFill>
                  <a:srgbClr val="176B9B"/>
                </a:solidFill>
                <a:latin typeface="Arial"/>
              </a:defRPr>
            </a:pPr>
            <a:r>
              <a:t>Fair timing</a:t>
            </a:r>
          </a:p>
        </p:txBody>
      </p:sp>
      <p:sp>
        <p:nvSpPr>
          <p:cNvPr id="20" name="TextBox 19"/>
          <p:cNvSpPr txBox="1"/>
          <p:nvPr/>
        </p:nvSpPr>
        <p:spPr>
          <a:xfrm>
            <a:off x="685800" y="4251960"/>
            <a:ext cx="5212080" cy="1554480"/>
          </a:xfrm>
          <a:prstGeom prst="rect">
            <a:avLst/>
          </a:prstGeom>
          <a:noFill/>
        </p:spPr>
        <p:txBody>
          <a:bodyPr wrap="square" lIns="9144" rIns="9144" tIns="0" bIns="0">
            <a:spAutoFit/>
          </a:bodyPr>
          <a:lstStyle/>
          <a:p>
            <a:pPr>
              <a:spcAft>
                <a:spcPts val="800"/>
              </a:spcAft>
              <a:defRPr sz="2100" b="0">
                <a:solidFill>
                  <a:srgbClr val="12283E"/>
                </a:solidFill>
                <a:latin typeface="Arial"/>
              </a:defRPr>
            </a:pPr>
            <a:r>
              <a:t>Same arrays across candidates</a:t>
            </a:r>
          </a:p>
          <a:p>
            <a:pPr>
              <a:spcAft>
                <a:spcPts val="800"/>
              </a:spcAft>
              <a:defRPr sz="2100" b="0">
                <a:solidFill>
                  <a:srgbClr val="12283E"/>
                </a:solidFill>
                <a:latin typeface="Arial"/>
              </a:defRPr>
            </a:pPr>
            <a:r>
              <a:t>Warm-up + shuffled run order</a:t>
            </a:r>
          </a:p>
          <a:p>
            <a:pPr>
              <a:spcAft>
                <a:spcPts val="800"/>
              </a:spcAft>
              <a:defRPr sz="2100" b="0">
                <a:solidFill>
                  <a:srgbClr val="12283E"/>
                </a:solidFill>
                <a:latin typeface="Arial"/>
              </a:defRPr>
            </a:pPr>
            <a:r>
              <a:t>Time sorting only; compile counters out</a:t>
            </a:r>
          </a:p>
        </p:txBody>
      </p:sp>
      <p:sp>
        <p:nvSpPr>
          <p:cNvPr id="21" name="TextBox 20"/>
          <p:cNvSpPr txBox="1"/>
          <p:nvPr/>
        </p:nvSpPr>
        <p:spPr>
          <a:xfrm>
            <a:off x="6400800" y="3703320"/>
            <a:ext cx="5029200" cy="365760"/>
          </a:xfrm>
          <a:prstGeom prst="rect">
            <a:avLst/>
          </a:prstGeom>
          <a:noFill/>
        </p:spPr>
        <p:txBody>
          <a:bodyPr wrap="square" lIns="9144" rIns="9144" tIns="0" bIns="0">
            <a:spAutoFit/>
          </a:bodyPr>
          <a:lstStyle/>
          <a:p>
            <a:pPr>
              <a:spcAft>
                <a:spcPts val="800"/>
              </a:spcAft>
              <a:defRPr sz="2400" b="1">
                <a:solidFill>
                  <a:srgbClr val="176B9B"/>
                </a:solidFill>
                <a:latin typeface="Arial"/>
              </a:defRPr>
            </a:pPr>
            <a:r>
              <a:t>Trustworthy evidence</a:t>
            </a:r>
          </a:p>
        </p:txBody>
      </p:sp>
      <p:sp>
        <p:nvSpPr>
          <p:cNvPr id="22" name="TextBox 21"/>
          <p:cNvSpPr txBox="1"/>
          <p:nvPr/>
        </p:nvSpPr>
        <p:spPr>
          <a:xfrm>
            <a:off x="6400800" y="4251960"/>
            <a:ext cx="5029200" cy="1554480"/>
          </a:xfrm>
          <a:prstGeom prst="rect">
            <a:avLst/>
          </a:prstGeom>
          <a:noFill/>
        </p:spPr>
        <p:txBody>
          <a:bodyPr wrap="square" lIns="9144" rIns="9144" tIns="0" bIns="0">
            <a:spAutoFit/>
          </a:bodyPr>
          <a:lstStyle/>
          <a:p>
            <a:pPr>
              <a:spcAft>
                <a:spcPts val="800"/>
              </a:spcAft>
              <a:defRPr sz="2100" b="0">
                <a:solidFill>
                  <a:srgbClr val="12283E"/>
                </a:solidFill>
                <a:latin typeface="Arial"/>
              </a:defRPr>
            </a:pPr>
            <a:r>
              <a:t>Every output checked against std::sort</a:t>
            </a:r>
          </a:p>
          <a:p>
            <a:pPr>
              <a:spcAft>
                <a:spcPts val="800"/>
              </a:spcAft>
              <a:defRPr sz="2100" b="0">
                <a:solidFill>
                  <a:srgbClr val="12283E"/>
                </a:solidFill>
                <a:latin typeface="Arial"/>
              </a:defRPr>
            </a:pPr>
            <a:r>
              <a:t>Median within seed, then across seeds</a:t>
            </a:r>
          </a:p>
          <a:p>
            <a:pPr>
              <a:spcAft>
                <a:spcPts val="800"/>
              </a:spcAft>
              <a:defRPr sz="2100" b="0">
                <a:solidFill>
                  <a:srgbClr val="12283E"/>
                </a:solidFill>
                <a:latin typeface="Arial"/>
              </a:defRPr>
            </a:pPr>
            <a:r>
              <a:t>Error bands = IQR, not confidence intervals</a:t>
            </a:r>
          </a:p>
        </p:txBody>
      </p:sp>
      <p:sp>
        <p:nvSpPr>
          <p:cNvPr id="23" name="TextBox 22"/>
          <p:cNvSpPr txBox="1"/>
          <p:nvPr/>
        </p:nvSpPr>
        <p:spPr>
          <a:xfrm>
            <a:off x="685800" y="5989320"/>
            <a:ext cx="10972800" cy="274320"/>
          </a:xfrm>
          <a:prstGeom prst="rect">
            <a:avLst/>
          </a:prstGeom>
          <a:noFill/>
        </p:spPr>
        <p:txBody>
          <a:bodyPr wrap="square" lIns="9144" rIns="9144" tIns="0" bIns="0">
            <a:spAutoFit/>
          </a:bodyPr>
          <a:lstStyle/>
          <a:p>
            <a:pPr>
              <a:spcAft>
                <a:spcPts val="800"/>
              </a:spcAft>
              <a:defRPr sz="1500" b="0">
                <a:solidFill>
                  <a:srgbClr val="566779"/>
                </a:solidFill>
                <a:latin typeface="Arial"/>
              </a:defRPr>
            </a:pPr>
            <a:r>
              <a:t>Apple M5  •  C++17 / Apple clang 21 / -O3  •  separate key-comparison passes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0972800" cy="274320"/>
          </a:xfrm>
          <a:prstGeom prst="rect">
            <a:avLst/>
          </a:prstGeom>
          <a:noFill/>
        </p:spPr>
        <p:txBody>
          <a:bodyPr wrap="square" lIns="9144" rIns="9144" tIns="0" bIns="0">
            <a:spAutoFit/>
          </a:bodyPr>
          <a:lstStyle/>
          <a:p>
            <a:pPr>
              <a:spcAft>
                <a:spcPts val="800"/>
              </a:spcAft>
              <a:defRPr sz="1100" b="1">
                <a:solidFill>
                  <a:srgbClr val="D96B27"/>
                </a:solidFill>
                <a:latin typeface="Arial"/>
              </a:defRPr>
            </a:pPr>
            <a:r>
              <a:t>EMPIRICAL ANALYSIS / (c)(i) / 3:30–4:25</a:t>
            </a:r>
          </a:p>
        </p:txBody>
      </p:sp>
      <p:sp>
        <p:nvSpPr>
          <p:cNvPr id="3" name="TextBox 2"/>
          <p:cNvSpPr txBox="1"/>
          <p:nvPr/>
        </p:nvSpPr>
        <p:spPr>
          <a:xfrm>
            <a:off x="502920" y="685800"/>
            <a:ext cx="11201400" cy="777240"/>
          </a:xfrm>
          <a:prstGeom prst="rect">
            <a:avLst/>
          </a:prstGeom>
          <a:noFill/>
        </p:spPr>
        <p:txBody>
          <a:bodyPr wrap="square" lIns="9144" rIns="9144" tIns="0" bIns="0">
            <a:spAutoFit/>
          </a:bodyPr>
          <a:lstStyle/>
          <a:p>
            <a:pPr>
              <a:spcAft>
                <a:spcPts val="800"/>
              </a:spcAft>
              <a:defRPr sz="3000" b="1">
                <a:solidFill>
                  <a:srgbClr val="12283E"/>
                </a:solidFill>
                <a:latin typeface="Arial"/>
              </a:defRPr>
            </a:pPr>
            <a:r>
              <a:t>Fixed S: comparison growth agrees with n log n</a:t>
            </a:r>
          </a:p>
        </p:txBody>
      </p:sp>
      <p:sp>
        <p:nvSpPr>
          <p:cNvPr id="4" name="Rectangle 3"/>
          <p:cNvSpPr/>
          <p:nvPr/>
        </p:nvSpPr>
        <p:spPr>
          <a:xfrm>
            <a:off x="502920" y="6473952"/>
            <a:ext cx="11155680" cy="10972"/>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65392"/>
            <a:ext cx="7315200" cy="182880"/>
          </a:xfrm>
          <a:prstGeom prst="rect">
            <a:avLst/>
          </a:prstGeom>
          <a:noFill/>
        </p:spPr>
        <p:txBody>
          <a:bodyPr wrap="square" lIns="9144" rIns="9144" tIns="0" bIns="0">
            <a:spAutoFit/>
          </a:bodyPr>
          <a:lstStyle/>
          <a:p>
            <a:pPr>
              <a:spcAft>
                <a:spcPts val="800"/>
              </a:spcAft>
              <a:defRPr sz="900" b="0">
                <a:solidFill>
                  <a:srgbClr val="566779"/>
                </a:solidFill>
                <a:latin typeface="Arial"/>
              </a:defRPr>
            </a:pPr>
            <a:r>
              <a:t>MERGE SORT + INSERTION SORT</a:t>
            </a:r>
          </a:p>
        </p:txBody>
      </p:sp>
      <p:sp>
        <p:nvSpPr>
          <p:cNvPr id="6" name="TextBox 5"/>
          <p:cNvSpPr txBox="1"/>
          <p:nvPr/>
        </p:nvSpPr>
        <p:spPr>
          <a:xfrm>
            <a:off x="11064240" y="6528816"/>
            <a:ext cx="548640" cy="228600"/>
          </a:xfrm>
          <a:prstGeom prst="rect">
            <a:avLst/>
          </a:prstGeom>
          <a:noFill/>
        </p:spPr>
        <p:txBody>
          <a:bodyPr wrap="square" lIns="9144" rIns="9144" tIns="0" bIns="0">
            <a:spAutoFit/>
          </a:bodyPr>
          <a:lstStyle/>
          <a:p>
            <a:pPr algn="r">
              <a:spcAft>
                <a:spcPts val="800"/>
              </a:spcAft>
              <a:defRPr sz="1100" b="0">
                <a:solidFill>
                  <a:srgbClr val="12283E"/>
                </a:solidFill>
                <a:latin typeface="Arial"/>
              </a:defRPr>
            </a:pPr>
            <a:r>
              <a:t>05</a:t>
            </a:r>
          </a:p>
        </p:txBody>
      </p:sp>
      <p:pic>
        <p:nvPicPr>
          <p:cNvPr id="7" name="Picture 6" descr="01_fixed_s.png"/>
          <p:cNvPicPr>
            <a:picLocks noChangeAspect="1"/>
          </p:cNvPicPr>
          <p:nvPr/>
        </p:nvPicPr>
        <p:blipFill>
          <a:blip r:embed="rId2"/>
          <a:stretch>
            <a:fillRect/>
          </a:stretch>
        </p:blipFill>
        <p:spPr>
          <a:xfrm>
            <a:off x="537210" y="1508760"/>
            <a:ext cx="11087100" cy="4434840"/>
          </a:xfrm>
          <a:prstGeom prst="rect">
            <a:avLst/>
          </a:prstGeom>
        </p:spPr>
      </p:pic>
      <p:sp>
        <p:nvSpPr>
          <p:cNvPr id="8" name="TextBox 7"/>
          <p:cNvSpPr txBox="1"/>
          <p:nvPr/>
        </p:nvSpPr>
        <p:spPr>
          <a:xfrm>
            <a:off x="640080" y="6007608"/>
            <a:ext cx="10972800" cy="320040"/>
          </a:xfrm>
          <a:prstGeom prst="rect">
            <a:avLst/>
          </a:prstGeom>
          <a:noFill/>
        </p:spPr>
        <p:txBody>
          <a:bodyPr wrap="square" lIns="9144" rIns="9144" tIns="0" bIns="0">
            <a:spAutoFit/>
          </a:bodyPr>
          <a:lstStyle/>
          <a:p>
            <a:pPr>
              <a:spcAft>
                <a:spcPts val="800"/>
              </a:spcAft>
              <a:defRPr sz="1700" b="0">
                <a:solidFill>
                  <a:srgbClr val="566779"/>
                </a:solidFill>
                <a:latin typeface="Arial"/>
              </a:defRPr>
            </a:pPr>
            <a:r>
              <a:t>S=32  •  normalized ratio 1.042–1.343  •  finite-size leaf effects explain the variation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0972800" cy="274320"/>
          </a:xfrm>
          <a:prstGeom prst="rect">
            <a:avLst/>
          </a:prstGeom>
          <a:noFill/>
        </p:spPr>
        <p:txBody>
          <a:bodyPr wrap="square" lIns="9144" rIns="9144" tIns="0" bIns="0">
            <a:spAutoFit/>
          </a:bodyPr>
          <a:lstStyle/>
          <a:p>
            <a:pPr>
              <a:spcAft>
                <a:spcPts val="800"/>
              </a:spcAft>
              <a:defRPr sz="1100" b="1">
                <a:solidFill>
                  <a:srgbClr val="D96B27"/>
                </a:solidFill>
                <a:latin typeface="Arial"/>
              </a:defRPr>
            </a:pPr>
            <a:r>
              <a:t>THRESHOLD SELECTION / (c)(ii)–(iii) / 4:25–5:45</a:t>
            </a:r>
          </a:p>
        </p:txBody>
      </p:sp>
      <p:sp>
        <p:nvSpPr>
          <p:cNvPr id="3" name="TextBox 2"/>
          <p:cNvSpPr txBox="1"/>
          <p:nvPr/>
        </p:nvSpPr>
        <p:spPr>
          <a:xfrm>
            <a:off x="502920" y="685800"/>
            <a:ext cx="11201400" cy="777240"/>
          </a:xfrm>
          <a:prstGeom prst="rect">
            <a:avLst/>
          </a:prstGeom>
          <a:noFill/>
        </p:spPr>
        <p:txBody>
          <a:bodyPr wrap="square" lIns="9144" rIns="9144" tIns="0" bIns="0">
            <a:spAutoFit/>
          </a:bodyPr>
          <a:lstStyle/>
          <a:p>
            <a:pPr>
              <a:spcAft>
                <a:spcPts val="800"/>
              </a:spcAft>
              <a:defRPr sz="3000" b="1">
                <a:solidFill>
                  <a:srgbClr val="12283E"/>
                </a:solidFill>
                <a:latin typeface="Arial"/>
              </a:defRPr>
            </a:pPr>
            <a:r>
              <a:t>Fastest runtime does not mean fewest comparisons</a:t>
            </a:r>
          </a:p>
        </p:txBody>
      </p:sp>
      <p:sp>
        <p:nvSpPr>
          <p:cNvPr id="4" name="Rectangle 3"/>
          <p:cNvSpPr/>
          <p:nvPr/>
        </p:nvSpPr>
        <p:spPr>
          <a:xfrm>
            <a:off x="502920" y="6473952"/>
            <a:ext cx="11155680" cy="10972"/>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65392"/>
            <a:ext cx="7315200" cy="182880"/>
          </a:xfrm>
          <a:prstGeom prst="rect">
            <a:avLst/>
          </a:prstGeom>
          <a:noFill/>
        </p:spPr>
        <p:txBody>
          <a:bodyPr wrap="square" lIns="9144" rIns="9144" tIns="0" bIns="0">
            <a:spAutoFit/>
          </a:bodyPr>
          <a:lstStyle/>
          <a:p>
            <a:pPr>
              <a:spcAft>
                <a:spcPts val="800"/>
              </a:spcAft>
              <a:defRPr sz="900" b="0">
                <a:solidFill>
                  <a:srgbClr val="566779"/>
                </a:solidFill>
                <a:latin typeface="Arial"/>
              </a:defRPr>
            </a:pPr>
            <a:r>
              <a:t>MERGE SORT + INSERTION SORT</a:t>
            </a:r>
          </a:p>
        </p:txBody>
      </p:sp>
      <p:sp>
        <p:nvSpPr>
          <p:cNvPr id="6" name="TextBox 5"/>
          <p:cNvSpPr txBox="1"/>
          <p:nvPr/>
        </p:nvSpPr>
        <p:spPr>
          <a:xfrm>
            <a:off x="11064240" y="6528816"/>
            <a:ext cx="548640" cy="228600"/>
          </a:xfrm>
          <a:prstGeom prst="rect">
            <a:avLst/>
          </a:prstGeom>
          <a:noFill/>
        </p:spPr>
        <p:txBody>
          <a:bodyPr wrap="square" lIns="9144" rIns="9144" tIns="0" bIns="0">
            <a:spAutoFit/>
          </a:bodyPr>
          <a:lstStyle/>
          <a:p>
            <a:pPr algn="r">
              <a:spcAft>
                <a:spcPts val="800"/>
              </a:spcAft>
              <a:defRPr sz="1100" b="0">
                <a:solidFill>
                  <a:srgbClr val="12283E"/>
                </a:solidFill>
                <a:latin typeface="Arial"/>
              </a:defRPr>
            </a:pPr>
            <a:r>
              <a:t>06</a:t>
            </a:r>
          </a:p>
        </p:txBody>
      </p:sp>
      <p:pic>
        <p:nvPicPr>
          <p:cNvPr id="7" name="Picture 6" descr="02_fixed_n.png"/>
          <p:cNvPicPr>
            <a:picLocks noChangeAspect="1"/>
          </p:cNvPicPr>
          <p:nvPr/>
        </p:nvPicPr>
        <p:blipFill>
          <a:blip r:embed="rId2"/>
          <a:stretch>
            <a:fillRect/>
          </a:stretch>
        </p:blipFill>
        <p:spPr>
          <a:xfrm>
            <a:off x="411480" y="1722120"/>
            <a:ext cx="5715000" cy="3047999"/>
          </a:xfrm>
          <a:prstGeom prst="rect">
            <a:avLst/>
          </a:prstGeom>
        </p:spPr>
      </p:pic>
      <p:pic>
        <p:nvPicPr>
          <p:cNvPr id="8" name="Picture 7" descr="deck_cpu_10m.png"/>
          <p:cNvPicPr>
            <a:picLocks noChangeAspect="1"/>
          </p:cNvPicPr>
          <p:nvPr/>
        </p:nvPicPr>
        <p:blipFill>
          <a:blip r:embed="rId3"/>
          <a:stretch>
            <a:fillRect/>
          </a:stretch>
        </p:blipFill>
        <p:spPr>
          <a:xfrm>
            <a:off x="6126480" y="1545335"/>
            <a:ext cx="5669280" cy="3401568"/>
          </a:xfrm>
          <a:prstGeom prst="rect">
            <a:avLst/>
          </a:prstGeom>
        </p:spPr>
      </p:pic>
      <p:sp>
        <p:nvSpPr>
          <p:cNvPr id="9" name="Rectangle 8"/>
          <p:cNvSpPr/>
          <p:nvPr/>
        </p:nvSpPr>
        <p:spPr>
          <a:xfrm>
            <a:off x="594360" y="5074920"/>
            <a:ext cx="3474720" cy="100584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94360" y="5074920"/>
            <a:ext cx="50292" cy="1005840"/>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5184648"/>
            <a:ext cx="3145536" cy="365760"/>
          </a:xfrm>
          <a:prstGeom prst="rect">
            <a:avLst/>
          </a:prstGeom>
          <a:noFill/>
        </p:spPr>
        <p:txBody>
          <a:bodyPr wrap="square" lIns="9144" rIns="9144" tIns="0" bIns="0">
            <a:spAutoFit/>
          </a:bodyPr>
          <a:lstStyle/>
          <a:p>
            <a:pPr>
              <a:spcAft>
                <a:spcPts val="800"/>
              </a:spcAft>
              <a:defRPr sz="2000" b="1">
                <a:solidFill>
                  <a:srgbClr val="D96B27"/>
                </a:solidFill>
                <a:latin typeface="Arial"/>
              </a:defRPr>
            </a:pPr>
            <a:r>
              <a:t>Selected S=64</a:t>
            </a:r>
          </a:p>
        </p:txBody>
      </p:sp>
      <p:sp>
        <p:nvSpPr>
          <p:cNvPr id="12" name="TextBox 11"/>
          <p:cNvSpPr txBox="1"/>
          <p:nvPr/>
        </p:nvSpPr>
        <p:spPr>
          <a:xfrm>
            <a:off x="758952" y="5577840"/>
            <a:ext cx="3145536" cy="457200"/>
          </a:xfrm>
          <a:prstGeom prst="rect">
            <a:avLst/>
          </a:prstGeom>
          <a:noFill/>
        </p:spPr>
        <p:txBody>
          <a:bodyPr wrap="square" lIns="9144" rIns="9144" tIns="0" bIns="0">
            <a:spAutoFit/>
          </a:bodyPr>
          <a:lstStyle/>
          <a:p>
            <a:pPr>
              <a:spcAft>
                <a:spcPts val="800"/>
              </a:spcAft>
              <a:defRPr sz="1600" b="0">
                <a:solidFill>
                  <a:srgbClr val="566779"/>
                </a:solidFill>
                <a:latin typeface="Arial"/>
              </a:defRPr>
            </a:pPr>
            <a:r>
              <a:t>Minimum comparisons at 10m: S=1</a:t>
            </a:r>
          </a:p>
        </p:txBody>
      </p:sp>
      <p:sp>
        <p:nvSpPr>
          <p:cNvPr id="13" name="Rectangle 12"/>
          <p:cNvSpPr/>
          <p:nvPr/>
        </p:nvSpPr>
        <p:spPr>
          <a:xfrm>
            <a:off x="4251960" y="5074920"/>
            <a:ext cx="7269480" cy="100584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60" y="5074920"/>
            <a:ext cx="50292" cy="1005840"/>
          </a:xfrm>
          <a:prstGeom prst="rect">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6552" y="5184648"/>
            <a:ext cx="6940296" cy="365760"/>
          </a:xfrm>
          <a:prstGeom prst="rect">
            <a:avLst/>
          </a:prstGeom>
          <a:noFill/>
        </p:spPr>
        <p:txBody>
          <a:bodyPr wrap="square" lIns="9144" rIns="9144" tIns="0" bIns="0">
            <a:spAutoFit/>
          </a:bodyPr>
          <a:lstStyle/>
          <a:p>
            <a:pPr>
              <a:spcAft>
                <a:spcPts val="800"/>
              </a:spcAft>
              <a:defRPr sz="2000" b="1">
                <a:solidFill>
                  <a:srgbClr val="176B9B"/>
                </a:solidFill>
                <a:latin typeface="Arial"/>
              </a:defRPr>
            </a:pPr>
            <a:r>
              <a:t>Coarse winners by n</a:t>
            </a:r>
          </a:p>
        </p:txBody>
      </p:sp>
      <p:sp>
        <p:nvSpPr>
          <p:cNvPr id="16" name="TextBox 15"/>
          <p:cNvSpPr txBox="1"/>
          <p:nvPr/>
        </p:nvSpPr>
        <p:spPr>
          <a:xfrm>
            <a:off x="4416552" y="5577840"/>
            <a:ext cx="6940296" cy="457200"/>
          </a:xfrm>
          <a:prstGeom prst="rect">
            <a:avLst/>
          </a:prstGeom>
          <a:noFill/>
        </p:spPr>
        <p:txBody>
          <a:bodyPr wrap="square" lIns="9144" rIns="9144" tIns="0" bIns="0">
            <a:spAutoFit/>
          </a:bodyPr>
          <a:lstStyle/>
          <a:p>
            <a:pPr>
              <a:spcAft>
                <a:spcPts val="800"/>
              </a:spcAft>
              <a:defRPr sz="1600" b="0">
                <a:solidFill>
                  <a:srgbClr val="566779"/>
                </a:solidFill>
                <a:latin typeface="Arial"/>
              </a:defRPr>
            </a:pPr>
            <a:r>
              <a:t>10k: 48  ·  100k: 96  ·  1m: 32  ·  10m: 64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0972800" cy="274320"/>
          </a:xfrm>
          <a:prstGeom prst="rect">
            <a:avLst/>
          </a:prstGeom>
          <a:noFill/>
        </p:spPr>
        <p:txBody>
          <a:bodyPr wrap="square" lIns="9144" rIns="9144" tIns="0" bIns="0">
            <a:spAutoFit/>
          </a:bodyPr>
          <a:lstStyle/>
          <a:p>
            <a:pPr>
              <a:spcAft>
                <a:spcPts val="800"/>
              </a:spcAft>
              <a:defRPr sz="1100" b="1">
                <a:solidFill>
                  <a:srgbClr val="D96B27"/>
                </a:solidFill>
                <a:latin typeface="Arial"/>
              </a:defRPr>
            </a:pPr>
            <a:r>
              <a:t>HELD-OUT COMPARISON / (d) / 5:45–6:45</a:t>
            </a:r>
          </a:p>
        </p:txBody>
      </p:sp>
      <p:sp>
        <p:nvSpPr>
          <p:cNvPr id="3" name="TextBox 2"/>
          <p:cNvSpPr txBox="1"/>
          <p:nvPr/>
        </p:nvSpPr>
        <p:spPr>
          <a:xfrm>
            <a:off x="502920" y="685800"/>
            <a:ext cx="11201400" cy="777240"/>
          </a:xfrm>
          <a:prstGeom prst="rect">
            <a:avLst/>
          </a:prstGeom>
          <a:noFill/>
        </p:spPr>
        <p:txBody>
          <a:bodyPr wrap="square" lIns="9144" rIns="9144" tIns="0" bIns="0">
            <a:spAutoFit/>
          </a:bodyPr>
          <a:lstStyle/>
          <a:p>
            <a:pPr>
              <a:spcAft>
                <a:spcPts val="800"/>
              </a:spcAft>
              <a:defRPr sz="3000" b="1">
                <a:solidFill>
                  <a:srgbClr val="12283E"/>
                </a:solidFill>
                <a:latin typeface="Arial"/>
              </a:defRPr>
            </a:pPr>
            <a:r>
              <a:t>Hybrid S=64: 1.147× speedup with 27.8% more comparisons</a:t>
            </a:r>
          </a:p>
        </p:txBody>
      </p:sp>
      <p:sp>
        <p:nvSpPr>
          <p:cNvPr id="4" name="Rectangle 3"/>
          <p:cNvSpPr/>
          <p:nvPr/>
        </p:nvSpPr>
        <p:spPr>
          <a:xfrm>
            <a:off x="502920" y="6473952"/>
            <a:ext cx="11155680" cy="10972"/>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65392"/>
            <a:ext cx="7315200" cy="182880"/>
          </a:xfrm>
          <a:prstGeom prst="rect">
            <a:avLst/>
          </a:prstGeom>
          <a:noFill/>
        </p:spPr>
        <p:txBody>
          <a:bodyPr wrap="square" lIns="9144" rIns="9144" tIns="0" bIns="0">
            <a:spAutoFit/>
          </a:bodyPr>
          <a:lstStyle/>
          <a:p>
            <a:pPr>
              <a:spcAft>
                <a:spcPts val="800"/>
              </a:spcAft>
              <a:defRPr sz="900" b="0">
                <a:solidFill>
                  <a:srgbClr val="566779"/>
                </a:solidFill>
                <a:latin typeface="Arial"/>
              </a:defRPr>
            </a:pPr>
            <a:r>
              <a:t>MERGE SORT + INSERTION SORT</a:t>
            </a:r>
          </a:p>
        </p:txBody>
      </p:sp>
      <p:sp>
        <p:nvSpPr>
          <p:cNvPr id="6" name="TextBox 5"/>
          <p:cNvSpPr txBox="1"/>
          <p:nvPr/>
        </p:nvSpPr>
        <p:spPr>
          <a:xfrm>
            <a:off x="11064240" y="6528816"/>
            <a:ext cx="548640" cy="228600"/>
          </a:xfrm>
          <a:prstGeom prst="rect">
            <a:avLst/>
          </a:prstGeom>
          <a:noFill/>
        </p:spPr>
        <p:txBody>
          <a:bodyPr wrap="square" lIns="9144" rIns="9144" tIns="0" bIns="0">
            <a:spAutoFit/>
          </a:bodyPr>
          <a:lstStyle/>
          <a:p>
            <a:pPr algn="r">
              <a:spcAft>
                <a:spcPts val="800"/>
              </a:spcAft>
              <a:defRPr sz="1100" b="0">
                <a:solidFill>
                  <a:srgbClr val="12283E"/>
                </a:solidFill>
                <a:latin typeface="Arial"/>
              </a:defRPr>
            </a:pPr>
            <a:r>
              <a:t>07</a:t>
            </a:r>
          </a:p>
        </p:txBody>
      </p:sp>
      <p:pic>
        <p:nvPicPr>
          <p:cNvPr id="7" name="Picture 6" descr="06_validation.png"/>
          <p:cNvPicPr>
            <a:picLocks noChangeAspect="1"/>
          </p:cNvPicPr>
          <p:nvPr/>
        </p:nvPicPr>
        <p:blipFill>
          <a:blip r:embed="rId2"/>
          <a:stretch>
            <a:fillRect/>
          </a:stretch>
        </p:blipFill>
        <p:spPr>
          <a:xfrm>
            <a:off x="1051559" y="1463040"/>
            <a:ext cx="10058400" cy="4572000"/>
          </a:xfrm>
          <a:prstGeom prst="rect">
            <a:avLst/>
          </a:prstGeom>
        </p:spPr>
      </p:pic>
      <p:sp>
        <p:nvSpPr>
          <p:cNvPr id="8" name="TextBox 7"/>
          <p:cNvSpPr txBox="1"/>
          <p:nvPr/>
        </p:nvSpPr>
        <p:spPr>
          <a:xfrm>
            <a:off x="640080" y="6080760"/>
            <a:ext cx="10972800" cy="274320"/>
          </a:xfrm>
          <a:prstGeom prst="rect">
            <a:avLst/>
          </a:prstGeom>
          <a:noFill/>
        </p:spPr>
        <p:txBody>
          <a:bodyPr wrap="square" lIns="9144" rIns="9144" tIns="0" bIns="0">
            <a:spAutoFit/>
          </a:bodyPr>
          <a:lstStyle/>
          <a:p>
            <a:pPr>
              <a:spcAft>
                <a:spcPts val="800"/>
              </a:spcAft>
              <a:defRPr sz="1600" b="0">
                <a:solidFill>
                  <a:srgbClr val="566779"/>
                </a:solidFill>
                <a:latin typeface="Arial"/>
              </a:defRPr>
            </a:pPr>
            <a:r>
              <a:t>Speedup = median of per-seed time ratios  •  IQR: 1.138–1.152×  •  5 fresh datasets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283E"/>
        </a:solidFill>
        <a:effectLst/>
      </p:bgPr>
    </p:bg>
    <p:spTree>
      <p:nvGrpSpPr>
        <p:cNvPr id="1" name=""/>
        <p:cNvGrpSpPr/>
        <p:nvPr/>
      </p:nvGrpSpPr>
      <p:grpSpPr/>
      <p:sp>
        <p:nvSpPr>
          <p:cNvPr id="2" name="TextBox 1"/>
          <p:cNvSpPr txBox="1"/>
          <p:nvPr/>
        </p:nvSpPr>
        <p:spPr>
          <a:xfrm>
            <a:off x="502920" y="228600"/>
            <a:ext cx="10972800" cy="274320"/>
          </a:xfrm>
          <a:prstGeom prst="rect">
            <a:avLst/>
          </a:prstGeom>
          <a:noFill/>
        </p:spPr>
        <p:txBody>
          <a:bodyPr wrap="square" lIns="9144" rIns="9144" tIns="0" bIns="0">
            <a:spAutoFit/>
          </a:bodyPr>
          <a:lstStyle/>
          <a:p>
            <a:pPr>
              <a:spcAft>
                <a:spcPts val="800"/>
              </a:spcAft>
              <a:defRPr sz="1100" b="1">
                <a:solidFill>
                  <a:srgbClr val="D96B27"/>
                </a:solidFill>
                <a:latin typeface="Arial"/>
              </a:defRPr>
            </a:pPr>
            <a:r>
              <a:t>DEMONSTRATION &amp; CONCLUSION / 6:45–8:00</a:t>
            </a:r>
          </a:p>
        </p:txBody>
      </p:sp>
      <p:sp>
        <p:nvSpPr>
          <p:cNvPr id="3" name="TextBox 2"/>
          <p:cNvSpPr txBox="1"/>
          <p:nvPr/>
        </p:nvSpPr>
        <p:spPr>
          <a:xfrm>
            <a:off x="502920" y="685800"/>
            <a:ext cx="11201400" cy="777240"/>
          </a:xfrm>
          <a:prstGeom prst="rect">
            <a:avLst/>
          </a:prstGeom>
          <a:noFill/>
        </p:spPr>
        <p:txBody>
          <a:bodyPr wrap="square" lIns="9144" rIns="9144" tIns="0" bIns="0">
            <a:spAutoFit/>
          </a:bodyPr>
          <a:lstStyle/>
          <a:p>
            <a:pPr>
              <a:spcAft>
                <a:spcPts val="800"/>
              </a:spcAft>
              <a:defRPr sz="3000" b="1">
                <a:solidFill>
                  <a:srgbClr val="FFFFFF"/>
                </a:solidFill>
                <a:latin typeface="Arial"/>
              </a:defRPr>
            </a:pPr>
            <a:r>
              <a:t>Correctness, scaling, and a measured runtime benefit</a:t>
            </a:r>
          </a:p>
        </p:txBody>
      </p:sp>
      <p:sp>
        <p:nvSpPr>
          <p:cNvPr id="4" name="Rectangle 3"/>
          <p:cNvSpPr/>
          <p:nvPr/>
        </p:nvSpPr>
        <p:spPr>
          <a:xfrm>
            <a:off x="502920" y="6473952"/>
            <a:ext cx="11155680" cy="10972"/>
          </a:xfrm>
          <a:prstGeom prst="rect">
            <a:avLst/>
          </a:prstGeom>
          <a:solidFill>
            <a:srgbClr val="5667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65392"/>
            <a:ext cx="7315200" cy="182880"/>
          </a:xfrm>
          <a:prstGeom prst="rect">
            <a:avLst/>
          </a:prstGeom>
          <a:noFill/>
        </p:spPr>
        <p:txBody>
          <a:bodyPr wrap="square" lIns="9144" rIns="9144" tIns="0" bIns="0">
            <a:spAutoFit/>
          </a:bodyPr>
          <a:lstStyle/>
          <a:p>
            <a:pPr>
              <a:spcAft>
                <a:spcPts val="800"/>
              </a:spcAft>
              <a:defRPr sz="900" b="0">
                <a:solidFill>
                  <a:srgbClr val="B2C3D2"/>
                </a:solidFill>
                <a:latin typeface="Arial"/>
              </a:defRPr>
            </a:pPr>
            <a:r>
              <a:t>MERGE SORT + INSERTION SORT</a:t>
            </a:r>
          </a:p>
        </p:txBody>
      </p:sp>
      <p:sp>
        <p:nvSpPr>
          <p:cNvPr id="6" name="TextBox 5"/>
          <p:cNvSpPr txBox="1"/>
          <p:nvPr/>
        </p:nvSpPr>
        <p:spPr>
          <a:xfrm>
            <a:off x="11064240" y="6528816"/>
            <a:ext cx="548640" cy="228600"/>
          </a:xfrm>
          <a:prstGeom prst="rect">
            <a:avLst/>
          </a:prstGeom>
          <a:noFill/>
        </p:spPr>
        <p:txBody>
          <a:bodyPr wrap="square" lIns="9144" rIns="9144" tIns="0" bIns="0">
            <a:spAutoFit/>
          </a:bodyPr>
          <a:lstStyle/>
          <a:p>
            <a:pPr algn="r">
              <a:spcAft>
                <a:spcPts val="800"/>
              </a:spcAft>
              <a:defRPr sz="1100" b="0">
                <a:solidFill>
                  <a:srgbClr val="FFFFFF"/>
                </a:solidFill>
                <a:latin typeface="Arial"/>
              </a:defRPr>
            </a:pPr>
            <a:r>
              <a:t>08</a:t>
            </a:r>
          </a:p>
        </p:txBody>
      </p:sp>
      <p:sp>
        <p:nvSpPr>
          <p:cNvPr id="7" name="Rectangle 6"/>
          <p:cNvSpPr/>
          <p:nvPr/>
        </p:nvSpPr>
        <p:spPr>
          <a:xfrm>
            <a:off x="594360" y="1691640"/>
            <a:ext cx="5532120" cy="3520440"/>
          </a:xfrm>
          <a:prstGeom prst="rect">
            <a:avLst/>
          </a:prstGeom>
          <a:solidFill>
            <a:srgbClr val="203C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5029200" cy="274320"/>
          </a:xfrm>
          <a:prstGeom prst="rect">
            <a:avLst/>
          </a:prstGeom>
          <a:noFill/>
        </p:spPr>
        <p:txBody>
          <a:bodyPr wrap="square" lIns="9144" rIns="9144" tIns="0" bIns="0">
            <a:spAutoFit/>
          </a:bodyPr>
          <a:lstStyle/>
          <a:p>
            <a:pPr>
              <a:spcAft>
                <a:spcPts val="800"/>
              </a:spcAft>
              <a:defRPr sz="1400" b="1">
                <a:solidFill>
                  <a:srgbClr val="79C4E6"/>
                </a:solidFill>
                <a:latin typeface="Arial"/>
              </a:defRPr>
            </a:pPr>
            <a:r>
              <a:t>LIVE DEMO</a:t>
            </a:r>
          </a:p>
        </p:txBody>
      </p:sp>
      <p:sp>
        <p:nvSpPr>
          <p:cNvPr id="9" name="TextBox 8"/>
          <p:cNvSpPr txBox="1"/>
          <p:nvPr/>
        </p:nvSpPr>
        <p:spPr>
          <a:xfrm>
            <a:off x="822960" y="2423160"/>
            <a:ext cx="5029200" cy="411480"/>
          </a:xfrm>
          <a:prstGeom prst="rect">
            <a:avLst/>
          </a:prstGeom>
          <a:noFill/>
        </p:spPr>
        <p:txBody>
          <a:bodyPr wrap="square" lIns="9144" rIns="9144" tIns="0" bIns="0">
            <a:spAutoFit/>
          </a:bodyPr>
          <a:lstStyle/>
          <a:p>
            <a:pPr>
              <a:spcAft>
                <a:spcPts val="800"/>
              </a:spcAft>
              <a:defRPr sz="2500" b="0">
                <a:solidFill>
                  <a:srgbClr val="FFFFFF"/>
                </a:solidFill>
                <a:latin typeface="Menlo"/>
              </a:defRPr>
            </a:pPr>
            <a:r>
              <a:t>./build/demo</a:t>
            </a:r>
          </a:p>
        </p:txBody>
      </p:sp>
      <p:sp>
        <p:nvSpPr>
          <p:cNvPr id="10" name="TextBox 9"/>
          <p:cNvSpPr txBox="1"/>
          <p:nvPr/>
        </p:nvSpPr>
        <p:spPr>
          <a:xfrm>
            <a:off x="822960" y="3154680"/>
            <a:ext cx="5029200" cy="914400"/>
          </a:xfrm>
          <a:prstGeom prst="rect">
            <a:avLst/>
          </a:prstGeom>
          <a:noFill/>
        </p:spPr>
        <p:txBody>
          <a:bodyPr wrap="square" lIns="9144" rIns="9144" tIns="0" bIns="0">
            <a:spAutoFit/>
          </a:bodyPr>
          <a:lstStyle/>
          <a:p>
            <a:pPr>
              <a:spcAft>
                <a:spcPts val="800"/>
              </a:spcAft>
              <a:defRPr sz="2000" b="0">
                <a:solidFill>
                  <a:srgbClr val="FFFFFF"/>
                </a:solidFill>
                <a:latin typeface="Menlo"/>
              </a:defRPr>
            </a:pPr>
            <a:r>
              <a:t>Input:  7 2 5 1 6 3 4 2</a:t>
            </a:r>
          </a:p>
          <a:p>
            <a:pPr>
              <a:spcAft>
                <a:spcPts val="800"/>
              </a:spcAft>
              <a:defRPr sz="2000" b="0">
                <a:solidFill>
                  <a:srgbClr val="FFFFFF"/>
                </a:solidFill>
                <a:latin typeface="Menlo"/>
              </a:defRPr>
            </a:pPr>
            <a:r>
              <a:t>Output: 1 2 2 3 4 5 6 7</a:t>
            </a:r>
          </a:p>
        </p:txBody>
      </p:sp>
      <p:sp>
        <p:nvSpPr>
          <p:cNvPr id="11" name="TextBox 10"/>
          <p:cNvSpPr txBox="1"/>
          <p:nvPr/>
        </p:nvSpPr>
        <p:spPr>
          <a:xfrm>
            <a:off x="822960" y="4343400"/>
            <a:ext cx="5029200" cy="731520"/>
          </a:xfrm>
          <a:prstGeom prst="rect">
            <a:avLst/>
          </a:prstGeom>
          <a:noFill/>
        </p:spPr>
        <p:txBody>
          <a:bodyPr wrap="square" lIns="9144" rIns="9144" tIns="0" bIns="0">
            <a:spAutoFit/>
          </a:bodyPr>
          <a:lstStyle/>
          <a:p>
            <a:pPr>
              <a:spcAft>
                <a:spcPts val="800"/>
              </a:spcAft>
              <a:defRPr sz="2000" b="0">
                <a:solidFill>
                  <a:srgbClr val="C8D5DF"/>
                </a:solidFill>
                <a:latin typeface="Arial"/>
              </a:defRPr>
            </a:pPr>
            <a:r>
              <a:t>Merge / S=1: 17 comparisons</a:t>
            </a:r>
          </a:p>
          <a:p>
            <a:pPr>
              <a:spcAft>
                <a:spcPts val="800"/>
              </a:spcAft>
              <a:defRPr sz="2000" b="0">
                <a:solidFill>
                  <a:srgbClr val="C8D5DF"/>
                </a:solidFill>
                <a:latin typeface="Arial"/>
              </a:defRPr>
            </a:pPr>
            <a:r>
              <a:t>S=4: 19  •  S=8: 22</a:t>
            </a:r>
          </a:p>
        </p:txBody>
      </p:sp>
      <p:sp>
        <p:nvSpPr>
          <p:cNvPr id="12" name="TextBox 11"/>
          <p:cNvSpPr txBox="1"/>
          <p:nvPr/>
        </p:nvSpPr>
        <p:spPr>
          <a:xfrm>
            <a:off x="6492240" y="1874519"/>
            <a:ext cx="5029200" cy="2468880"/>
          </a:xfrm>
          <a:prstGeom prst="rect">
            <a:avLst/>
          </a:prstGeom>
          <a:noFill/>
        </p:spPr>
        <p:txBody>
          <a:bodyPr wrap="square" lIns="9144" rIns="9144" tIns="0" bIns="0">
            <a:spAutoFit/>
          </a:bodyPr>
          <a:lstStyle/>
          <a:p>
            <a:pPr>
              <a:spcAft>
                <a:spcPts val="800"/>
              </a:spcAft>
              <a:defRPr sz="2400" b="1">
                <a:solidFill>
                  <a:srgbClr val="FFFFFF"/>
                </a:solidFill>
                <a:latin typeface="Arial"/>
              </a:defRPr>
            </a:pPr>
            <a:r>
              <a:t>01  Correctness checks passed</a:t>
            </a:r>
          </a:p>
          <a:p>
            <a:pPr>
              <a:spcAft>
                <a:spcPts val="800"/>
              </a:spcAft>
              <a:defRPr sz="2400" b="1">
                <a:solidFill>
                  <a:srgbClr val="FFFFFF"/>
                </a:solidFill>
                <a:latin typeface="Arial"/>
              </a:defRPr>
            </a:pPr>
            <a:r>
              <a:t>02  Fixed-S growth fits the analysis</a:t>
            </a:r>
          </a:p>
          <a:p>
            <a:pPr>
              <a:spcAft>
                <a:spcPts val="800"/>
              </a:spcAft>
              <a:defRPr sz="2400" b="1">
                <a:solidFill>
                  <a:srgbClr val="FFFFFF"/>
                </a:solidFill>
                <a:latin typeface="Arial"/>
              </a:defRPr>
            </a:pPr>
            <a:r>
              <a:t>03  Faster runtime, more comparisons</a:t>
            </a:r>
          </a:p>
        </p:txBody>
      </p:sp>
      <p:sp>
        <p:nvSpPr>
          <p:cNvPr id="13" name="TextBox 12"/>
          <p:cNvSpPr txBox="1"/>
          <p:nvPr/>
        </p:nvSpPr>
        <p:spPr>
          <a:xfrm>
            <a:off x="6492240" y="4617720"/>
            <a:ext cx="4937760" cy="1051560"/>
          </a:xfrm>
          <a:prstGeom prst="rect">
            <a:avLst/>
          </a:prstGeom>
          <a:noFill/>
        </p:spPr>
        <p:txBody>
          <a:bodyPr wrap="square" lIns="9144" rIns="9144" tIns="0" bIns="0">
            <a:spAutoFit/>
          </a:bodyPr>
          <a:lstStyle/>
          <a:p>
            <a:pPr>
              <a:spcAft>
                <a:spcPts val="800"/>
              </a:spcAft>
              <a:defRPr sz="2000" b="0">
                <a:solidFill>
                  <a:srgbClr val="C8D5DF"/>
                </a:solidFill>
                <a:latin typeface="Arial"/>
              </a:defRPr>
            </a:pPr>
            <a:r>
              <a:t>Limit: one implementation and machine;</a:t>
            </a:r>
          </a:p>
          <a:p>
            <a:pPr>
              <a:spcAft>
                <a:spcPts val="800"/>
              </a:spcAft>
              <a:defRPr sz="2000" b="0">
                <a:solidFill>
                  <a:srgbClr val="C8D5DF"/>
                </a:solidFill>
                <a:latin typeface="Arial"/>
              </a:defRPr>
            </a:pPr>
            <a:r>
              <a:t>the exact best S is sensitive to timing variation.</a:t>
            </a:r>
          </a:p>
        </p:txBody>
      </p:sp>
      <p:sp>
        <p:nvSpPr>
          <p:cNvPr id="14" name="TextBox 13"/>
          <p:cNvSpPr txBox="1"/>
          <p:nvPr/>
        </p:nvSpPr>
        <p:spPr>
          <a:xfrm>
            <a:off x="685800" y="5760720"/>
            <a:ext cx="10789920" cy="457200"/>
          </a:xfrm>
          <a:prstGeom prst="rect">
            <a:avLst/>
          </a:prstGeom>
          <a:noFill/>
        </p:spPr>
        <p:txBody>
          <a:bodyPr wrap="square" lIns="9144" rIns="9144" tIns="0" bIns="0">
            <a:spAutoFit/>
          </a:bodyPr>
          <a:lstStyle/>
          <a:p>
            <a:pPr>
              <a:spcAft>
                <a:spcPts val="800"/>
              </a:spcAft>
              <a:defRPr sz="2500" b="1">
                <a:solidFill>
                  <a:srgbClr val="79C4E6"/>
                </a:solidFill>
                <a:latin typeface="Arial"/>
              </a:defRPr>
            </a:pPr>
            <a:r>
              <a:t>Questions  /  2 minutes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0972800" cy="274320"/>
          </a:xfrm>
          <a:prstGeom prst="rect">
            <a:avLst/>
          </a:prstGeom>
          <a:noFill/>
        </p:spPr>
        <p:txBody>
          <a:bodyPr wrap="square" lIns="9144" rIns="9144" tIns="0" bIns="0">
            <a:spAutoFit/>
          </a:bodyPr>
          <a:lstStyle/>
          <a:p>
            <a:pPr>
              <a:spcAft>
                <a:spcPts val="800"/>
              </a:spcAft>
              <a:defRPr sz="1100" b="1">
                <a:solidFill>
                  <a:srgbClr val="D96B27"/>
                </a:solidFill>
                <a:latin typeface="Arial"/>
              </a:defRPr>
            </a:pPr>
            <a:r>
              <a:t>BACKUP A / THRESHOLD SENSITIVITY</a:t>
            </a:r>
          </a:p>
        </p:txBody>
      </p:sp>
      <p:sp>
        <p:nvSpPr>
          <p:cNvPr id="3" name="TextBox 2"/>
          <p:cNvSpPr txBox="1"/>
          <p:nvPr/>
        </p:nvSpPr>
        <p:spPr>
          <a:xfrm>
            <a:off x="502920" y="685800"/>
            <a:ext cx="11201400" cy="777240"/>
          </a:xfrm>
          <a:prstGeom prst="rect">
            <a:avLst/>
          </a:prstGeom>
          <a:noFill/>
        </p:spPr>
        <p:txBody>
          <a:bodyPr wrap="square" lIns="9144" rIns="9144" tIns="0" bIns="0">
            <a:spAutoFit/>
          </a:bodyPr>
          <a:lstStyle/>
          <a:p>
            <a:pPr>
              <a:spcAft>
                <a:spcPts val="800"/>
              </a:spcAft>
              <a:defRPr sz="3000" b="1">
                <a:solidFill>
                  <a:srgbClr val="12283E"/>
                </a:solidFill>
                <a:latin typeface="Arial"/>
              </a:defRPr>
            </a:pPr>
            <a:r>
              <a:t>CPU time across four input sizes</a:t>
            </a:r>
          </a:p>
        </p:txBody>
      </p:sp>
      <p:sp>
        <p:nvSpPr>
          <p:cNvPr id="4" name="Rectangle 3"/>
          <p:cNvSpPr/>
          <p:nvPr/>
        </p:nvSpPr>
        <p:spPr>
          <a:xfrm>
            <a:off x="502920" y="6473952"/>
            <a:ext cx="11155680" cy="10972"/>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65392"/>
            <a:ext cx="7315200" cy="182880"/>
          </a:xfrm>
          <a:prstGeom prst="rect">
            <a:avLst/>
          </a:prstGeom>
          <a:noFill/>
        </p:spPr>
        <p:txBody>
          <a:bodyPr wrap="square" lIns="9144" rIns="9144" tIns="0" bIns="0">
            <a:spAutoFit/>
          </a:bodyPr>
          <a:lstStyle/>
          <a:p>
            <a:pPr>
              <a:spcAft>
                <a:spcPts val="800"/>
              </a:spcAft>
              <a:defRPr sz="900" b="0">
                <a:solidFill>
                  <a:srgbClr val="566779"/>
                </a:solidFill>
                <a:latin typeface="Arial"/>
              </a:defRPr>
            </a:pPr>
            <a:r>
              <a:t>MERGE SORT + INSERTION SORT</a:t>
            </a:r>
          </a:p>
        </p:txBody>
      </p:sp>
      <p:sp>
        <p:nvSpPr>
          <p:cNvPr id="6" name="TextBox 5"/>
          <p:cNvSpPr txBox="1"/>
          <p:nvPr/>
        </p:nvSpPr>
        <p:spPr>
          <a:xfrm>
            <a:off x="11064240" y="6528816"/>
            <a:ext cx="548640" cy="228600"/>
          </a:xfrm>
          <a:prstGeom prst="rect">
            <a:avLst/>
          </a:prstGeom>
          <a:noFill/>
        </p:spPr>
        <p:txBody>
          <a:bodyPr wrap="square" lIns="9144" rIns="9144" tIns="0" bIns="0">
            <a:spAutoFit/>
          </a:bodyPr>
          <a:lstStyle/>
          <a:p>
            <a:pPr algn="r">
              <a:spcAft>
                <a:spcPts val="800"/>
              </a:spcAft>
              <a:defRPr sz="1100" b="0">
                <a:solidFill>
                  <a:srgbClr val="12283E"/>
                </a:solidFill>
                <a:latin typeface="Arial"/>
              </a:defRPr>
            </a:pPr>
            <a:r>
              <a:t>09</a:t>
            </a:r>
          </a:p>
        </p:txBody>
      </p:sp>
      <p:pic>
        <p:nvPicPr>
          <p:cNvPr id="7" name="Picture 6" descr="03_threshold_cpu.png"/>
          <p:cNvPicPr>
            <a:picLocks noChangeAspect="1"/>
          </p:cNvPicPr>
          <p:nvPr/>
        </p:nvPicPr>
        <p:blipFill>
          <a:blip r:embed="rId2"/>
          <a:stretch>
            <a:fillRect/>
          </a:stretch>
        </p:blipFill>
        <p:spPr>
          <a:xfrm>
            <a:off x="2343149" y="1417320"/>
            <a:ext cx="7475220" cy="49834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0972800" cy="274320"/>
          </a:xfrm>
          <a:prstGeom prst="rect">
            <a:avLst/>
          </a:prstGeom>
          <a:noFill/>
        </p:spPr>
        <p:txBody>
          <a:bodyPr wrap="square" lIns="9144" rIns="9144" tIns="0" bIns="0">
            <a:spAutoFit/>
          </a:bodyPr>
          <a:lstStyle/>
          <a:p>
            <a:pPr>
              <a:spcAft>
                <a:spcPts val="800"/>
              </a:spcAft>
              <a:defRPr sz="1100" b="1">
                <a:solidFill>
                  <a:srgbClr val="D96B27"/>
                </a:solidFill>
                <a:latin typeface="Arial"/>
              </a:defRPr>
            </a:pPr>
            <a:r>
              <a:t>BACKUP B / WHY THE EXACT OPTIMUM IS UNCERTAIN</a:t>
            </a:r>
          </a:p>
        </p:txBody>
      </p:sp>
      <p:sp>
        <p:nvSpPr>
          <p:cNvPr id="3" name="TextBox 2"/>
          <p:cNvSpPr txBox="1"/>
          <p:nvPr/>
        </p:nvSpPr>
        <p:spPr>
          <a:xfrm>
            <a:off x="502920" y="685800"/>
            <a:ext cx="11201400" cy="777240"/>
          </a:xfrm>
          <a:prstGeom prst="rect">
            <a:avLst/>
          </a:prstGeom>
          <a:noFill/>
        </p:spPr>
        <p:txBody>
          <a:bodyPr wrap="square" lIns="9144" rIns="9144" tIns="0" bIns="0">
            <a:spAutoFit/>
          </a:bodyPr>
          <a:lstStyle/>
          <a:p>
            <a:pPr>
              <a:spcAft>
                <a:spcPts val="800"/>
              </a:spcAft>
              <a:defRPr sz="3000" b="1">
                <a:solidFill>
                  <a:srgbClr val="12283E"/>
                </a:solidFill>
                <a:latin typeface="Arial"/>
              </a:defRPr>
            </a:pPr>
            <a:r>
              <a:t>Refinement reveals run-phase variation</a:t>
            </a:r>
          </a:p>
        </p:txBody>
      </p:sp>
      <p:sp>
        <p:nvSpPr>
          <p:cNvPr id="4" name="Rectangle 3"/>
          <p:cNvSpPr/>
          <p:nvPr/>
        </p:nvSpPr>
        <p:spPr>
          <a:xfrm>
            <a:off x="502920" y="6473952"/>
            <a:ext cx="11155680" cy="10972"/>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65392"/>
            <a:ext cx="7315200" cy="182880"/>
          </a:xfrm>
          <a:prstGeom prst="rect">
            <a:avLst/>
          </a:prstGeom>
          <a:noFill/>
        </p:spPr>
        <p:txBody>
          <a:bodyPr wrap="square" lIns="9144" rIns="9144" tIns="0" bIns="0">
            <a:spAutoFit/>
          </a:bodyPr>
          <a:lstStyle/>
          <a:p>
            <a:pPr>
              <a:spcAft>
                <a:spcPts val="800"/>
              </a:spcAft>
              <a:defRPr sz="900" b="0">
                <a:solidFill>
                  <a:srgbClr val="566779"/>
                </a:solidFill>
                <a:latin typeface="Arial"/>
              </a:defRPr>
            </a:pPr>
            <a:r>
              <a:t>MERGE SORT + INSERTION SORT</a:t>
            </a:r>
          </a:p>
        </p:txBody>
      </p:sp>
      <p:sp>
        <p:nvSpPr>
          <p:cNvPr id="6" name="TextBox 5"/>
          <p:cNvSpPr txBox="1"/>
          <p:nvPr/>
        </p:nvSpPr>
        <p:spPr>
          <a:xfrm>
            <a:off x="11064240" y="6528816"/>
            <a:ext cx="548640" cy="228600"/>
          </a:xfrm>
          <a:prstGeom prst="rect">
            <a:avLst/>
          </a:prstGeom>
          <a:noFill/>
        </p:spPr>
        <p:txBody>
          <a:bodyPr wrap="square" lIns="9144" rIns="9144" tIns="0" bIns="0">
            <a:spAutoFit/>
          </a:bodyPr>
          <a:lstStyle/>
          <a:p>
            <a:pPr algn="r">
              <a:spcAft>
                <a:spcPts val="800"/>
              </a:spcAft>
              <a:defRPr sz="1100" b="0">
                <a:solidFill>
                  <a:srgbClr val="12283E"/>
                </a:solidFill>
                <a:latin typeface="Arial"/>
              </a:defRPr>
            </a:pPr>
            <a:r>
              <a:t>10</a:t>
            </a:r>
          </a:p>
        </p:txBody>
      </p:sp>
      <p:pic>
        <p:nvPicPr>
          <p:cNvPr id="7" name="Picture 6" descr="05_refinement.png"/>
          <p:cNvPicPr>
            <a:picLocks noChangeAspect="1"/>
          </p:cNvPicPr>
          <p:nvPr/>
        </p:nvPicPr>
        <p:blipFill>
          <a:blip r:embed="rId2"/>
          <a:stretch>
            <a:fillRect/>
          </a:stretch>
        </p:blipFill>
        <p:spPr>
          <a:xfrm>
            <a:off x="1554479" y="1463040"/>
            <a:ext cx="9052560" cy="4526280"/>
          </a:xfrm>
          <a:prstGeom prst="rect">
            <a:avLst/>
          </a:prstGeom>
        </p:spPr>
      </p:pic>
      <p:sp>
        <p:nvSpPr>
          <p:cNvPr id="8" name="TextBox 7"/>
          <p:cNvSpPr txBox="1"/>
          <p:nvPr/>
        </p:nvSpPr>
        <p:spPr>
          <a:xfrm>
            <a:off x="640080" y="6080760"/>
            <a:ext cx="10972800" cy="274320"/>
          </a:xfrm>
          <a:prstGeom prst="rect">
            <a:avLst/>
          </a:prstGeom>
          <a:noFill/>
        </p:spPr>
        <p:txBody>
          <a:bodyPr wrap="square" lIns="9144" rIns="9144" tIns="0" bIns="0">
            <a:spAutoFit/>
          </a:bodyPr>
          <a:lstStyle/>
          <a:p>
            <a:pPr>
              <a:spcAft>
                <a:spcPts val="800"/>
              </a:spcAft>
              <a:defRPr sz="1600" b="0">
                <a:solidFill>
                  <a:srgbClr val="566779"/>
                </a:solidFill>
                <a:latin typeface="Arial"/>
              </a:defRPr>
            </a:pPr>
            <a:r>
              <a:t>At n=10m, S=39–75 gives identical leaves (38 or 39 elements). Tiny ranks are not robust.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0972800" cy="274320"/>
          </a:xfrm>
          <a:prstGeom prst="rect">
            <a:avLst/>
          </a:prstGeom>
          <a:noFill/>
        </p:spPr>
        <p:txBody>
          <a:bodyPr wrap="square" lIns="9144" rIns="9144" tIns="0" bIns="0">
            <a:spAutoFit/>
          </a:bodyPr>
          <a:lstStyle/>
          <a:p>
            <a:pPr>
              <a:spcAft>
                <a:spcPts val="800"/>
              </a:spcAft>
              <a:defRPr sz="1100" b="1">
                <a:solidFill>
                  <a:srgbClr val="D96B27"/>
                </a:solidFill>
                <a:latin typeface="Arial"/>
              </a:defRPr>
            </a:pPr>
            <a:r>
              <a:t>BACKUP C / COMPARISON COST</a:t>
            </a:r>
          </a:p>
        </p:txBody>
      </p:sp>
      <p:sp>
        <p:nvSpPr>
          <p:cNvPr id="3" name="TextBox 2"/>
          <p:cNvSpPr txBox="1"/>
          <p:nvPr/>
        </p:nvSpPr>
        <p:spPr>
          <a:xfrm>
            <a:off x="502920" y="685800"/>
            <a:ext cx="11201400" cy="777240"/>
          </a:xfrm>
          <a:prstGeom prst="rect">
            <a:avLst/>
          </a:prstGeom>
          <a:noFill/>
        </p:spPr>
        <p:txBody>
          <a:bodyPr wrap="square" lIns="9144" rIns="9144" tIns="0" bIns="0">
            <a:spAutoFit/>
          </a:bodyPr>
          <a:lstStyle/>
          <a:p>
            <a:pPr>
              <a:spcAft>
                <a:spcPts val="800"/>
              </a:spcAft>
              <a:defRPr sz="3000" b="1">
                <a:solidFill>
                  <a:srgbClr val="12283E"/>
                </a:solidFill>
                <a:latin typeface="Arial"/>
              </a:defRPr>
            </a:pPr>
            <a:r>
              <a:t>Key comparisons per element across input sizes</a:t>
            </a:r>
          </a:p>
        </p:txBody>
      </p:sp>
      <p:sp>
        <p:nvSpPr>
          <p:cNvPr id="4" name="Rectangle 3"/>
          <p:cNvSpPr/>
          <p:nvPr/>
        </p:nvSpPr>
        <p:spPr>
          <a:xfrm>
            <a:off x="502920" y="6473952"/>
            <a:ext cx="11155680" cy="10972"/>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65392"/>
            <a:ext cx="7315200" cy="182880"/>
          </a:xfrm>
          <a:prstGeom prst="rect">
            <a:avLst/>
          </a:prstGeom>
          <a:noFill/>
        </p:spPr>
        <p:txBody>
          <a:bodyPr wrap="square" lIns="9144" rIns="9144" tIns="0" bIns="0">
            <a:spAutoFit/>
          </a:bodyPr>
          <a:lstStyle/>
          <a:p>
            <a:pPr>
              <a:spcAft>
                <a:spcPts val="800"/>
              </a:spcAft>
              <a:defRPr sz="900" b="0">
                <a:solidFill>
                  <a:srgbClr val="566779"/>
                </a:solidFill>
                <a:latin typeface="Arial"/>
              </a:defRPr>
            </a:pPr>
            <a:r>
              <a:t>MERGE SORT + INSERTION SORT</a:t>
            </a:r>
          </a:p>
        </p:txBody>
      </p:sp>
      <p:sp>
        <p:nvSpPr>
          <p:cNvPr id="6" name="TextBox 5"/>
          <p:cNvSpPr txBox="1"/>
          <p:nvPr/>
        </p:nvSpPr>
        <p:spPr>
          <a:xfrm>
            <a:off x="11064240" y="6528816"/>
            <a:ext cx="548640" cy="228600"/>
          </a:xfrm>
          <a:prstGeom prst="rect">
            <a:avLst/>
          </a:prstGeom>
          <a:noFill/>
        </p:spPr>
        <p:txBody>
          <a:bodyPr wrap="square" lIns="9144" rIns="9144" tIns="0" bIns="0">
            <a:spAutoFit/>
          </a:bodyPr>
          <a:lstStyle/>
          <a:p>
            <a:pPr algn="r">
              <a:spcAft>
                <a:spcPts val="800"/>
              </a:spcAft>
              <a:defRPr sz="1100" b="0">
                <a:solidFill>
                  <a:srgbClr val="12283E"/>
                </a:solidFill>
                <a:latin typeface="Arial"/>
              </a:defRPr>
            </a:pPr>
            <a:r>
              <a:t>11</a:t>
            </a:r>
          </a:p>
        </p:txBody>
      </p:sp>
      <p:pic>
        <p:nvPicPr>
          <p:cNvPr id="7" name="Picture 6" descr="04_threshold_comparisons.png"/>
          <p:cNvPicPr>
            <a:picLocks noChangeAspect="1"/>
          </p:cNvPicPr>
          <p:nvPr/>
        </p:nvPicPr>
        <p:blipFill>
          <a:blip r:embed="rId2"/>
          <a:stretch>
            <a:fillRect/>
          </a:stretch>
        </p:blipFill>
        <p:spPr>
          <a:xfrm>
            <a:off x="1595628" y="1417320"/>
            <a:ext cx="8970264" cy="49834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0972800" cy="274320"/>
          </a:xfrm>
          <a:prstGeom prst="rect">
            <a:avLst/>
          </a:prstGeom>
          <a:noFill/>
        </p:spPr>
        <p:txBody>
          <a:bodyPr wrap="square" lIns="9144" rIns="9144" tIns="0" bIns="0">
            <a:spAutoFit/>
          </a:bodyPr>
          <a:lstStyle/>
          <a:p>
            <a:pPr>
              <a:spcAft>
                <a:spcPts val="800"/>
              </a:spcAft>
              <a:defRPr sz="1100" b="1">
                <a:solidFill>
                  <a:srgbClr val="D96B27"/>
                </a:solidFill>
                <a:latin typeface="Arial"/>
              </a:defRPr>
            </a:pPr>
            <a:r>
              <a:t>BACKUP D / COUNTING DEFINITIONS</a:t>
            </a:r>
          </a:p>
        </p:txBody>
      </p:sp>
      <p:sp>
        <p:nvSpPr>
          <p:cNvPr id="3" name="TextBox 2"/>
          <p:cNvSpPr txBox="1"/>
          <p:nvPr/>
        </p:nvSpPr>
        <p:spPr>
          <a:xfrm>
            <a:off x="502920" y="685800"/>
            <a:ext cx="11201400" cy="777240"/>
          </a:xfrm>
          <a:prstGeom prst="rect">
            <a:avLst/>
          </a:prstGeom>
          <a:noFill/>
        </p:spPr>
        <p:txBody>
          <a:bodyPr wrap="square" lIns="9144" rIns="9144" tIns="0" bIns="0">
            <a:spAutoFit/>
          </a:bodyPr>
          <a:lstStyle/>
          <a:p>
            <a:pPr>
              <a:spcAft>
                <a:spcPts val="800"/>
              </a:spcAft>
              <a:defRPr sz="3000" b="1">
                <a:solidFill>
                  <a:srgbClr val="12283E"/>
                </a:solidFill>
                <a:latin typeface="Arial"/>
              </a:defRPr>
            </a:pPr>
            <a:r>
              <a:t>Count data comparisons, including the final false one</a:t>
            </a:r>
          </a:p>
        </p:txBody>
      </p:sp>
      <p:sp>
        <p:nvSpPr>
          <p:cNvPr id="4" name="Rectangle 3"/>
          <p:cNvSpPr/>
          <p:nvPr/>
        </p:nvSpPr>
        <p:spPr>
          <a:xfrm>
            <a:off x="502920" y="6473952"/>
            <a:ext cx="11155680" cy="10972"/>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65392"/>
            <a:ext cx="7315200" cy="182880"/>
          </a:xfrm>
          <a:prstGeom prst="rect">
            <a:avLst/>
          </a:prstGeom>
          <a:noFill/>
        </p:spPr>
        <p:txBody>
          <a:bodyPr wrap="square" lIns="9144" rIns="9144" tIns="0" bIns="0">
            <a:spAutoFit/>
          </a:bodyPr>
          <a:lstStyle/>
          <a:p>
            <a:pPr>
              <a:spcAft>
                <a:spcPts val="800"/>
              </a:spcAft>
              <a:defRPr sz="900" b="0">
                <a:solidFill>
                  <a:srgbClr val="566779"/>
                </a:solidFill>
                <a:latin typeface="Arial"/>
              </a:defRPr>
            </a:pPr>
            <a:r>
              <a:t>MERGE SORT + INSERTION SORT</a:t>
            </a:r>
          </a:p>
        </p:txBody>
      </p:sp>
      <p:sp>
        <p:nvSpPr>
          <p:cNvPr id="6" name="TextBox 5"/>
          <p:cNvSpPr txBox="1"/>
          <p:nvPr/>
        </p:nvSpPr>
        <p:spPr>
          <a:xfrm>
            <a:off x="11064240" y="6528816"/>
            <a:ext cx="548640" cy="228600"/>
          </a:xfrm>
          <a:prstGeom prst="rect">
            <a:avLst/>
          </a:prstGeom>
          <a:noFill/>
        </p:spPr>
        <p:txBody>
          <a:bodyPr wrap="square" lIns="9144" rIns="9144" tIns="0" bIns="0">
            <a:spAutoFit/>
          </a:bodyPr>
          <a:lstStyle/>
          <a:p>
            <a:pPr algn="r">
              <a:spcAft>
                <a:spcPts val="800"/>
              </a:spcAft>
              <a:defRPr sz="1100" b="0">
                <a:solidFill>
                  <a:srgbClr val="12283E"/>
                </a:solidFill>
                <a:latin typeface="Arial"/>
              </a:defRPr>
            </a:pPr>
            <a:r>
              <a:t>12</a:t>
            </a:r>
          </a:p>
        </p:txBody>
      </p:sp>
      <p:sp>
        <p:nvSpPr>
          <p:cNvPr id="7" name="Rectangle 6"/>
          <p:cNvSpPr/>
          <p:nvPr/>
        </p:nvSpPr>
        <p:spPr>
          <a:xfrm>
            <a:off x="594360" y="1737360"/>
            <a:ext cx="5349240" cy="210312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737360"/>
            <a:ext cx="50292" cy="2103120"/>
          </a:xfrm>
          <a:prstGeom prst="rect">
            <a:avLst/>
          </a:prstGeom>
          <a:solidFill>
            <a:srgbClr val="D96B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847088"/>
            <a:ext cx="5020055" cy="365760"/>
          </a:xfrm>
          <a:prstGeom prst="rect">
            <a:avLst/>
          </a:prstGeom>
          <a:noFill/>
        </p:spPr>
        <p:txBody>
          <a:bodyPr wrap="square" lIns="9144" rIns="9144" tIns="0" bIns="0">
            <a:spAutoFit/>
          </a:bodyPr>
          <a:lstStyle/>
          <a:p>
            <a:pPr>
              <a:spcAft>
                <a:spcPts val="800"/>
              </a:spcAft>
              <a:defRPr sz="2000" b="1">
                <a:solidFill>
                  <a:srgbClr val="D96B27"/>
                </a:solidFill>
                <a:latin typeface="Arial"/>
              </a:defRPr>
            </a:pPr>
            <a:r>
              <a:t>Insertion example: [2, 1, 3]</a:t>
            </a:r>
          </a:p>
        </p:txBody>
      </p:sp>
      <p:sp>
        <p:nvSpPr>
          <p:cNvPr id="10" name="TextBox 9"/>
          <p:cNvSpPr txBox="1"/>
          <p:nvPr/>
        </p:nvSpPr>
        <p:spPr>
          <a:xfrm>
            <a:off x="758952" y="2240280"/>
            <a:ext cx="5020055" cy="1554479"/>
          </a:xfrm>
          <a:prstGeom prst="rect">
            <a:avLst/>
          </a:prstGeom>
          <a:noFill/>
        </p:spPr>
        <p:txBody>
          <a:bodyPr wrap="square" lIns="9144" rIns="9144" tIns="0" bIns="0">
            <a:spAutoFit/>
          </a:bodyPr>
          <a:lstStyle/>
          <a:p>
            <a:pPr>
              <a:spcAft>
                <a:spcPts val="800"/>
              </a:spcAft>
              <a:defRPr sz="1600" b="0">
                <a:solidFill>
                  <a:srgbClr val="566779"/>
                </a:solidFill>
                <a:latin typeface="Arial"/>
              </a:defRPr>
            </a:pPr>
            <a:r>
              <a:t>2 &gt; 1 → true; shift 2</a:t>
            </a:r>
          </a:p>
          <a:p>
            <a:pPr>
              <a:spcAft>
                <a:spcPts val="800"/>
              </a:spcAft>
              <a:defRPr sz="1600" b="0">
                <a:solidFill>
                  <a:srgbClr val="566779"/>
                </a:solidFill>
                <a:latin typeface="Arial"/>
              </a:defRPr>
            </a:pPr>
            <a:r>
              <a:t>2 &gt; 3 → false; stop</a:t>
            </a:r>
          </a:p>
          <a:p>
            <a:pPr>
              <a:spcAft>
                <a:spcPts val="800"/>
              </a:spcAft>
              <a:defRPr sz="1600" b="0">
                <a:solidFill>
                  <a:srgbClr val="566779"/>
                </a:solidFill>
                <a:latin typeface="Arial"/>
              </a:defRPr>
            </a:pPr>
            <a:r>
              <a:t>Total: 2 key comparisons</a:t>
            </a:r>
          </a:p>
        </p:txBody>
      </p:sp>
      <p:sp>
        <p:nvSpPr>
          <p:cNvPr id="11" name="Rectangle 10"/>
          <p:cNvSpPr/>
          <p:nvPr/>
        </p:nvSpPr>
        <p:spPr>
          <a:xfrm>
            <a:off x="6172200" y="1737360"/>
            <a:ext cx="5349240" cy="210312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37360"/>
            <a:ext cx="50292" cy="2103120"/>
          </a:xfrm>
          <a:prstGeom prst="rect">
            <a:avLst/>
          </a:prstGeom>
          <a:solidFill>
            <a:srgbClr val="176B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1847088"/>
            <a:ext cx="5020055" cy="365760"/>
          </a:xfrm>
          <a:prstGeom prst="rect">
            <a:avLst/>
          </a:prstGeom>
          <a:noFill/>
        </p:spPr>
        <p:txBody>
          <a:bodyPr wrap="square" lIns="9144" rIns="9144" tIns="0" bIns="0">
            <a:spAutoFit/>
          </a:bodyPr>
          <a:lstStyle/>
          <a:p>
            <a:pPr>
              <a:spcAft>
                <a:spcPts val="800"/>
              </a:spcAft>
              <a:defRPr sz="2000" b="1">
                <a:solidFill>
                  <a:srgbClr val="176B9B"/>
                </a:solidFill>
                <a:latin typeface="Arial"/>
              </a:defRPr>
            </a:pPr>
            <a:r>
              <a:t>Merge example: [1, 3] + [2, 4]</a:t>
            </a:r>
          </a:p>
        </p:txBody>
      </p:sp>
      <p:sp>
        <p:nvSpPr>
          <p:cNvPr id="14" name="TextBox 13"/>
          <p:cNvSpPr txBox="1"/>
          <p:nvPr/>
        </p:nvSpPr>
        <p:spPr>
          <a:xfrm>
            <a:off x="6336792" y="2240280"/>
            <a:ext cx="5020055" cy="1554479"/>
          </a:xfrm>
          <a:prstGeom prst="rect">
            <a:avLst/>
          </a:prstGeom>
          <a:noFill/>
        </p:spPr>
        <p:txBody>
          <a:bodyPr wrap="square" lIns="9144" rIns="9144" tIns="0" bIns="0">
            <a:spAutoFit/>
          </a:bodyPr>
          <a:lstStyle/>
          <a:p>
            <a:pPr>
              <a:spcAft>
                <a:spcPts val="800"/>
              </a:spcAft>
              <a:defRPr sz="1600" b="0">
                <a:solidFill>
                  <a:srgbClr val="566779"/>
                </a:solidFill>
                <a:latin typeface="Arial"/>
              </a:defRPr>
            </a:pPr>
            <a:r>
              <a:t>1 ≤ 2; 3 ≤ 2; 3 ≤ 4</a:t>
            </a:r>
          </a:p>
          <a:p>
            <a:pPr>
              <a:spcAft>
                <a:spcPts val="800"/>
              </a:spcAft>
              <a:defRPr sz="1600" b="0">
                <a:solidFill>
                  <a:srgbClr val="566779"/>
                </a:solidFill>
                <a:latin typeface="Arial"/>
              </a:defRPr>
            </a:pPr>
            <a:r>
              <a:t>Copy remaining 4 without comparing</a:t>
            </a:r>
          </a:p>
          <a:p>
            <a:pPr>
              <a:spcAft>
                <a:spcPts val="800"/>
              </a:spcAft>
              <a:defRPr sz="1600" b="0">
                <a:solidFill>
                  <a:srgbClr val="566779"/>
                </a:solidFill>
                <a:latin typeface="Arial"/>
              </a:defRPr>
            </a:pPr>
            <a:r>
              <a:t>Total: 3 key comparisons</a:t>
            </a:r>
          </a:p>
        </p:txBody>
      </p:sp>
      <p:sp>
        <p:nvSpPr>
          <p:cNvPr id="15" name="TextBox 14"/>
          <p:cNvSpPr txBox="1"/>
          <p:nvPr/>
        </p:nvSpPr>
        <p:spPr>
          <a:xfrm>
            <a:off x="731520" y="4389120"/>
            <a:ext cx="10789920" cy="594360"/>
          </a:xfrm>
          <a:prstGeom prst="rect">
            <a:avLst/>
          </a:prstGeom>
          <a:noFill/>
        </p:spPr>
        <p:txBody>
          <a:bodyPr wrap="square" lIns="9144" rIns="9144" tIns="0" bIns="0">
            <a:spAutoFit/>
          </a:bodyPr>
          <a:lstStyle/>
          <a:p>
            <a:pPr>
              <a:spcAft>
                <a:spcPts val="800"/>
              </a:spcAft>
              <a:defRPr sz="2300" b="1">
                <a:solidFill>
                  <a:srgbClr val="12283E"/>
                </a:solidFill>
                <a:latin typeface="Arial"/>
              </a:defRPr>
            </a:pPr>
            <a:r>
              <a:t>Excluded: index checks, loop bounds, copying, and exhaustion checks.</a:t>
            </a:r>
          </a:p>
        </p:txBody>
      </p:sp>
      <p:sp>
        <p:nvSpPr>
          <p:cNvPr id="16" name="TextBox 15"/>
          <p:cNvSpPr txBox="1"/>
          <p:nvPr/>
        </p:nvSpPr>
        <p:spPr>
          <a:xfrm>
            <a:off x="731520" y="5166360"/>
            <a:ext cx="10515600" cy="914400"/>
          </a:xfrm>
          <a:prstGeom prst="rect">
            <a:avLst/>
          </a:prstGeom>
          <a:noFill/>
        </p:spPr>
        <p:txBody>
          <a:bodyPr wrap="square" lIns="9144" rIns="9144" tIns="0" bIns="0">
            <a:spAutoFit/>
          </a:bodyPr>
          <a:lstStyle/>
          <a:p>
            <a:pPr>
              <a:spcAft>
                <a:spcPts val="800"/>
              </a:spcAft>
              <a:defRPr sz="2100" b="0">
                <a:solidFill>
                  <a:srgbClr val="566779"/>
                </a:solidFill>
                <a:latin typeface="Arial"/>
              </a:defRPr>
            </a:pPr>
            <a:r>
              <a:t>Count=true records uint64 comparisons.</a:t>
            </a:r>
          </a:p>
          <a:p>
            <a:pPr>
              <a:spcAft>
                <a:spcPts val="800"/>
              </a:spcAft>
              <a:defRPr sz="2100" b="0">
                <a:solidFill>
                  <a:srgbClr val="566779"/>
                </a:solidFill>
                <a:latin typeface="Arial"/>
              </a:defRPr>
            </a:pPr>
            <a:r>
              <a:t>Count=false removes counter increments at compile time.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0972800" cy="274320"/>
          </a:xfrm>
          <a:prstGeom prst="rect">
            <a:avLst/>
          </a:prstGeom>
          <a:noFill/>
        </p:spPr>
        <p:txBody>
          <a:bodyPr wrap="square" lIns="9144" rIns="9144" tIns="0" bIns="0">
            <a:spAutoFit/>
          </a:bodyPr>
          <a:lstStyle/>
          <a:p>
            <a:pPr>
              <a:spcAft>
                <a:spcPts val="800"/>
              </a:spcAft>
              <a:defRPr sz="1100" b="1">
                <a:solidFill>
                  <a:srgbClr val="D96B27"/>
                </a:solidFill>
                <a:latin typeface="Arial"/>
              </a:defRPr>
            </a:pPr>
            <a:r>
              <a:t>BACKUP E / VERIFICATION</a:t>
            </a:r>
          </a:p>
        </p:txBody>
      </p:sp>
      <p:sp>
        <p:nvSpPr>
          <p:cNvPr id="3" name="TextBox 2"/>
          <p:cNvSpPr txBox="1"/>
          <p:nvPr/>
        </p:nvSpPr>
        <p:spPr>
          <a:xfrm>
            <a:off x="502920" y="685800"/>
            <a:ext cx="11201400" cy="777240"/>
          </a:xfrm>
          <a:prstGeom prst="rect">
            <a:avLst/>
          </a:prstGeom>
          <a:noFill/>
        </p:spPr>
        <p:txBody>
          <a:bodyPr wrap="square" lIns="9144" rIns="9144" tIns="0" bIns="0">
            <a:spAutoFit/>
          </a:bodyPr>
          <a:lstStyle/>
          <a:p>
            <a:pPr>
              <a:spcAft>
                <a:spcPts val="800"/>
              </a:spcAft>
              <a:defRPr sz="3000" b="1">
                <a:solidFill>
                  <a:srgbClr val="12283E"/>
                </a:solidFill>
                <a:latin typeface="Arial"/>
              </a:defRPr>
            </a:pPr>
            <a:r>
              <a:t>Correctness and complete experiment coverage</a:t>
            </a:r>
          </a:p>
        </p:txBody>
      </p:sp>
      <p:sp>
        <p:nvSpPr>
          <p:cNvPr id="4" name="Rectangle 3"/>
          <p:cNvSpPr/>
          <p:nvPr/>
        </p:nvSpPr>
        <p:spPr>
          <a:xfrm>
            <a:off x="502920" y="6473952"/>
            <a:ext cx="11155680" cy="10972"/>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65392"/>
            <a:ext cx="7315200" cy="182880"/>
          </a:xfrm>
          <a:prstGeom prst="rect">
            <a:avLst/>
          </a:prstGeom>
          <a:noFill/>
        </p:spPr>
        <p:txBody>
          <a:bodyPr wrap="square" lIns="9144" rIns="9144" tIns="0" bIns="0">
            <a:spAutoFit/>
          </a:bodyPr>
          <a:lstStyle/>
          <a:p>
            <a:pPr>
              <a:spcAft>
                <a:spcPts val="800"/>
              </a:spcAft>
              <a:defRPr sz="900" b="0">
                <a:solidFill>
                  <a:srgbClr val="566779"/>
                </a:solidFill>
                <a:latin typeface="Arial"/>
              </a:defRPr>
            </a:pPr>
            <a:r>
              <a:t>MERGE SORT + INSERTION SORT</a:t>
            </a:r>
          </a:p>
        </p:txBody>
      </p:sp>
      <p:sp>
        <p:nvSpPr>
          <p:cNvPr id="6" name="TextBox 5"/>
          <p:cNvSpPr txBox="1"/>
          <p:nvPr/>
        </p:nvSpPr>
        <p:spPr>
          <a:xfrm>
            <a:off x="11064240" y="6528816"/>
            <a:ext cx="548640" cy="228600"/>
          </a:xfrm>
          <a:prstGeom prst="rect">
            <a:avLst/>
          </a:prstGeom>
          <a:noFill/>
        </p:spPr>
        <p:txBody>
          <a:bodyPr wrap="square" lIns="9144" rIns="9144" tIns="0" bIns="0">
            <a:spAutoFit/>
          </a:bodyPr>
          <a:lstStyle/>
          <a:p>
            <a:pPr algn="r">
              <a:spcAft>
                <a:spcPts val="800"/>
              </a:spcAft>
              <a:defRPr sz="1100" b="0">
                <a:solidFill>
                  <a:srgbClr val="12283E"/>
                </a:solidFill>
                <a:latin typeface="Arial"/>
              </a:defRPr>
            </a:pPr>
            <a:r>
              <a:t>13</a:t>
            </a:r>
          </a:p>
        </p:txBody>
      </p:sp>
      <p:sp>
        <p:nvSpPr>
          <p:cNvPr id="7" name="Rectangle 6"/>
          <p:cNvSpPr/>
          <p:nvPr/>
        </p:nvSpPr>
        <p:spPr>
          <a:xfrm>
            <a:off x="594360" y="1691640"/>
            <a:ext cx="10972800" cy="1143000"/>
          </a:xfrm>
          <a:prstGeom prst="rect">
            <a:avLst/>
          </a:prstGeom>
          <a:solidFill>
            <a:srgbClr val="EEF3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691640"/>
            <a:ext cx="50292" cy="1143000"/>
          </a:xfrm>
          <a:prstGeom prst="rect">
            <a:avLst/>
          </a:prstGeom>
          <a:solidFill>
            <a:srgbClr val="2382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801368"/>
            <a:ext cx="10643616" cy="365760"/>
          </a:xfrm>
          <a:prstGeom prst="rect">
            <a:avLst/>
          </a:prstGeom>
          <a:noFill/>
        </p:spPr>
        <p:txBody>
          <a:bodyPr wrap="square" lIns="9144" rIns="9144" tIns="0" bIns="0">
            <a:spAutoFit/>
          </a:bodyPr>
          <a:lstStyle/>
          <a:p>
            <a:pPr>
              <a:spcAft>
                <a:spcPts val="800"/>
              </a:spcAft>
              <a:defRPr sz="2000" b="1">
                <a:solidFill>
                  <a:srgbClr val="23826B"/>
                </a:solidFill>
                <a:latin typeface="Arial"/>
              </a:defRPr>
            </a:pPr>
            <a:r>
              <a:t>2,020 recorded passes</a:t>
            </a:r>
          </a:p>
        </p:txBody>
      </p:sp>
      <p:sp>
        <p:nvSpPr>
          <p:cNvPr id="10" name="TextBox 9"/>
          <p:cNvSpPr txBox="1"/>
          <p:nvPr/>
        </p:nvSpPr>
        <p:spPr>
          <a:xfrm>
            <a:off x="758952" y="2194560"/>
            <a:ext cx="10643616" cy="594360"/>
          </a:xfrm>
          <a:prstGeom prst="rect">
            <a:avLst/>
          </a:prstGeom>
          <a:noFill/>
        </p:spPr>
        <p:txBody>
          <a:bodyPr wrap="square" lIns="9144" rIns="9144" tIns="0" bIns="0">
            <a:spAutoFit/>
          </a:bodyPr>
          <a:lstStyle/>
          <a:p>
            <a:pPr>
              <a:spcAft>
                <a:spcPts val="800"/>
              </a:spcAft>
              <a:defRPr sz="1600" b="0">
                <a:solidFill>
                  <a:srgbClr val="566779"/>
                </a:solidFill>
                <a:latin typeface="Arial"/>
              </a:defRPr>
            </a:pPr>
            <a:r>
              <a:t>505 configuration/seed groups; all required sizes and repeats</a:t>
            </a:r>
          </a:p>
        </p:txBody>
      </p:sp>
      <p:sp>
        <p:nvSpPr>
          <p:cNvPr id="11" name="TextBox 10"/>
          <p:cNvSpPr txBox="1"/>
          <p:nvPr/>
        </p:nvSpPr>
        <p:spPr>
          <a:xfrm>
            <a:off x="731520" y="3246120"/>
            <a:ext cx="4937760" cy="365760"/>
          </a:xfrm>
          <a:prstGeom prst="rect">
            <a:avLst/>
          </a:prstGeom>
          <a:noFill/>
        </p:spPr>
        <p:txBody>
          <a:bodyPr wrap="square" lIns="9144" rIns="9144" tIns="0" bIns="0">
            <a:spAutoFit/>
          </a:bodyPr>
          <a:lstStyle/>
          <a:p>
            <a:pPr>
              <a:spcAft>
                <a:spcPts val="800"/>
              </a:spcAft>
              <a:defRPr sz="2400" b="1">
                <a:solidFill>
                  <a:srgbClr val="176B9B"/>
                </a:solidFill>
                <a:latin typeface="Arial"/>
              </a:defRPr>
            </a:pPr>
            <a:r>
              <a:t>Algorithm checks</a:t>
            </a:r>
          </a:p>
        </p:txBody>
      </p:sp>
      <p:sp>
        <p:nvSpPr>
          <p:cNvPr id="12" name="TextBox 11"/>
          <p:cNvSpPr txBox="1"/>
          <p:nvPr/>
        </p:nvSpPr>
        <p:spPr>
          <a:xfrm>
            <a:off x="731520" y="3794760"/>
            <a:ext cx="5166360" cy="2057400"/>
          </a:xfrm>
          <a:prstGeom prst="rect">
            <a:avLst/>
          </a:prstGeom>
          <a:noFill/>
        </p:spPr>
        <p:txBody>
          <a:bodyPr wrap="square" lIns="9144" rIns="9144" tIns="0" bIns="0">
            <a:spAutoFit/>
          </a:bodyPr>
          <a:lstStyle/>
          <a:p>
            <a:pPr>
              <a:spcAft>
                <a:spcPts val="800"/>
              </a:spcAft>
              <a:defRPr sz="2100" b="0">
                <a:solidFill>
                  <a:srgbClr val="12283E"/>
                </a:solidFill>
                <a:latin typeface="Arial"/>
              </a:defRPr>
            </a:pPr>
            <a:r>
              <a:t>Empty, singleton, odd lengths</a:t>
            </a:r>
          </a:p>
          <a:p>
            <a:pPr>
              <a:spcAft>
                <a:spcPts val="800"/>
              </a:spcAft>
              <a:defRPr sz="2100" b="0">
                <a:solidFill>
                  <a:srgbClr val="12283E"/>
                </a:solidFill>
                <a:latin typeface="Arial"/>
              </a:defRPr>
            </a:pPr>
            <a:r>
              <a:t>Sorted, reversed, equal, duplicate keys</a:t>
            </a:r>
          </a:p>
          <a:p>
            <a:pPr>
              <a:spcAft>
                <a:spcPts val="800"/>
              </a:spcAft>
              <a:defRPr sz="2100" b="0">
                <a:solidFill>
                  <a:srgbClr val="12283E"/>
                </a:solidFill>
                <a:latin typeface="Arial"/>
              </a:defRPr>
            </a:pPr>
            <a:r>
              <a:t>Random arrays and signed extremes</a:t>
            </a:r>
          </a:p>
          <a:p>
            <a:pPr>
              <a:spcAft>
                <a:spcPts val="800"/>
              </a:spcAft>
              <a:defRPr sz="2100" b="0">
                <a:solidFill>
                  <a:srgbClr val="12283E"/>
                </a:solidFill>
                <a:latin typeface="Arial"/>
              </a:defRPr>
            </a:pPr>
            <a:r>
              <a:t>S=1 exactly matches original counts</a:t>
            </a:r>
          </a:p>
        </p:txBody>
      </p:sp>
      <p:sp>
        <p:nvSpPr>
          <p:cNvPr id="13" name="TextBox 12"/>
          <p:cNvSpPr txBox="1"/>
          <p:nvPr/>
        </p:nvSpPr>
        <p:spPr>
          <a:xfrm>
            <a:off x="6400800" y="3246120"/>
            <a:ext cx="4846320" cy="365760"/>
          </a:xfrm>
          <a:prstGeom prst="rect">
            <a:avLst/>
          </a:prstGeom>
          <a:noFill/>
        </p:spPr>
        <p:txBody>
          <a:bodyPr wrap="square" lIns="9144" rIns="9144" tIns="0" bIns="0">
            <a:spAutoFit/>
          </a:bodyPr>
          <a:lstStyle/>
          <a:p>
            <a:pPr>
              <a:spcAft>
                <a:spcPts val="800"/>
              </a:spcAft>
              <a:defRPr sz="2400" b="1">
                <a:solidFill>
                  <a:srgbClr val="176B9B"/>
                </a:solidFill>
                <a:latin typeface="Arial"/>
              </a:defRPr>
            </a:pPr>
            <a:r>
              <a:t>Independent checks</a:t>
            </a:r>
          </a:p>
        </p:txBody>
      </p:sp>
      <p:sp>
        <p:nvSpPr>
          <p:cNvPr id="14" name="TextBox 13"/>
          <p:cNvSpPr txBox="1"/>
          <p:nvPr/>
        </p:nvSpPr>
        <p:spPr>
          <a:xfrm>
            <a:off x="6400800" y="3794760"/>
            <a:ext cx="5074920" cy="2057400"/>
          </a:xfrm>
          <a:prstGeom prst="rect">
            <a:avLst/>
          </a:prstGeom>
          <a:noFill/>
        </p:spPr>
        <p:txBody>
          <a:bodyPr wrap="square" lIns="9144" rIns="9144" tIns="0" bIns="0">
            <a:spAutoFit/>
          </a:bodyPr>
          <a:lstStyle/>
          <a:p>
            <a:pPr>
              <a:spcAft>
                <a:spcPts val="800"/>
              </a:spcAft>
              <a:defRPr sz="2100" b="0">
                <a:solidFill>
                  <a:srgbClr val="12283E"/>
                </a:solidFill>
                <a:latin typeface="Arial"/>
              </a:defRPr>
            </a:pPr>
            <a:r>
              <a:t>Exact std::sort reference equality</a:t>
            </a:r>
          </a:p>
          <a:p>
            <a:pPr>
              <a:spcAft>
                <a:spcPts val="800"/>
              </a:spcAft>
              <a:defRPr sz="2100" b="0">
                <a:solidFill>
                  <a:srgbClr val="12283E"/>
                </a:solidFill>
                <a:latin typeface="Arial"/>
              </a:defRPr>
            </a:pPr>
            <a:r>
              <a:t>Address + undefined-behavior sanitizers</a:t>
            </a:r>
          </a:p>
          <a:p>
            <a:pPr>
              <a:spcAft>
                <a:spcPts val="800"/>
              </a:spcAft>
              <a:defRPr sz="2100" b="0">
                <a:solidFill>
                  <a:srgbClr val="12283E"/>
                </a:solidFill>
                <a:latin typeface="Arial"/>
              </a:defRPr>
            </a:pPr>
            <a:r>
              <a:t>CSV coverage audit</a:t>
            </a:r>
          </a:p>
          <a:p>
            <a:pPr>
              <a:spcAft>
                <a:spcPts val="800"/>
              </a:spcAft>
              <a:defRPr sz="2100" b="0">
                <a:solidFill>
                  <a:srgbClr val="12283E"/>
                </a:solidFill>
                <a:latin typeface="Arial"/>
              </a:defRPr>
            </a:pPr>
            <a:r>
              <a:t>Threshold recomputed from saved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0972800" cy="274320"/>
          </a:xfrm>
          <a:prstGeom prst="rect">
            <a:avLst/>
          </a:prstGeom>
          <a:noFill/>
        </p:spPr>
        <p:txBody>
          <a:bodyPr wrap="square" lIns="9144" rIns="9144" tIns="0" bIns="0">
            <a:spAutoFit/>
          </a:bodyPr>
          <a:lstStyle/>
          <a:p>
            <a:pPr>
              <a:spcAft>
                <a:spcPts val="800"/>
              </a:spcAft>
              <a:defRPr sz="1100" b="1">
                <a:solidFill>
                  <a:srgbClr val="D96B27"/>
                </a:solidFill>
                <a:latin typeface="Arial"/>
              </a:defRPr>
            </a:pPr>
            <a:r>
              <a:t>BACKUP F / METHOD DETAILS</a:t>
            </a:r>
          </a:p>
        </p:txBody>
      </p:sp>
      <p:sp>
        <p:nvSpPr>
          <p:cNvPr id="3" name="TextBox 2"/>
          <p:cNvSpPr txBox="1"/>
          <p:nvPr/>
        </p:nvSpPr>
        <p:spPr>
          <a:xfrm>
            <a:off x="502920" y="685800"/>
            <a:ext cx="11201400" cy="777240"/>
          </a:xfrm>
          <a:prstGeom prst="rect">
            <a:avLst/>
          </a:prstGeom>
          <a:noFill/>
        </p:spPr>
        <p:txBody>
          <a:bodyPr wrap="square" lIns="9144" rIns="9144" tIns="0" bIns="0">
            <a:spAutoFit/>
          </a:bodyPr>
          <a:lstStyle/>
          <a:p>
            <a:pPr>
              <a:spcAft>
                <a:spcPts val="800"/>
              </a:spcAft>
              <a:defRPr sz="3000" b="1">
                <a:solidFill>
                  <a:srgbClr val="12283E"/>
                </a:solidFill>
                <a:latin typeface="Arial"/>
              </a:defRPr>
            </a:pPr>
            <a:r>
              <a:t>Reproducible measurements; explicit limitations</a:t>
            </a:r>
          </a:p>
        </p:txBody>
      </p:sp>
      <p:sp>
        <p:nvSpPr>
          <p:cNvPr id="4" name="Rectangle 3"/>
          <p:cNvSpPr/>
          <p:nvPr/>
        </p:nvSpPr>
        <p:spPr>
          <a:xfrm>
            <a:off x="502920" y="6473952"/>
            <a:ext cx="11155680" cy="10972"/>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65392"/>
            <a:ext cx="7315200" cy="182880"/>
          </a:xfrm>
          <a:prstGeom prst="rect">
            <a:avLst/>
          </a:prstGeom>
          <a:noFill/>
        </p:spPr>
        <p:txBody>
          <a:bodyPr wrap="square" lIns="9144" rIns="9144" tIns="0" bIns="0">
            <a:spAutoFit/>
          </a:bodyPr>
          <a:lstStyle/>
          <a:p>
            <a:pPr>
              <a:spcAft>
                <a:spcPts val="800"/>
              </a:spcAft>
              <a:defRPr sz="900" b="0">
                <a:solidFill>
                  <a:srgbClr val="566779"/>
                </a:solidFill>
                <a:latin typeface="Arial"/>
              </a:defRPr>
            </a:pPr>
            <a:r>
              <a:t>MERGE SORT + INSERTION SORT</a:t>
            </a:r>
          </a:p>
        </p:txBody>
      </p:sp>
      <p:sp>
        <p:nvSpPr>
          <p:cNvPr id="6" name="TextBox 5"/>
          <p:cNvSpPr txBox="1"/>
          <p:nvPr/>
        </p:nvSpPr>
        <p:spPr>
          <a:xfrm>
            <a:off x="11064240" y="6528816"/>
            <a:ext cx="548640" cy="228600"/>
          </a:xfrm>
          <a:prstGeom prst="rect">
            <a:avLst/>
          </a:prstGeom>
          <a:noFill/>
        </p:spPr>
        <p:txBody>
          <a:bodyPr wrap="square" lIns="9144" rIns="9144" tIns="0" bIns="0">
            <a:spAutoFit/>
          </a:bodyPr>
          <a:lstStyle/>
          <a:p>
            <a:pPr algn="r">
              <a:spcAft>
                <a:spcPts val="800"/>
              </a:spcAft>
              <a:defRPr sz="1100" b="0">
                <a:solidFill>
                  <a:srgbClr val="12283E"/>
                </a:solidFill>
                <a:latin typeface="Arial"/>
              </a:defRPr>
            </a:pPr>
            <a:r>
              <a:t>14</a:t>
            </a:r>
          </a:p>
        </p:txBody>
      </p:sp>
      <p:sp>
        <p:nvSpPr>
          <p:cNvPr id="7" name="TextBox 6"/>
          <p:cNvSpPr txBox="1"/>
          <p:nvPr/>
        </p:nvSpPr>
        <p:spPr>
          <a:xfrm>
            <a:off x="685800" y="1737360"/>
            <a:ext cx="5212080" cy="411480"/>
          </a:xfrm>
          <a:prstGeom prst="rect">
            <a:avLst/>
          </a:prstGeom>
          <a:noFill/>
        </p:spPr>
        <p:txBody>
          <a:bodyPr wrap="square" lIns="9144" rIns="9144" tIns="0" bIns="0">
            <a:spAutoFit/>
          </a:bodyPr>
          <a:lstStyle/>
          <a:p>
            <a:pPr>
              <a:spcAft>
                <a:spcPts val="800"/>
              </a:spcAft>
              <a:defRPr sz="2400" b="1">
                <a:solidFill>
                  <a:srgbClr val="176B9B"/>
                </a:solidFill>
                <a:latin typeface="Arial"/>
              </a:defRPr>
            </a:pPr>
            <a:r>
              <a:t>Data &amp; timing</a:t>
            </a:r>
          </a:p>
        </p:txBody>
      </p:sp>
      <p:sp>
        <p:nvSpPr>
          <p:cNvPr id="8" name="TextBox 7"/>
          <p:cNvSpPr txBox="1"/>
          <p:nvPr/>
        </p:nvSpPr>
        <p:spPr>
          <a:xfrm>
            <a:off x="685800" y="2331720"/>
            <a:ext cx="5486400" cy="2560320"/>
          </a:xfrm>
          <a:prstGeom prst="rect">
            <a:avLst/>
          </a:prstGeom>
          <a:noFill/>
        </p:spPr>
        <p:txBody>
          <a:bodyPr wrap="square" lIns="9144" rIns="9144" tIns="0" bIns="0">
            <a:spAutoFit/>
          </a:bodyPr>
          <a:lstStyle/>
          <a:p>
            <a:pPr>
              <a:spcAft>
                <a:spcPts val="800"/>
              </a:spcAft>
              <a:defRPr sz="1900" b="0">
                <a:solidFill>
                  <a:srgbClr val="12283E"/>
                </a:solidFill>
                <a:latin typeface="Arial"/>
              </a:defRPr>
            </a:pPr>
            <a:r>
              <a:t>mt19937 + unbiased rejection sampling</a:t>
            </a:r>
          </a:p>
          <a:p>
            <a:pPr>
              <a:spcAft>
                <a:spcPts val="800"/>
              </a:spcAft>
              <a:defRPr sz="1900" b="0">
                <a:solidFill>
                  <a:srgbClr val="12283E"/>
                </a:solidFill>
                <a:latin typeface="Arial"/>
              </a:defRPr>
            </a:pPr>
            <a:r>
              <a:t>Tuning: 101, 202, 303, 404, 505</a:t>
            </a:r>
          </a:p>
          <a:p>
            <a:pPr>
              <a:spcAft>
                <a:spcPts val="800"/>
              </a:spcAft>
              <a:defRPr sz="1900" b="0">
                <a:solidFill>
                  <a:srgbClr val="12283E"/>
                </a:solidFill>
                <a:latin typeface="Arial"/>
              </a:defRPr>
            </a:pPr>
            <a:r>
              <a:t>Validation: 1101, 1202, 1303, 1404, 1505</a:t>
            </a:r>
          </a:p>
          <a:p>
            <a:pPr>
              <a:spcAft>
                <a:spcPts val="800"/>
              </a:spcAft>
              <a:defRPr sz="1900" b="0">
                <a:solidFill>
                  <a:srgbClr val="12283E"/>
                </a:solidFill>
                <a:latin typeface="Arial"/>
              </a:defRPr>
            </a:pPr>
            <a:r>
              <a:t>Three timed repetitions per seed</a:t>
            </a:r>
          </a:p>
          <a:p>
            <a:pPr>
              <a:spcAft>
                <a:spcPts val="800"/>
              </a:spcAft>
              <a:defRPr sz="1900" b="0">
                <a:solidFill>
                  <a:srgbClr val="12283E"/>
                </a:solidFill>
                <a:latin typeface="Arial"/>
              </a:defRPr>
            </a:pPr>
            <a:r>
              <a:t>CPU: std::clock; elapsed: steady_clock</a:t>
            </a:r>
          </a:p>
        </p:txBody>
      </p:sp>
      <p:sp>
        <p:nvSpPr>
          <p:cNvPr id="9" name="TextBox 8"/>
          <p:cNvSpPr txBox="1"/>
          <p:nvPr/>
        </p:nvSpPr>
        <p:spPr>
          <a:xfrm>
            <a:off x="6446520" y="1737360"/>
            <a:ext cx="5029200" cy="411480"/>
          </a:xfrm>
          <a:prstGeom prst="rect">
            <a:avLst/>
          </a:prstGeom>
          <a:noFill/>
        </p:spPr>
        <p:txBody>
          <a:bodyPr wrap="square" lIns="9144" rIns="9144" tIns="0" bIns="0">
            <a:spAutoFit/>
          </a:bodyPr>
          <a:lstStyle/>
          <a:p>
            <a:pPr>
              <a:spcAft>
                <a:spcPts val="800"/>
              </a:spcAft>
              <a:defRPr sz="2400" b="1">
                <a:solidFill>
                  <a:srgbClr val="D96B27"/>
                </a:solidFill>
                <a:latin typeface="Arial"/>
              </a:defRPr>
            </a:pPr>
            <a:r>
              <a:t>Interpretation limits</a:t>
            </a:r>
          </a:p>
        </p:txBody>
      </p:sp>
      <p:sp>
        <p:nvSpPr>
          <p:cNvPr id="10" name="TextBox 9"/>
          <p:cNvSpPr txBox="1"/>
          <p:nvPr/>
        </p:nvSpPr>
        <p:spPr>
          <a:xfrm>
            <a:off x="6446520" y="2331720"/>
            <a:ext cx="5120640" cy="3017520"/>
          </a:xfrm>
          <a:prstGeom prst="rect">
            <a:avLst/>
          </a:prstGeom>
          <a:noFill/>
        </p:spPr>
        <p:txBody>
          <a:bodyPr wrap="square" lIns="9144" rIns="9144" tIns="0" bIns="0">
            <a:spAutoFit/>
          </a:bodyPr>
          <a:lstStyle/>
          <a:p>
            <a:pPr>
              <a:spcAft>
                <a:spcPts val="800"/>
              </a:spcAft>
              <a:defRPr sz="1900" b="0">
                <a:solidFill>
                  <a:srgbClr val="12283E"/>
                </a:solidFill>
                <a:latin typeface="Arial"/>
              </a:defRPr>
            </a:pPr>
            <a:r>
              <a:t>Five seeds; IQR is not a confidence interval</a:t>
            </a:r>
          </a:p>
          <a:p>
            <a:pPr>
              <a:spcAft>
                <a:spcPts val="800"/>
              </a:spcAft>
              <a:defRPr sz="1900" b="0">
                <a:solidFill>
                  <a:srgbClr val="12283E"/>
                </a:solidFill>
                <a:latin typeface="Arial"/>
              </a:defRPr>
            </a:pPr>
            <a:r>
              <a:t>Coarse and fine phases occur at different times</a:t>
            </a:r>
          </a:p>
          <a:p>
            <a:pPr>
              <a:spcAft>
                <a:spcPts val="800"/>
              </a:spcAft>
              <a:defRPr sz="1900" b="0">
                <a:solidFill>
                  <a:srgbClr val="12283E"/>
                </a:solidFill>
                <a:latin typeface="Arial"/>
              </a:defRPr>
            </a:pPr>
            <a:r>
              <a:t>Small inputs are timer-resolution sensitive</a:t>
            </a:r>
          </a:p>
          <a:p>
            <a:pPr>
              <a:spcAft>
                <a:spcPts val="800"/>
              </a:spcAft>
              <a:defRPr sz="1900" b="0">
                <a:solidFill>
                  <a:srgbClr val="12283E"/>
                </a:solidFill>
                <a:latin typeface="Arial"/>
              </a:defRPr>
            </a:pPr>
            <a:r>
              <a:t>One machine and uniform input distribution</a:t>
            </a:r>
          </a:p>
          <a:p>
            <a:pPr>
              <a:spcAft>
                <a:spcPts val="800"/>
              </a:spcAft>
              <a:defRPr sz="1900" b="0">
                <a:solidFill>
                  <a:srgbClr val="12283E"/>
                </a:solidFill>
                <a:latin typeface="Arial"/>
              </a:defRPr>
            </a:pPr>
            <a:r>
              <a:t>No alternative-distribution benchmarks claimed</a:t>
            </a:r>
          </a:p>
        </p:txBody>
      </p:sp>
      <p:sp>
        <p:nvSpPr>
          <p:cNvPr id="11" name="TextBox 10"/>
          <p:cNvSpPr txBox="1"/>
          <p:nvPr/>
        </p:nvSpPr>
        <p:spPr>
          <a:xfrm>
            <a:off x="685800" y="5623560"/>
            <a:ext cx="10972800" cy="548640"/>
          </a:xfrm>
          <a:prstGeom prst="rect">
            <a:avLst/>
          </a:prstGeom>
          <a:noFill/>
        </p:spPr>
        <p:txBody>
          <a:bodyPr wrap="square" lIns="9144" rIns="9144" tIns="0" bIns="0">
            <a:spAutoFit/>
          </a:bodyPr>
          <a:lstStyle/>
          <a:p>
            <a:pPr>
              <a:spcAft>
                <a:spcPts val="800"/>
              </a:spcAft>
              <a:defRPr sz="1800" b="0">
                <a:solidFill>
                  <a:srgbClr val="566779"/>
                </a:solidFill>
                <a:latin typeface="Arial"/>
              </a:defRPr>
            </a:pPr>
            <a:r>
              <a:t>Regenerate: make test → scripts/run_experiments.py → scripts/plot_results.py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28600"/>
            <a:ext cx="10972800" cy="274320"/>
          </a:xfrm>
          <a:prstGeom prst="rect">
            <a:avLst/>
          </a:prstGeom>
          <a:noFill/>
        </p:spPr>
        <p:txBody>
          <a:bodyPr wrap="square" lIns="9144" rIns="9144" tIns="0" bIns="0">
            <a:spAutoFit/>
          </a:bodyPr>
          <a:lstStyle/>
          <a:p>
            <a:pPr>
              <a:spcAft>
                <a:spcPts val="800"/>
              </a:spcAft>
              <a:defRPr sz="1100" b="1">
                <a:solidFill>
                  <a:srgbClr val="D96B27"/>
                </a:solidFill>
                <a:latin typeface="Arial"/>
              </a:defRPr>
            </a:pPr>
            <a:r>
              <a:t>BACKUP G / Q&amp;A</a:t>
            </a:r>
          </a:p>
        </p:txBody>
      </p:sp>
      <p:sp>
        <p:nvSpPr>
          <p:cNvPr id="3" name="TextBox 2"/>
          <p:cNvSpPr txBox="1"/>
          <p:nvPr/>
        </p:nvSpPr>
        <p:spPr>
          <a:xfrm>
            <a:off x="502920" y="685800"/>
            <a:ext cx="11201400" cy="777240"/>
          </a:xfrm>
          <a:prstGeom prst="rect">
            <a:avLst/>
          </a:prstGeom>
          <a:noFill/>
        </p:spPr>
        <p:txBody>
          <a:bodyPr wrap="square" lIns="9144" rIns="9144" tIns="0" bIns="0">
            <a:spAutoFit/>
          </a:bodyPr>
          <a:lstStyle/>
          <a:p>
            <a:pPr>
              <a:spcAft>
                <a:spcPts val="800"/>
              </a:spcAft>
              <a:defRPr sz="3000" b="1">
                <a:solidFill>
                  <a:srgbClr val="12283E"/>
                </a:solidFill>
                <a:latin typeface="Arial"/>
              </a:defRPr>
            </a:pPr>
            <a:r>
              <a:t>Questions we should all be able to answer</a:t>
            </a:r>
          </a:p>
        </p:txBody>
      </p:sp>
      <p:sp>
        <p:nvSpPr>
          <p:cNvPr id="4" name="Rectangle 3"/>
          <p:cNvSpPr/>
          <p:nvPr/>
        </p:nvSpPr>
        <p:spPr>
          <a:xfrm>
            <a:off x="502920" y="6473952"/>
            <a:ext cx="11155680" cy="10972"/>
          </a:xfrm>
          <a:prstGeom prst="rect">
            <a:avLst/>
          </a:prstGeom>
          <a:solidFill>
            <a:srgbClr val="DDE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565392"/>
            <a:ext cx="7315200" cy="182880"/>
          </a:xfrm>
          <a:prstGeom prst="rect">
            <a:avLst/>
          </a:prstGeom>
          <a:noFill/>
        </p:spPr>
        <p:txBody>
          <a:bodyPr wrap="square" lIns="9144" rIns="9144" tIns="0" bIns="0">
            <a:spAutoFit/>
          </a:bodyPr>
          <a:lstStyle/>
          <a:p>
            <a:pPr>
              <a:spcAft>
                <a:spcPts val="800"/>
              </a:spcAft>
              <a:defRPr sz="900" b="0">
                <a:solidFill>
                  <a:srgbClr val="566779"/>
                </a:solidFill>
                <a:latin typeface="Arial"/>
              </a:defRPr>
            </a:pPr>
            <a:r>
              <a:t>MERGE SORT + INSERTION SORT</a:t>
            </a:r>
          </a:p>
        </p:txBody>
      </p:sp>
      <p:sp>
        <p:nvSpPr>
          <p:cNvPr id="6" name="TextBox 5"/>
          <p:cNvSpPr txBox="1"/>
          <p:nvPr/>
        </p:nvSpPr>
        <p:spPr>
          <a:xfrm>
            <a:off x="11064240" y="6528816"/>
            <a:ext cx="548640" cy="228600"/>
          </a:xfrm>
          <a:prstGeom prst="rect">
            <a:avLst/>
          </a:prstGeom>
          <a:noFill/>
        </p:spPr>
        <p:txBody>
          <a:bodyPr wrap="square" lIns="9144" rIns="9144" tIns="0" bIns="0">
            <a:spAutoFit/>
          </a:bodyPr>
          <a:lstStyle/>
          <a:p>
            <a:pPr algn="r">
              <a:spcAft>
                <a:spcPts val="800"/>
              </a:spcAft>
              <a:defRPr sz="1100" b="0">
                <a:solidFill>
                  <a:srgbClr val="12283E"/>
                </a:solidFill>
                <a:latin typeface="Arial"/>
              </a:defRPr>
            </a:pPr>
            <a:r>
              <a:t>15</a:t>
            </a:r>
          </a:p>
        </p:txBody>
      </p:sp>
      <p:sp>
        <p:nvSpPr>
          <p:cNvPr id="7" name="TextBox 6"/>
          <p:cNvSpPr txBox="1"/>
          <p:nvPr/>
        </p:nvSpPr>
        <p:spPr>
          <a:xfrm>
            <a:off x="685800" y="1600200"/>
            <a:ext cx="10881360" cy="320040"/>
          </a:xfrm>
          <a:prstGeom prst="rect">
            <a:avLst/>
          </a:prstGeom>
          <a:noFill/>
        </p:spPr>
        <p:txBody>
          <a:bodyPr wrap="square" lIns="9144" rIns="9144" tIns="0" bIns="0">
            <a:spAutoFit/>
          </a:bodyPr>
          <a:lstStyle/>
          <a:p>
            <a:pPr>
              <a:spcAft>
                <a:spcPts val="800"/>
              </a:spcAft>
              <a:defRPr sz="2100" b="1">
                <a:solidFill>
                  <a:srgbClr val="176B9B"/>
                </a:solidFill>
                <a:latin typeface="Arial"/>
              </a:defRPr>
            </a:pPr>
            <a:r>
              <a:t>Why can insertion sort help?</a:t>
            </a:r>
          </a:p>
        </p:txBody>
      </p:sp>
      <p:sp>
        <p:nvSpPr>
          <p:cNvPr id="8" name="TextBox 7"/>
          <p:cNvSpPr txBox="1"/>
          <p:nvPr/>
        </p:nvSpPr>
        <p:spPr>
          <a:xfrm>
            <a:off x="685800" y="1965960"/>
            <a:ext cx="10881360" cy="365760"/>
          </a:xfrm>
          <a:prstGeom prst="rect">
            <a:avLst/>
          </a:prstGeom>
          <a:noFill/>
        </p:spPr>
        <p:txBody>
          <a:bodyPr wrap="square" lIns="9144" rIns="9144" tIns="0" bIns="0">
            <a:spAutoFit/>
          </a:bodyPr>
          <a:lstStyle/>
          <a:p>
            <a:pPr>
              <a:spcAft>
                <a:spcPts val="800"/>
              </a:spcAft>
              <a:defRPr sz="1800" b="0">
                <a:solidFill>
                  <a:srgbClr val="566779"/>
                </a:solidFill>
                <a:latin typeface="Arial"/>
              </a:defRPr>
            </a:pPr>
            <a:r>
              <a:t>Quadratic work stays in small leaves; recursion and copying costs fall.</a:t>
            </a:r>
          </a:p>
        </p:txBody>
      </p:sp>
      <p:sp>
        <p:nvSpPr>
          <p:cNvPr id="9" name="TextBox 8"/>
          <p:cNvSpPr txBox="1"/>
          <p:nvPr/>
        </p:nvSpPr>
        <p:spPr>
          <a:xfrm>
            <a:off x="685800" y="2505456"/>
            <a:ext cx="10881360" cy="320040"/>
          </a:xfrm>
          <a:prstGeom prst="rect">
            <a:avLst/>
          </a:prstGeom>
          <a:noFill/>
        </p:spPr>
        <p:txBody>
          <a:bodyPr wrap="square" lIns="9144" rIns="9144" tIns="0" bIns="0">
            <a:spAutoFit/>
          </a:bodyPr>
          <a:lstStyle/>
          <a:p>
            <a:pPr>
              <a:spcAft>
                <a:spcPts val="800"/>
              </a:spcAft>
              <a:defRPr sz="2100" b="1">
                <a:solidFill>
                  <a:srgbClr val="176B9B"/>
                </a:solidFill>
                <a:latin typeface="Arial"/>
              </a:defRPr>
            </a:pPr>
            <a:r>
              <a:t>Why do thresholds form plateaus?</a:t>
            </a:r>
          </a:p>
        </p:txBody>
      </p:sp>
      <p:sp>
        <p:nvSpPr>
          <p:cNvPr id="10" name="TextBox 9"/>
          <p:cNvSpPr txBox="1"/>
          <p:nvPr/>
        </p:nvSpPr>
        <p:spPr>
          <a:xfrm>
            <a:off x="685800" y="2871216"/>
            <a:ext cx="10881360" cy="365760"/>
          </a:xfrm>
          <a:prstGeom prst="rect">
            <a:avLst/>
          </a:prstGeom>
          <a:noFill/>
        </p:spPr>
        <p:txBody>
          <a:bodyPr wrap="square" lIns="9144" rIns="9144" tIns="0" bIns="0">
            <a:spAutoFit/>
          </a:bodyPr>
          <a:lstStyle/>
          <a:p>
            <a:pPr>
              <a:spcAft>
                <a:spcPts val="800"/>
              </a:spcAft>
              <a:defRPr sz="1800" b="0">
                <a:solidFill>
                  <a:srgbClr val="566779"/>
                </a:solidFill>
                <a:latin typeface="Arial"/>
              </a:defRPr>
            </a:pPr>
            <a:r>
              <a:t>Several S values stop at the same recursive subarray sizes.</a:t>
            </a:r>
          </a:p>
        </p:txBody>
      </p:sp>
      <p:sp>
        <p:nvSpPr>
          <p:cNvPr id="11" name="TextBox 10"/>
          <p:cNvSpPr txBox="1"/>
          <p:nvPr/>
        </p:nvSpPr>
        <p:spPr>
          <a:xfrm>
            <a:off x="685800" y="3410712"/>
            <a:ext cx="10881360" cy="320040"/>
          </a:xfrm>
          <a:prstGeom prst="rect">
            <a:avLst/>
          </a:prstGeom>
          <a:noFill/>
        </p:spPr>
        <p:txBody>
          <a:bodyPr wrap="square" lIns="9144" rIns="9144" tIns="0" bIns="0">
            <a:spAutoFit/>
          </a:bodyPr>
          <a:lstStyle/>
          <a:p>
            <a:pPr>
              <a:spcAft>
                <a:spcPts val="800"/>
              </a:spcAft>
              <a:defRPr sz="2100" b="1">
                <a:solidFill>
                  <a:srgbClr val="176B9B"/>
                </a:solidFill>
                <a:latin typeface="Arial"/>
              </a:defRPr>
            </a:pPr>
            <a:r>
              <a:t>Why not minimize comparisons?</a:t>
            </a:r>
          </a:p>
        </p:txBody>
      </p:sp>
      <p:sp>
        <p:nvSpPr>
          <p:cNvPr id="12" name="TextBox 11"/>
          <p:cNvSpPr txBox="1"/>
          <p:nvPr/>
        </p:nvSpPr>
        <p:spPr>
          <a:xfrm>
            <a:off x="685800" y="3776472"/>
            <a:ext cx="10881360" cy="365760"/>
          </a:xfrm>
          <a:prstGeom prst="rect">
            <a:avLst/>
          </a:prstGeom>
          <a:noFill/>
        </p:spPr>
        <p:txBody>
          <a:bodyPr wrap="square" lIns="9144" rIns="9144" tIns="0" bIns="0">
            <a:spAutoFit/>
          </a:bodyPr>
          <a:lstStyle/>
          <a:p>
            <a:pPr>
              <a:spcAft>
                <a:spcPts val="800"/>
              </a:spcAft>
              <a:defRPr sz="1800" b="0">
                <a:solidFill>
                  <a:srgbClr val="566779"/>
                </a:solidFill>
                <a:latin typeface="Arial"/>
              </a:defRPr>
            </a:pPr>
            <a:r>
              <a:t>CPU time also includes movement and control overhead.</a:t>
            </a:r>
          </a:p>
        </p:txBody>
      </p:sp>
      <p:sp>
        <p:nvSpPr>
          <p:cNvPr id="13" name="TextBox 12"/>
          <p:cNvSpPr txBox="1"/>
          <p:nvPr/>
        </p:nvSpPr>
        <p:spPr>
          <a:xfrm>
            <a:off x="685800" y="4315968"/>
            <a:ext cx="10881360" cy="320040"/>
          </a:xfrm>
          <a:prstGeom prst="rect">
            <a:avLst/>
          </a:prstGeom>
          <a:noFill/>
        </p:spPr>
        <p:txBody>
          <a:bodyPr wrap="square" lIns="9144" rIns="9144" tIns="0" bIns="0">
            <a:spAutoFit/>
          </a:bodyPr>
          <a:lstStyle/>
          <a:p>
            <a:pPr>
              <a:spcAft>
                <a:spcPts val="800"/>
              </a:spcAft>
              <a:defRPr sz="2100" b="1">
                <a:solidFill>
                  <a:srgbClr val="176B9B"/>
                </a:solidFill>
                <a:latin typeface="Arial"/>
              </a:defRPr>
            </a:pPr>
            <a:r>
              <a:t>Is S=64 universally optimal?</a:t>
            </a:r>
          </a:p>
        </p:txBody>
      </p:sp>
      <p:sp>
        <p:nvSpPr>
          <p:cNvPr id="14" name="TextBox 13"/>
          <p:cNvSpPr txBox="1"/>
          <p:nvPr/>
        </p:nvSpPr>
        <p:spPr>
          <a:xfrm>
            <a:off x="685800" y="4681728"/>
            <a:ext cx="10881360" cy="365760"/>
          </a:xfrm>
          <a:prstGeom prst="rect">
            <a:avLst/>
          </a:prstGeom>
          <a:noFill/>
        </p:spPr>
        <p:txBody>
          <a:bodyPr wrap="square" lIns="9144" rIns="9144" tIns="0" bIns="0">
            <a:spAutoFit/>
          </a:bodyPr>
          <a:lstStyle/>
          <a:p>
            <a:pPr>
              <a:spcAft>
                <a:spcPts val="800"/>
              </a:spcAft>
              <a:defRPr sz="1800" b="0">
                <a:solidFill>
                  <a:srgbClr val="566779"/>
                </a:solidFill>
                <a:latin typeface="Arial"/>
              </a:defRPr>
            </a:pPr>
            <a:r>
              <a:t>No. It is the best observed candidate under this implementation and run.</a:t>
            </a:r>
          </a:p>
        </p:txBody>
      </p:sp>
      <p:sp>
        <p:nvSpPr>
          <p:cNvPr id="15" name="TextBox 14"/>
          <p:cNvSpPr txBox="1"/>
          <p:nvPr/>
        </p:nvSpPr>
        <p:spPr>
          <a:xfrm>
            <a:off x="685800" y="5221224"/>
            <a:ext cx="10881360" cy="320040"/>
          </a:xfrm>
          <a:prstGeom prst="rect">
            <a:avLst/>
          </a:prstGeom>
          <a:noFill/>
        </p:spPr>
        <p:txBody>
          <a:bodyPr wrap="square" lIns="9144" rIns="9144" tIns="0" bIns="0">
            <a:spAutoFit/>
          </a:bodyPr>
          <a:lstStyle/>
          <a:p>
            <a:pPr>
              <a:spcAft>
                <a:spcPts val="800"/>
              </a:spcAft>
              <a:defRPr sz="2100" b="1">
                <a:solidFill>
                  <a:srgbClr val="176B9B"/>
                </a:solidFill>
                <a:latin typeface="Arial"/>
              </a:defRPr>
            </a:pPr>
            <a:r>
              <a:t>Does the graph prove the complexity?</a:t>
            </a:r>
          </a:p>
        </p:txBody>
      </p:sp>
      <p:sp>
        <p:nvSpPr>
          <p:cNvPr id="16" name="TextBox 15"/>
          <p:cNvSpPr txBox="1"/>
          <p:nvPr/>
        </p:nvSpPr>
        <p:spPr>
          <a:xfrm>
            <a:off x="685800" y="5586984"/>
            <a:ext cx="10881360" cy="365760"/>
          </a:xfrm>
          <a:prstGeom prst="rect">
            <a:avLst/>
          </a:prstGeom>
          <a:noFill/>
        </p:spPr>
        <p:txBody>
          <a:bodyPr wrap="square" lIns="9144" rIns="9144" tIns="0" bIns="0">
            <a:spAutoFit/>
          </a:bodyPr>
          <a:lstStyle/>
          <a:p>
            <a:pPr>
              <a:spcAft>
                <a:spcPts val="800"/>
              </a:spcAft>
              <a:defRPr sz="1800" b="0">
                <a:solidFill>
                  <a:srgbClr val="566779"/>
                </a:solidFill>
                <a:latin typeface="Arial"/>
              </a:defRPr>
            </a:pPr>
            <a:r>
              <a:t>No. The derivation establishes the bound; measurements test consistency.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SC2001 Project 1 — Hybrid Merge Sort</dc:title>
  <dc:subject>Algorithm correctness, complexity, threshold tuning, and held-out performance</dc:subject>
  <dc:creator>SC2001 Lab Team</dc:creator>
  <cp:keywords>SC2001, merge sort, insertion sort, hybrid, experiments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