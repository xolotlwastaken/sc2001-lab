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80" r:id="rId32"/>
    <p:sldId id="259" r:id="rId11"/>
    <p:sldId id="281" r:id="rId33"/>
    <p:sldId id="260" r:id="rId12"/>
    <p:sldId id="261" r:id="rId13"/>
    <p:sldId id="262" r:id="rId14"/>
    <p:sldId id="282" r:id="rId34"/>
    <p:sldId id="283" r:id="rId35"/>
    <p:sldId id="263" r:id="rId15"/>
    <p:sldId id="264" r:id="rId16"/>
    <p:sldId id="265" r:id="rId17"/>
    <p:sldId id="266" r:id="rId18"/>
    <p:sldId id="267" r:id="rId19"/>
    <p:sldId id="284" r:id="rId36"/>
    <p:sldId id="285" r:id="rId37"/>
    <p:sldId id="286" r:id="rId38"/>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the algorithm remains Dijkstra, while the graph representation and priority queue change. This deck uses the same authors shown in the supplied Lab 1 deck. All measured results are operation counts, not elapsed-time speedups.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brief prescribes matrix plus array in part A and adjacency list plus minimizing heap in part B. Neither representation is required for Dijkstra correctness. The goal is to compare their costs, not to claim one always wins.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edge list is the canonical input. Both conversions preserve the same directed weighted edges. None means absent, so zero remains a valid edge weight. Both outer containers are Python lists: indexing vertex u takes constant time. A list of lists does not require searching for 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Initialize parents to None and all distances to infinity, except the source at zero. Insert every vertex initially. The queue is drained completely, including unreachable vertices. With nonnegative edges, relaxation cannot improve a finalized vertex. Heap priorities must be repaired whenever a tentative distance decreases.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core-operation score counts constant-time algorithmic events. We include work inside the queues, not just relaxation calls. The score groups some constant-size actions, such as a distance/parent update, into one event. Different events have different real costs. Do not call the ratios runtime speedups. Graph generation, conversion and validation are excluded.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seeds: 11, 29 and 47. Directed simple graphs, no self-loops, weights 1 to 100. A shuffled chain from source zero guarantees reachability. Other edges are sampled without replacement. This is a controlled family, not a uniform sample of all graphs. The V sweeps contain 30 graphs; fixed-V E sweep adds 27. Error bars are one standard deviation across seeds. Separate tests cover zero weights and unreachable vertices.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array queue is unsorted. Find the minimum by comparing each remaining candidate. Remove by replacing it with the last queue entry and popping the last item, which avoids a linear shift. Priorities live in dist, so updates cost constant time. Next scan all V columns of row u, even if most entries are absent.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Minimum selection makes V(V−1)/2 comparisons because the remaining queue sizes are V down to 1. Matrix traversal performs V² probes. Relaxation checks cost E and successful updates R≤E. Initialization is linear. Since E≤V(V−1), the result is Θ(V²). This bound also applies to disconnected inputs because every vertex is processed.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dashed V² reference is scaled to the first measured point. Array comparisons and matrix probes match their exact formulas on every run. Error bars represent one standard deviation over three seeds. The fitted slope, computed numerically in log space but not plotted on log axes, is 1.937.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Dense means E=floor(V(V−1)/2), roughly half of all possible directed edges. The measured finite-range fitted slope is 1.974. This is consistent with the exact quadratic scan counts, not an empirical proof of asymptotics.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exact score is 3V + V(V−1)/2 + V² + E + R. Holding V fixed leaves only E and successful updates R variable. Do not say that A is literally unaffected by E: only its simplified asymptotic bound suppresses that dependence.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heap contains one entry per unprocessed vertex, not duplicate lazy entries. position[v] finds its heap index in O(1). Bottom-up heap construction is O(V). Extract-min removes the root, replaces it with the last entry and sifts down. A decreased priority is restored with sift-up. Both dist arrays are shared with their queues.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detailed bound is O(V+E+(V+R)log V), where R≤E. This yields O((V+E)log V). For reachable graphs E≥V−1, the slides simplify it to O(E log V). With sparse graphs E=Θ(V), the bound is O(V log V). With dense graphs the worst-case upper bound is O(V² log V), but actual updates may be far fewer than 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dashed line is the scaled upper-bound growth (V+E) log₂ V, normalized to the first measured point. It is a reference shape, not a guaranteed numerical upper bound. A power-law fit of 1.150 over this finite range is compatible with V log V growth.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B has a fitted finite-range slope of 1.814 here. This is not a claim of subquadratic asymptotic complexity on dense graphs: visiting E=Θ(V²) edges already gives a quadratic lower bound. The finite input range and overhead explain finite-range exponents. The reference curve is not a prediction of an exact count.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exact score is 3V + 2E + 2R + heap comparisons + heap swaps. V is fixed, but R and the distance moved by keys depend on structure and weights. Increasing density does not imply every new edge successfully updates a distance.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Values are rounded means across three seeds. Blue is A and orange is B. Solid curves are measured, dashed curves are theoretical growth references: V²+E and (V+E)log₂V. Each is normalized to its own first measured point. Both graph representation and queue contribute to B’s advantage.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Retain this result rather than claiming density automatically makes A faster. Dense random graphs can have far fewer successful updates than edges. The theoretical lines compare growth after independent first-point scaling; their crossing is not a universal crossover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V=192, A always performs V² matrix checks and V(V−1)/2 queue comparisons. B initially visits few edges, then more as E grows. Therefore B’s advantage shrinks on these datasets. Both algorithms also perform E relaxations. The dashed curve is a ratio of independently scaled theoretical references, not a proven bound on the measured ratio. All axes are linear.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separate constructed workload, not part of the random trials. It is a complete directed graph at V=384 and E=147072. Chain edges u→u+1 have weight 1; other forward edges have weight 2V−2u+v; backward edges have weight 2V. Then dist[u]=u and every forward edge improves its target, so R=E/2=73536. Both implementations are checked against Bellman–Ford. A has about 15.3% lower score than B. The example does not prove every decrease-key costs Θ(log 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addresses a common misconception. A list can be paired with an array queue and retain Θ(V²+E) time, while visiting only existing edges. Thus the matrix itself is not the source of A’s better dense-graph worst-case guarantee. A matrix offers O(1) lookup of a particular edge; a list of lists needs a neighbor search. Dijkstra usually needs neighbor iteration instead. Representation and queue are changed together in the assignment, so the experiment cannot isolate each choice causally.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three messages. First, B is the natural sparse-graph choice: both traversal and selection avoid quadratic work. Second, A has a stronger dense-graph worst-case bound, but measured results depend on updates and constants. Third, operation counts explain growth but not elapsed runtime. The assignment fixes the combinations; do not silently replace its matrix with a list. Invite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 initializations, queue entries, extractions, array comparisons, matrix probes, list visits, relaxation checks, distance/parent updates, heap comparisons, heap swaps and decrease-key calls. Each is one declared event; these are not equally costly CPU instructions. Hc and Hs include heap construction. Assertions verify both exact score identities on every experiment.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notebook has six hand-crafted correctness cases, 40 random correctness graphs, 57 experimental graphs and six invalid input cases. Four additional high-update dense graphs are checked as well. References: Project 2.pdf parts a–c; 06_ShortestPath.pdf printed slides 9–10 for relaxation and initialization, 13 for Bellman–Ford, 15–18 for Dijkstra. The slide deck is based on the saved notebook outputs. The original Lab 1 deck supplies only design and author information, not results.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rendered directly from the actual notebook source. Project_2_Dijkstra.ipynb • cell 4, lines 26–30; cell 4, lines 33–37. Original indentation, comments and counter increments are preserved. Matrix allocates V² cells; the list allocates V lists and appends E edges.</a:t>
            </a:r>
          </a:p>
          <a:p/>
          <a:p>
            <a:r>
              <a:t>Exact excerpt:</a:t>
            </a:r>
          </a:p>
          <a:p>
            <a:r>
              <a:t>def to_adjacency_matrix(graph):</a:t>
            </a:r>
          </a:p>
          <a:p>
            <a:r>
              <a:t>    matrix = [[None] * graph.n for _ in range(graph.n)]</a:t>
            </a:r>
          </a:p>
          <a:p>
            <a:r>
              <a:t>    for u, v, weight in graph.edges:</a:t>
            </a:r>
          </a:p>
          <a:p>
            <a:r>
              <a:t>        matrix[u][v] = weight</a:t>
            </a:r>
          </a:p>
          <a:p>
            <a:r>
              <a:t>    return matrix</a:t>
            </a:r>
          </a:p>
          <a:p/>
          <a:p>
            <a:r>
              <a:t>def to_adjacency_list(graph):</a:t>
            </a:r>
          </a:p>
          <a:p>
            <a:r>
              <a:t>    adjacency = [[] for _ in range(graph.n)]</a:t>
            </a:r>
          </a:p>
          <a:p>
            <a:r>
              <a:t>    for u, v, weight in graph.edges:</a:t>
            </a:r>
          </a:p>
          <a:p>
            <a:r>
              <a:t>        adjacency[u].append((v, weight))</a:t>
            </a:r>
          </a:p>
          <a:p>
            <a:r>
              <a:t>    return adjacency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rendered directly from the actual notebook source. Project_2_Dijkstra.ipynb • cell 6, lines 29–37. Original indentation, comments and counter increments are preserved. A successful relaxation updates both the distance and its parent.</a:t>
            </a:r>
          </a:p>
          <a:p/>
          <a:p>
            <a:r>
              <a:t>Exact excerpt:</a:t>
            </a:r>
          </a:p>
          <a:p>
            <a:r>
              <a:t>def relax(u, v, weight, dist, parent, counts):</a:t>
            </a:r>
          </a:p>
          <a:p>
            <a:r>
              <a:t>    # Slide 9: if dist[v] &gt; dist[u] + weight, update parent and distance.</a:t>
            </a:r>
          </a:p>
          <a:p>
            <a:r>
              <a:t>    counts.relax_checks += 1</a:t>
            </a:r>
          </a:p>
          <a:p>
            <a:r>
              <a:t>    candidate = dist[u] + weight</a:t>
            </a:r>
          </a:p>
          <a:p>
            <a:r>
              <a:t>    if dist[v] &gt; candidate:</a:t>
            </a:r>
          </a:p>
          <a:p>
            <a:r>
              <a:t>        parent[v], dist[v] = u, candidate</a:t>
            </a:r>
          </a:p>
          <a:p>
            <a:r>
              <a:t>        counts.distance_updates += 1</a:t>
            </a:r>
          </a:p>
          <a:p>
            <a:r>
              <a:t>        return True</a:t>
            </a:r>
          </a:p>
          <a:p>
            <a:r>
              <a:t>    return False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rendered directly from the actual notebook source. Project_2_Dijkstra.ipynb • cell 10, lines 1–13. Original indentation, comments and counter increments are preserved. The unsorted queue scans its remaining vertices to find the minimum.</a:t>
            </a:r>
          </a:p>
          <a:p/>
          <a:p>
            <a:r>
              <a:t>Exact excerpt:</a:t>
            </a:r>
          </a:p>
          <a:p>
            <a:r>
              <a:t>def dijkstra_matrix(matrix, source):</a:t>
            </a:r>
          </a:p>
          <a:p>
            <a:r>
              <a:t>    # Input is a square matrix produced by to_adjacency_matrix(Graph(...)).</a:t>
            </a:r>
          </a:p>
          <a:p>
            <a:r>
              <a:t>    n = len(matrix)</a:t>
            </a:r>
          </a:p>
          <a:p>
            <a:r>
              <a:t>    counts = Counts()</a:t>
            </a:r>
          </a:p>
          <a:p>
            <a:r>
              <a:t>    dist, parent = initialize(n, source, counts)  # Slide 16, line 1</a:t>
            </a:r>
          </a:p>
          <a:p>
            <a:r>
              <a:t>    Q = list(range(n))                          # Line 2: all vertices</a:t>
            </a:r>
          </a:p>
          <a:p>
            <a:r>
              <a:t>    counts.queue_items += n</a:t>
            </a:r>
          </a:p>
          <a:p>
            <a:r>
              <a:t>    while Q:                                   # Line 3</a:t>
            </a:r>
          </a:p>
          <a:p>
            <a:r>
              <a:t>        best = 0</a:t>
            </a:r>
          </a:p>
          <a:p>
            <a:r>
              <a:t>        for i in range(1, len(Q)):</a:t>
            </a:r>
          </a:p>
          <a:p>
            <a:r>
              <a:t>            counts.array_comparisons += 1</a:t>
            </a:r>
          </a:p>
          <a:p>
            <a:r>
              <a:t>            if (dist[Q[i]], Q[i]) &lt; (dist[Q[best]], Q[best]):</a:t>
            </a:r>
          </a:p>
          <a:p>
            <a:r>
              <a:t>                best = 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rendered directly from the actual notebook source. Project_2_Dijkstra.ipynb • cell 10, lines 14–23. Original indentation, comments and counter increments are preserved. Every extracted vertex scans all n columns, including absent edges.</a:t>
            </a:r>
          </a:p>
          <a:p/>
          <a:p>
            <a:r>
              <a:t>Exact excerpt:</a:t>
            </a:r>
          </a:p>
          <a:p>
            <a:r>
              <a:t>        u = Q[best]                            # Line 4: extract minimum</a:t>
            </a:r>
          </a:p>
          <a:p>
            <a:r>
              <a:t>        Q[best] = Q[-1]</a:t>
            </a:r>
          </a:p>
          <a:p>
            <a:r>
              <a:t>        Q.pop()</a:t>
            </a:r>
          </a:p>
          <a:p>
            <a:r>
              <a:t>        counts.extractions += 1</a:t>
            </a:r>
          </a:p>
          <a:p>
            <a:r>
              <a:t>        for v in range(n):                     # Line 5: discover outgoing edges</a:t>
            </a:r>
          </a:p>
          <a:p>
            <a:r>
              <a:t>            counts.matrix_probes += 1</a:t>
            </a:r>
          </a:p>
          <a:p>
            <a:r>
              <a:t>            weight = matrix[u][v]</a:t>
            </a:r>
          </a:p>
          <a:p>
            <a:r>
              <a:t>            if weight is not None:</a:t>
            </a:r>
          </a:p>
          <a:p>
            <a:r>
              <a:t>                relax(u, v, weight, dist, parent, counts)  # Line 6</a:t>
            </a:r>
          </a:p>
          <a:p>
            <a:r>
              <a:t>    return dist, parent, counts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rendered directly from the actual notebook source. Project_2_Dijkstra.ipynb • cell 15, lines 60–71. Original indentation, comments and counter increments are preserved. Only existing neighbors are visited; successful updates call decrease-key.</a:t>
            </a:r>
          </a:p>
          <a:p/>
          <a:p>
            <a:r>
              <a:t>Exact excerpt:</a:t>
            </a:r>
          </a:p>
          <a:p>
            <a:r>
              <a:t>def dijkstra_list(adjacency, source):</a:t>
            </a:r>
          </a:p>
          <a:p>
            <a:r>
              <a:t>    # Input is produced by to_adjacency_list(Graph(...)).</a:t>
            </a:r>
          </a:p>
          <a:p>
            <a:r>
              <a:t>    counts = Counts()</a:t>
            </a:r>
          </a:p>
          <a:p>
            <a:r>
              <a:t>    dist, parent = initialize(len(adjacency), source, counts)  # Line 1</a:t>
            </a:r>
          </a:p>
          <a:p>
            <a:r>
              <a:t>    Q = IndexedMinHeap(dist, counts)                          # Line 2</a:t>
            </a:r>
          </a:p>
          <a:p>
            <a:r>
              <a:t>    while Q:                                                 # Line 3</a:t>
            </a:r>
          </a:p>
          <a:p>
            <a:r>
              <a:t>        u = Q.extract_min()                                  # Line 4</a:t>
            </a:r>
          </a:p>
          <a:p>
            <a:r>
              <a:t>        for v, weight in adjacency[u]:                        # Line 5</a:t>
            </a:r>
          </a:p>
          <a:p>
            <a:r>
              <a:t>            counts.list_entries += 1</a:t>
            </a:r>
          </a:p>
          <a:p>
            <a:r>
              <a:t>            if relax(u, v, weight, dist, parent, counts):      # Line 6</a:t>
            </a:r>
          </a:p>
          <a:p>
            <a:r>
              <a:t>                Q.decrease_key(v)  # Keep Q consistent with changed dist[v].</a:t>
            </a:r>
          </a:p>
          <a:p>
            <a:r>
              <a:t>    return dist, parent, counts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rendered directly from the actual notebook source. Project_2_Dijkstra.ipynb • cell 15, lines 36–45. Original indentation, comments and counter increments are preserved. Replace the root with the last entry, then sift down to restore heap order.</a:t>
            </a:r>
          </a:p>
          <a:p/>
          <a:p>
            <a:r>
              <a:t>Exact excerpt:</a:t>
            </a:r>
          </a:p>
          <a:p>
            <a:r>
              <a:t>    def extract_min(self):</a:t>
            </a:r>
          </a:p>
          <a:p>
            <a:r>
              <a:t>        self.counts.extractions += 1</a:t>
            </a:r>
          </a:p>
          <a:p>
            <a:r>
              <a:t>        result = self.heap[0]</a:t>
            </a:r>
          </a:p>
          <a:p>
            <a:r>
              <a:t>        last = self.heap.pop()</a:t>
            </a:r>
          </a:p>
          <a:p>
            <a:r>
              <a:t>        self.position[result] = -1</a:t>
            </a:r>
          </a:p>
          <a:p>
            <a:r>
              <a:t>        if self.heap:</a:t>
            </a:r>
          </a:p>
          <a:p>
            <a:r>
              <a:t>            self.heap[0] = last</a:t>
            </a:r>
          </a:p>
          <a:p>
            <a:r>
              <a:t>            self.position[last] = 0</a:t>
            </a:r>
          </a:p>
          <a:p>
            <a:r>
              <a:t>            self._sift_down(0)</a:t>
            </a:r>
          </a:p>
          <a:p>
            <a:r>
              <a:t>        return result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rendered directly from the actual notebook source. Project_2_Dijkstra.ipynb • cell 15, lines 47–57. Original indentation, comments and counter increments are preserved. position[vertex] finds the heap entry in O(1); sift-up takes O(log V).</a:t>
            </a:r>
          </a:p>
          <a:p/>
          <a:p>
            <a:r>
              <a:t>Exact excerpt:</a:t>
            </a:r>
          </a:p>
          <a:p>
            <a:r>
              <a:t>    def decrease_key(self, vertex):</a:t>
            </a:r>
          </a:p>
          <a:p>
            <a:r>
              <a:t>        # The caller has just decreased dist[vertex]. Restore heap order.</a:t>
            </a:r>
          </a:p>
          <a:p>
            <a:r>
              <a:t>        self.counts.decrease_keys += 1</a:t>
            </a:r>
          </a:p>
          <a:p>
            <a:r>
              <a:t>        i = self.position[vertex]</a:t>
            </a:r>
          </a:p>
          <a:p>
            <a:r>
              <a:t>        assert i &gt;= 0, 'An extracted vertex cannot improve with nonnegative weights.'</a:t>
            </a:r>
          </a:p>
          <a:p>
            <a:r>
              <a:t>        while i &gt; 0:</a:t>
            </a:r>
          </a:p>
          <a:p>
            <a:r>
              <a:t>            parent = (i - 1) // 2</a:t>
            </a:r>
          </a:p>
          <a:p>
            <a:r>
              <a:t>            if not self._less(i, parent):</a:t>
            </a:r>
          </a:p>
          <a:p>
            <a:r>
              <a:t>                break</a:t>
            </a:r>
          </a:p>
          <a:p>
            <a:r>
              <a:t>            self._swap(i, parent)</a:t>
            </a:r>
          </a:p>
          <a:p>
            <a:r>
              <a:t>            i = parent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83E"/>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38BDF8"/>
                </a:solidFill>
                <a:latin typeface="Arial"/>
              </a:defRPr>
            </a:pPr>
            <a:r>
              <a:t>SC2001 • LAB 2</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FFFFFF"/>
                </a:solidFill>
                <a:latin typeface="Arial"/>
              </a:defRPr>
            </a:pPr>
            <a:r>
              <a:t>SC2001 Lab 2</a:t>
            </a:r>
          </a:p>
        </p:txBody>
      </p:sp>
      <p:sp>
        <p:nvSpPr>
          <p:cNvPr id="4" name="Rectangle 3"/>
          <p:cNvSpPr/>
          <p:nvPr/>
        </p:nvSpPr>
        <p:spPr>
          <a:xfrm>
            <a:off x="502920" y="6437376"/>
            <a:ext cx="11155680" cy="13716"/>
          </a:xfrm>
          <a:prstGeom prst="rect">
            <a:avLst/>
          </a:prstGeom>
          <a:solidFill>
            <a:srgbClr val="5667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C8D5DF"/>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C8D5DF"/>
                </a:solidFill>
                <a:latin typeface="Arial"/>
              </a:defRPr>
            </a:pPr>
            <a:r>
              <a:t>01</a:t>
            </a:r>
          </a:p>
        </p:txBody>
      </p:sp>
      <p:sp>
        <p:nvSpPr>
          <p:cNvPr id="7" name="TextBox 6"/>
          <p:cNvSpPr txBox="1"/>
          <p:nvPr/>
        </p:nvSpPr>
        <p:spPr>
          <a:xfrm>
            <a:off x="548640" y="1847088"/>
            <a:ext cx="10789920" cy="1005840"/>
          </a:xfrm>
          <a:prstGeom prst="rect">
            <a:avLst/>
          </a:prstGeom>
          <a:noFill/>
        </p:spPr>
        <p:txBody>
          <a:bodyPr wrap="square" lIns="0" rIns="0" tIns="0" bIns="0">
            <a:spAutoFit/>
          </a:bodyPr>
          <a:lstStyle/>
          <a:p>
            <a:pPr>
              <a:spcAft>
                <a:spcPts val="900"/>
              </a:spcAft>
              <a:defRPr sz="4400" b="1">
                <a:solidFill>
                  <a:srgbClr val="FFFFFF"/>
                </a:solidFill>
                <a:latin typeface="Arial"/>
              </a:defRPr>
            </a:pPr>
            <a:r>
              <a:t>Dijkstra’s Algorithm</a:t>
            </a:r>
          </a:p>
        </p:txBody>
      </p:sp>
      <p:sp>
        <p:nvSpPr>
          <p:cNvPr id="8" name="TextBox 7"/>
          <p:cNvSpPr txBox="1"/>
          <p:nvPr/>
        </p:nvSpPr>
        <p:spPr>
          <a:xfrm>
            <a:off x="576072" y="2944368"/>
            <a:ext cx="10607040" cy="640080"/>
          </a:xfrm>
          <a:prstGeom prst="rect">
            <a:avLst/>
          </a:prstGeom>
          <a:noFill/>
        </p:spPr>
        <p:txBody>
          <a:bodyPr wrap="square" lIns="0" rIns="0" tIns="0" bIns="0">
            <a:spAutoFit/>
          </a:bodyPr>
          <a:lstStyle/>
          <a:p>
            <a:pPr>
              <a:spcAft>
                <a:spcPts val="900"/>
              </a:spcAft>
              <a:defRPr sz="2400" b="0">
                <a:solidFill>
                  <a:srgbClr val="C8D5DF"/>
                </a:solidFill>
                <a:latin typeface="Arial"/>
              </a:defRPr>
            </a:pPr>
            <a:r>
              <a:t>Graph representation • Priority queues • Empirical complexity</a:t>
            </a:r>
          </a:p>
        </p:txBody>
      </p:sp>
      <p:sp>
        <p:nvSpPr>
          <p:cNvPr id="9" name="TextBox 8"/>
          <p:cNvSpPr txBox="1"/>
          <p:nvPr/>
        </p:nvSpPr>
        <p:spPr>
          <a:xfrm>
            <a:off x="576072" y="4096512"/>
            <a:ext cx="9144000" cy="1143000"/>
          </a:xfrm>
          <a:prstGeom prst="rect">
            <a:avLst/>
          </a:prstGeom>
          <a:noFill/>
        </p:spPr>
        <p:txBody>
          <a:bodyPr wrap="square" lIns="0" rIns="0" tIns="0" bIns="0">
            <a:spAutoFit/>
          </a:bodyPr>
          <a:lstStyle/>
          <a:p>
            <a:pPr>
              <a:spcAft>
                <a:spcPts val="900"/>
              </a:spcAft>
              <a:defRPr sz="1700" b="0">
                <a:solidFill>
                  <a:srgbClr val="FFFFFF"/>
                </a:solidFill>
                <a:latin typeface="Arial"/>
              </a:defRPr>
            </a:pPr>
            <a:r>
              <a:t>JAY LI YIJIE (U2540332B)</a:t>
            </a:r>
          </a:p>
          <a:p>
            <a:pPr>
              <a:spcAft>
                <a:spcPts val="900"/>
              </a:spcAft>
              <a:defRPr sz="1700" b="0">
                <a:solidFill>
                  <a:srgbClr val="FFFFFF"/>
                </a:solidFill>
                <a:latin typeface="Arial"/>
              </a:defRPr>
            </a:pPr>
            <a:r>
              <a:t>JOEL LOH QUAN YU (U2421696K)</a:t>
            </a:r>
          </a:p>
          <a:p>
            <a:pPr>
              <a:spcAft>
                <a:spcPts val="900"/>
              </a:spcAft>
              <a:defRPr sz="1700" b="0">
                <a:solidFill>
                  <a:srgbClr val="FFFFFF"/>
                </a:solidFill>
                <a:latin typeface="Arial"/>
              </a:defRPr>
            </a:pPr>
            <a:r>
              <a:t>JUSTIN HOTASI (U2310560D)</a:t>
            </a:r>
          </a:p>
        </p:txBody>
      </p:sp>
      <p:sp>
        <p:nvSpPr>
          <p:cNvPr id="10" name="Rounded Rectangle 9"/>
          <p:cNvSpPr/>
          <p:nvPr/>
        </p:nvSpPr>
        <p:spPr>
          <a:xfrm>
            <a:off x="502920" y="5687568"/>
            <a:ext cx="11155680" cy="530352"/>
          </a:xfrm>
          <a:prstGeom prst="roundRect">
            <a:avLst>
              <a:gd name="adj" fmla="val 6000"/>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FFFFFF"/>
                </a:solidFill>
                <a:latin typeface="Arial"/>
              </a:defRPr>
            </a:pPr>
            <a:r>
              <a:t>Same shortest paths. Different amounts of 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SC2001 • LAB 2</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Two implementation choices affect the work</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02</a:t>
            </a:r>
          </a:p>
        </p:txBody>
      </p:sp>
      <p:sp>
        <p:nvSpPr>
          <p:cNvPr id="7" name="Rounded Rectangle 6"/>
          <p:cNvSpPr/>
          <p:nvPr/>
        </p:nvSpPr>
        <p:spPr>
          <a:xfrm>
            <a:off x="502920"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PART A</a:t>
            </a:r>
          </a:p>
        </p:txBody>
      </p:sp>
      <p:sp>
        <p:nvSpPr>
          <p:cNvPr id="9" name="TextBox 8"/>
          <p:cNvSpPr txBox="1"/>
          <p:nvPr/>
        </p:nvSpPr>
        <p:spPr>
          <a:xfrm>
            <a:off x="722376"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Matrix + array</a:t>
            </a:r>
          </a:p>
        </p:txBody>
      </p:sp>
      <p:sp>
        <p:nvSpPr>
          <p:cNvPr id="10" name="TextBox 9"/>
          <p:cNvSpPr txBox="1"/>
          <p:nvPr/>
        </p:nvSpPr>
        <p:spPr>
          <a:xfrm>
            <a:off x="722376"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Scan possible neighbors.</a:t>
            </a:r>
          </a:p>
          <a:p>
            <a:pPr>
              <a:spcAft>
                <a:spcPts val="900"/>
              </a:spcAft>
              <a:defRPr sz="1900" b="0">
                <a:solidFill>
                  <a:srgbClr val="475569"/>
                </a:solidFill>
                <a:latin typeface="Arial"/>
              </a:defRPr>
            </a:pPr>
            <a:r>
              <a:t>Find the minimum by a linear queue scan.</a:t>
            </a:r>
          </a:p>
        </p:txBody>
      </p:sp>
      <p:sp>
        <p:nvSpPr>
          <p:cNvPr id="11" name="Rounded Rectangle 10"/>
          <p:cNvSpPr/>
          <p:nvPr/>
        </p:nvSpPr>
        <p:spPr>
          <a:xfrm>
            <a:off x="722376"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4791456"/>
            <a:ext cx="2916936" cy="347472"/>
          </a:xfrm>
          <a:prstGeom prst="rect">
            <a:avLst/>
          </a:prstGeom>
          <a:noFill/>
        </p:spPr>
        <p:txBody>
          <a:bodyPr wrap="square" lIns="0" rIns="0" tIns="0" bIns="0">
            <a:spAutoFit/>
          </a:bodyPr>
          <a:lstStyle/>
          <a:p>
            <a:pPr>
              <a:spcAft>
                <a:spcPts val="900"/>
              </a:spcAft>
              <a:defRPr sz="2000" b="1">
                <a:solidFill>
                  <a:srgbClr val="176B9B"/>
                </a:solidFill>
                <a:latin typeface="Arial"/>
              </a:defRPr>
            </a:pPr>
            <a:r>
              <a:t>Θ(V²)</a:t>
            </a:r>
          </a:p>
        </p:txBody>
      </p:sp>
      <p:sp>
        <p:nvSpPr>
          <p:cNvPr id="13" name="Rounded Rectangle 12"/>
          <p:cNvSpPr/>
          <p:nvPr/>
        </p:nvSpPr>
        <p:spPr>
          <a:xfrm>
            <a:off x="4288536"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PART B</a:t>
            </a:r>
          </a:p>
        </p:txBody>
      </p:sp>
      <p:sp>
        <p:nvSpPr>
          <p:cNvPr id="15" name="TextBox 14"/>
          <p:cNvSpPr txBox="1"/>
          <p:nvPr/>
        </p:nvSpPr>
        <p:spPr>
          <a:xfrm>
            <a:off x="4507992"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List + min-heap</a:t>
            </a:r>
          </a:p>
        </p:txBody>
      </p:sp>
      <p:sp>
        <p:nvSpPr>
          <p:cNvPr id="16" name="TextBox 15"/>
          <p:cNvSpPr txBox="1"/>
          <p:nvPr/>
        </p:nvSpPr>
        <p:spPr>
          <a:xfrm>
            <a:off x="4507992"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Visit existing neighbors.</a:t>
            </a:r>
          </a:p>
          <a:p>
            <a:pPr>
              <a:spcAft>
                <a:spcPts val="900"/>
              </a:spcAft>
              <a:defRPr sz="1900" b="0">
                <a:solidFill>
                  <a:srgbClr val="475569"/>
                </a:solidFill>
                <a:latin typeface="Arial"/>
              </a:defRPr>
            </a:pPr>
            <a:r>
              <a:t>Extract minima and update priorities with a heap.</a:t>
            </a:r>
          </a:p>
        </p:txBody>
      </p:sp>
      <p:sp>
        <p:nvSpPr>
          <p:cNvPr id="17" name="Rounded Rectangle 16"/>
          <p:cNvSpPr/>
          <p:nvPr/>
        </p:nvSpPr>
        <p:spPr>
          <a:xfrm>
            <a:off x="4507992"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791456"/>
            <a:ext cx="2916936" cy="347472"/>
          </a:xfrm>
          <a:prstGeom prst="rect">
            <a:avLst/>
          </a:prstGeom>
          <a:noFill/>
        </p:spPr>
        <p:txBody>
          <a:bodyPr wrap="square" lIns="0" rIns="0" tIns="0" bIns="0">
            <a:spAutoFit/>
          </a:bodyPr>
          <a:lstStyle/>
          <a:p>
            <a:pPr>
              <a:spcAft>
                <a:spcPts val="900"/>
              </a:spcAft>
              <a:defRPr sz="2000" b="1">
                <a:solidFill>
                  <a:srgbClr val="176B9B"/>
                </a:solidFill>
                <a:latin typeface="Arial"/>
              </a:defRPr>
            </a:pPr>
            <a:r>
              <a:t>O((V + E) log V)</a:t>
            </a:r>
          </a:p>
        </p:txBody>
      </p:sp>
      <p:sp>
        <p:nvSpPr>
          <p:cNvPr id="19" name="Rounded Rectangle 18"/>
          <p:cNvSpPr/>
          <p:nvPr/>
        </p:nvSpPr>
        <p:spPr>
          <a:xfrm>
            <a:off x="8074152" y="1755648"/>
            <a:ext cx="3575304" cy="3694176"/>
          </a:xfrm>
          <a:prstGeom prst="roundRect">
            <a:avLst>
              <a:gd name="adj" fmla="val 6000"/>
            </a:avLst>
          </a:prstGeom>
          <a:solidFill>
            <a:srgbClr val="12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1984248"/>
            <a:ext cx="3136392" cy="274320"/>
          </a:xfrm>
          <a:prstGeom prst="rect">
            <a:avLst/>
          </a:prstGeom>
          <a:noFill/>
        </p:spPr>
        <p:txBody>
          <a:bodyPr wrap="square" lIns="0" rIns="0" tIns="0" bIns="0">
            <a:spAutoFit/>
          </a:bodyPr>
          <a:lstStyle/>
          <a:p>
            <a:pPr>
              <a:spcAft>
                <a:spcPts val="900"/>
              </a:spcAft>
              <a:defRPr sz="1200" b="1">
                <a:solidFill>
                  <a:srgbClr val="38BDF8"/>
                </a:solidFill>
                <a:latin typeface="Arial"/>
              </a:defRPr>
            </a:pPr>
            <a:r>
              <a:t>RESEARCH QUESTION</a:t>
            </a:r>
          </a:p>
        </p:txBody>
      </p:sp>
      <p:sp>
        <p:nvSpPr>
          <p:cNvPr id="21" name="TextBox 20"/>
          <p:cNvSpPr txBox="1"/>
          <p:nvPr/>
        </p:nvSpPr>
        <p:spPr>
          <a:xfrm>
            <a:off x="8293608" y="2450592"/>
            <a:ext cx="3136392" cy="612648"/>
          </a:xfrm>
          <a:prstGeom prst="rect">
            <a:avLst/>
          </a:prstGeom>
          <a:noFill/>
        </p:spPr>
        <p:txBody>
          <a:bodyPr wrap="square" lIns="0" rIns="0" tIns="0" bIns="0">
            <a:spAutoFit/>
          </a:bodyPr>
          <a:lstStyle/>
          <a:p>
            <a:pPr>
              <a:spcAft>
                <a:spcPts val="900"/>
              </a:spcAft>
              <a:defRPr sz="2300" b="1">
                <a:solidFill>
                  <a:srgbClr val="FFFFFF"/>
                </a:solidFill>
                <a:latin typeface="Arial"/>
              </a:defRPr>
            </a:pPr>
            <a:r>
              <a:t>When is each better?</a:t>
            </a:r>
          </a:p>
        </p:txBody>
      </p:sp>
      <p:sp>
        <p:nvSpPr>
          <p:cNvPr id="22" name="TextBox 21"/>
          <p:cNvSpPr txBox="1"/>
          <p:nvPr/>
        </p:nvSpPr>
        <p:spPr>
          <a:xfrm>
            <a:off x="8293608" y="3182112"/>
            <a:ext cx="3136392" cy="1243584"/>
          </a:xfrm>
          <a:prstGeom prst="rect">
            <a:avLst/>
          </a:prstGeom>
          <a:noFill/>
        </p:spPr>
        <p:txBody>
          <a:bodyPr wrap="square" lIns="0" rIns="0" tIns="0" bIns="0">
            <a:spAutoFit/>
          </a:bodyPr>
          <a:lstStyle/>
          <a:p>
            <a:pPr>
              <a:spcAft>
                <a:spcPts val="900"/>
              </a:spcAft>
              <a:defRPr sz="1900" b="0">
                <a:solidFill>
                  <a:srgbClr val="C8D5DF"/>
                </a:solidFill>
                <a:latin typeface="Arial"/>
              </a:defRPr>
            </a:pPr>
            <a:r>
              <a:t>V = number of vertices</a:t>
            </a:r>
          </a:p>
          <a:p>
            <a:pPr>
              <a:spcAft>
                <a:spcPts val="900"/>
              </a:spcAft>
              <a:defRPr sz="1900" b="0">
                <a:solidFill>
                  <a:srgbClr val="C8D5DF"/>
                </a:solidFill>
                <a:latin typeface="Arial"/>
              </a:defRPr>
            </a:pPr>
            <a:r>
              <a:t>E = directed edges</a:t>
            </a:r>
          </a:p>
          <a:p>
            <a:pPr>
              <a:spcAft>
                <a:spcPts val="900"/>
              </a:spcAft>
              <a:defRPr sz="1900" b="0">
                <a:solidFill>
                  <a:srgbClr val="C8D5DF"/>
                </a:solidFill>
                <a:latin typeface="Arial"/>
              </a:defRPr>
            </a:pPr>
            <a:r>
              <a:t>R = successful updates</a:t>
            </a:r>
          </a:p>
        </p:txBody>
      </p:sp>
      <p:sp>
        <p:nvSpPr>
          <p:cNvPr id="23" name="Rounded Rectangle 22"/>
          <p:cNvSpPr/>
          <p:nvPr/>
        </p:nvSpPr>
        <p:spPr>
          <a:xfrm>
            <a:off x="8293608" y="4690872"/>
            <a:ext cx="3136392" cy="512064"/>
          </a:xfrm>
          <a:prstGeom prst="roundRect">
            <a:avLst>
              <a:gd name="adj" fmla="val 6000"/>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03336" y="4791456"/>
            <a:ext cx="2916936" cy="347472"/>
          </a:xfrm>
          <a:prstGeom prst="rect">
            <a:avLst/>
          </a:prstGeom>
          <a:noFill/>
        </p:spPr>
        <p:txBody>
          <a:bodyPr wrap="square" lIns="0" rIns="0" tIns="0" bIns="0">
            <a:spAutoFit/>
          </a:bodyPr>
          <a:lstStyle/>
          <a:p>
            <a:pPr>
              <a:spcAft>
                <a:spcPts val="900"/>
              </a:spcAft>
              <a:defRPr sz="2000" b="1">
                <a:solidFill>
                  <a:srgbClr val="FFFFFF"/>
                </a:solidFill>
                <a:latin typeface="Arial"/>
              </a:defRPr>
            </a:pPr>
            <a:r>
              <a:t>Compare counted work</a:t>
            </a:r>
          </a:p>
        </p:txBody>
      </p:sp>
      <p:sp>
        <p:nvSpPr>
          <p:cNvPr id="25" name="Rounded Rectangle 24"/>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Compare the same graph and source; change only the implementation.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GRAPH REPRESENTATION</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Build one graph; convert it two ways</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03</a:t>
            </a:r>
          </a:p>
        </p:txBody>
      </p:sp>
      <p:sp>
        <p:nvSpPr>
          <p:cNvPr id="7" name="TextBox 6"/>
          <p:cNvSpPr txBox="1"/>
          <p:nvPr/>
        </p:nvSpPr>
        <p:spPr>
          <a:xfrm>
            <a:off x="548640" y="1600200"/>
            <a:ext cx="10972800" cy="457200"/>
          </a:xfrm>
          <a:prstGeom prst="rect">
            <a:avLst/>
          </a:prstGeom>
          <a:noFill/>
        </p:spPr>
        <p:txBody>
          <a:bodyPr wrap="square" lIns="0" rIns="0" tIns="0" bIns="0">
            <a:spAutoFit/>
          </a:bodyPr>
          <a:lstStyle/>
          <a:p>
            <a:pPr>
              <a:spcAft>
                <a:spcPts val="900"/>
              </a:spcAft>
              <a:defRPr sz="2200" b="0">
                <a:solidFill>
                  <a:srgbClr val="12283E"/>
                </a:solidFill>
                <a:latin typeface="Arial"/>
              </a:defRPr>
            </a:pPr>
            <a:r>
              <a:t>Example: 0 → 1 (weight 4), 0 → 2 (weight 2), 1 → 2 (weight 1)</a:t>
            </a:r>
          </a:p>
        </p:txBody>
      </p:sp>
      <p:sp>
        <p:nvSpPr>
          <p:cNvPr id="8" name="Rounded Rectangle 7"/>
          <p:cNvSpPr/>
          <p:nvPr/>
        </p:nvSpPr>
        <p:spPr>
          <a:xfrm>
            <a:off x="502920" y="2350008"/>
            <a:ext cx="5440680" cy="2880360"/>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90488" y="2350008"/>
            <a:ext cx="5440680" cy="2880360"/>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560320"/>
            <a:ext cx="4937760" cy="365760"/>
          </a:xfrm>
          <a:prstGeom prst="rect">
            <a:avLst/>
          </a:prstGeom>
          <a:noFill/>
        </p:spPr>
        <p:txBody>
          <a:bodyPr wrap="square" lIns="0" rIns="0" tIns="0" bIns="0">
            <a:spAutoFit/>
          </a:bodyPr>
          <a:lstStyle/>
          <a:p>
            <a:pPr>
              <a:spcAft>
                <a:spcPts val="900"/>
              </a:spcAft>
              <a:defRPr sz="1500" b="1">
                <a:solidFill>
                  <a:srgbClr val="176B9B"/>
                </a:solidFill>
                <a:latin typeface="Arial"/>
              </a:defRPr>
            </a:pPr>
            <a:r>
              <a:t>ADJACENCY MATRIX</a:t>
            </a:r>
          </a:p>
        </p:txBody>
      </p:sp>
      <p:sp>
        <p:nvSpPr>
          <p:cNvPr id="11" name="TextBox 10"/>
          <p:cNvSpPr txBox="1"/>
          <p:nvPr/>
        </p:nvSpPr>
        <p:spPr>
          <a:xfrm>
            <a:off x="749808" y="3108960"/>
            <a:ext cx="4937760" cy="1325880"/>
          </a:xfrm>
          <a:prstGeom prst="rect">
            <a:avLst/>
          </a:prstGeom>
          <a:noFill/>
        </p:spPr>
        <p:txBody>
          <a:bodyPr wrap="square" lIns="0" rIns="0" tIns="0" bIns="0">
            <a:spAutoFit/>
          </a:bodyPr>
          <a:lstStyle/>
          <a:p>
            <a:pPr>
              <a:spcAft>
                <a:spcPts val="900"/>
              </a:spcAft>
              <a:defRPr sz="2100" b="0">
                <a:solidFill>
                  <a:srgbClr val="12283E"/>
                </a:solidFill>
                <a:latin typeface="Courier New"/>
              </a:defRPr>
            </a:pPr>
            <a:r>
              <a:t>[None, 4,    2   ]</a:t>
            </a:r>
          </a:p>
          <a:p>
            <a:pPr>
              <a:spcAft>
                <a:spcPts val="900"/>
              </a:spcAft>
              <a:defRPr sz="2100" b="0">
                <a:solidFill>
                  <a:srgbClr val="12283E"/>
                </a:solidFill>
                <a:latin typeface="Courier New"/>
              </a:defRPr>
            </a:pPr>
            <a:r>
              <a:t>[None, None, 1   ]</a:t>
            </a:r>
          </a:p>
          <a:p>
            <a:pPr>
              <a:spcAft>
                <a:spcPts val="900"/>
              </a:spcAft>
              <a:defRPr sz="2100" b="0">
                <a:solidFill>
                  <a:srgbClr val="12283E"/>
                </a:solidFill>
                <a:latin typeface="Courier New"/>
              </a:defRPr>
            </a:pPr>
            <a:r>
              <a:t>[None, None, None]</a:t>
            </a:r>
          </a:p>
        </p:txBody>
      </p:sp>
      <p:sp>
        <p:nvSpPr>
          <p:cNvPr id="12" name="TextBox 11"/>
          <p:cNvSpPr txBox="1"/>
          <p:nvPr/>
        </p:nvSpPr>
        <p:spPr>
          <a:xfrm>
            <a:off x="749808" y="4599432"/>
            <a:ext cx="4937760" cy="438912"/>
          </a:xfrm>
          <a:prstGeom prst="rect">
            <a:avLst/>
          </a:prstGeom>
          <a:noFill/>
        </p:spPr>
        <p:txBody>
          <a:bodyPr wrap="square" lIns="0" rIns="0" tIns="0" bIns="0">
            <a:spAutoFit/>
          </a:bodyPr>
          <a:lstStyle/>
          <a:p>
            <a:pPr>
              <a:spcAft>
                <a:spcPts val="900"/>
              </a:spcAft>
              <a:defRPr sz="2100" b="0">
                <a:solidFill>
                  <a:srgbClr val="475569"/>
                </a:solidFill>
                <a:latin typeface="Arial"/>
              </a:defRPr>
            </a:pPr>
            <a:r>
              <a:t>Scan V cells in row u.</a:t>
            </a:r>
          </a:p>
        </p:txBody>
      </p:sp>
      <p:sp>
        <p:nvSpPr>
          <p:cNvPr id="13" name="TextBox 12"/>
          <p:cNvSpPr txBox="1"/>
          <p:nvPr/>
        </p:nvSpPr>
        <p:spPr>
          <a:xfrm>
            <a:off x="6437376" y="2560320"/>
            <a:ext cx="4937760" cy="365760"/>
          </a:xfrm>
          <a:prstGeom prst="rect">
            <a:avLst/>
          </a:prstGeom>
          <a:noFill/>
        </p:spPr>
        <p:txBody>
          <a:bodyPr wrap="square" lIns="0" rIns="0" tIns="0" bIns="0">
            <a:spAutoFit/>
          </a:bodyPr>
          <a:lstStyle/>
          <a:p>
            <a:pPr>
              <a:spcAft>
                <a:spcPts val="900"/>
              </a:spcAft>
              <a:defRPr sz="1500" b="1">
                <a:solidFill>
                  <a:srgbClr val="176B9B"/>
                </a:solidFill>
                <a:latin typeface="Arial"/>
              </a:defRPr>
            </a:pPr>
            <a:r>
              <a:t>LIST OF ADJACENCY LISTS</a:t>
            </a:r>
          </a:p>
        </p:txBody>
      </p:sp>
      <p:sp>
        <p:nvSpPr>
          <p:cNvPr id="14" name="TextBox 13"/>
          <p:cNvSpPr txBox="1"/>
          <p:nvPr/>
        </p:nvSpPr>
        <p:spPr>
          <a:xfrm>
            <a:off x="6437376" y="3108960"/>
            <a:ext cx="4937760" cy="1325880"/>
          </a:xfrm>
          <a:prstGeom prst="rect">
            <a:avLst/>
          </a:prstGeom>
          <a:noFill/>
        </p:spPr>
        <p:txBody>
          <a:bodyPr wrap="square" lIns="0" rIns="0" tIns="0" bIns="0">
            <a:spAutoFit/>
          </a:bodyPr>
          <a:lstStyle/>
          <a:p>
            <a:pPr>
              <a:spcAft>
                <a:spcPts val="900"/>
              </a:spcAft>
              <a:defRPr sz="2100" b="0">
                <a:solidFill>
                  <a:srgbClr val="12283E"/>
                </a:solidFill>
                <a:latin typeface="Courier New"/>
              </a:defRPr>
            </a:pPr>
            <a:r>
              <a:t>[[(1, 4), (2, 2)],</a:t>
            </a:r>
          </a:p>
          <a:p>
            <a:pPr>
              <a:spcAft>
                <a:spcPts val="900"/>
              </a:spcAft>
              <a:defRPr sz="2100" b="0">
                <a:solidFill>
                  <a:srgbClr val="12283E"/>
                </a:solidFill>
                <a:latin typeface="Courier New"/>
              </a:defRPr>
            </a:pPr>
            <a:r>
              <a:t> [(2, 1)],</a:t>
            </a:r>
          </a:p>
          <a:p>
            <a:pPr>
              <a:spcAft>
                <a:spcPts val="900"/>
              </a:spcAft>
              <a:defRPr sz="2100" b="0">
                <a:solidFill>
                  <a:srgbClr val="12283E"/>
                </a:solidFill>
                <a:latin typeface="Courier New"/>
              </a:defRPr>
            </a:pPr>
            <a:r>
              <a:t> []]</a:t>
            </a:r>
          </a:p>
        </p:txBody>
      </p:sp>
      <p:sp>
        <p:nvSpPr>
          <p:cNvPr id="15" name="TextBox 14"/>
          <p:cNvSpPr txBox="1"/>
          <p:nvPr/>
        </p:nvSpPr>
        <p:spPr>
          <a:xfrm>
            <a:off x="6437376" y="4599432"/>
            <a:ext cx="4937760" cy="438912"/>
          </a:xfrm>
          <a:prstGeom prst="rect">
            <a:avLst/>
          </a:prstGeom>
          <a:noFill/>
        </p:spPr>
        <p:txBody>
          <a:bodyPr wrap="square" lIns="0" rIns="0" tIns="0" bIns="0">
            <a:spAutoFit/>
          </a:bodyPr>
          <a:lstStyle/>
          <a:p>
            <a:pPr>
              <a:spcAft>
                <a:spcPts val="900"/>
              </a:spcAft>
              <a:defRPr sz="2100" b="0">
                <a:solidFill>
                  <a:srgbClr val="475569"/>
                </a:solidFill>
                <a:latin typeface="Arial"/>
              </a:defRPr>
            </a:pPr>
            <a:r>
              <a:t>Visit only u’s outgoing edges.</a:t>
            </a:r>
          </a:p>
        </p:txBody>
      </p:sp>
      <p:sp>
        <p:nvSpPr>
          <p:cNvPr id="16" name="Rounded Rectangle 15"/>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matrix[u] and adjacency[u] are both O(1) accesses.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ALGORITHM • SLIDES 9 AND 16</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Both implementations follow the lecture pseudocode</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05</a:t>
            </a:r>
          </a:p>
        </p:txBody>
      </p:sp>
      <p:sp>
        <p:nvSpPr>
          <p:cNvPr id="7" name="Rounded Rectangle 6"/>
          <p:cNvSpPr/>
          <p:nvPr/>
        </p:nvSpPr>
        <p:spPr>
          <a:xfrm>
            <a:off x="502920" y="1709928"/>
            <a:ext cx="6858000" cy="3767328"/>
          </a:xfrm>
          <a:prstGeom prst="roundRect">
            <a:avLst>
              <a:gd name="adj" fmla="val 6000"/>
            </a:avLst>
          </a:prstGeom>
          <a:solidFill>
            <a:srgbClr val="12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47672"/>
            <a:ext cx="6309360" cy="3200400"/>
          </a:xfrm>
          <a:prstGeom prst="rect">
            <a:avLst/>
          </a:prstGeom>
          <a:noFill/>
        </p:spPr>
        <p:txBody>
          <a:bodyPr wrap="square" lIns="0" rIns="0" tIns="0" bIns="0">
            <a:spAutoFit/>
          </a:bodyPr>
          <a:lstStyle/>
          <a:p>
            <a:pPr>
              <a:spcAft>
                <a:spcPts val="900"/>
              </a:spcAft>
              <a:defRPr sz="2200" b="0">
                <a:solidFill>
                  <a:srgbClr val="FFFFFF"/>
                </a:solidFill>
                <a:latin typeface="Courier New"/>
              </a:defRPr>
            </a:pPr>
            <a:r>
              <a:t>Initialize(G, source)</a:t>
            </a:r>
          </a:p>
          <a:p>
            <a:pPr>
              <a:spcAft>
                <a:spcPts val="900"/>
              </a:spcAft>
              <a:defRPr sz="2200" b="0">
                <a:solidFill>
                  <a:srgbClr val="FFFFFF"/>
                </a:solidFill>
                <a:latin typeface="Courier New"/>
              </a:defRPr>
            </a:pPr>
            <a:r>
              <a:t>Q ← all vertices</a:t>
            </a:r>
          </a:p>
          <a:p>
            <a:pPr>
              <a:spcAft>
                <a:spcPts val="900"/>
              </a:spcAft>
              <a:defRPr sz="2200" b="0">
                <a:solidFill>
                  <a:srgbClr val="FFFFFF"/>
                </a:solidFill>
                <a:latin typeface="Courier New"/>
              </a:defRPr>
            </a:pPr>
            <a:r>
              <a:t>while Q is not empty:</a:t>
            </a:r>
          </a:p>
          <a:p>
            <a:pPr>
              <a:spcAft>
                <a:spcPts val="900"/>
              </a:spcAft>
              <a:defRPr sz="2200" b="0">
                <a:solidFill>
                  <a:srgbClr val="FFFFFF"/>
                </a:solidFill>
                <a:latin typeface="Courier New"/>
              </a:defRPr>
            </a:pPr>
            <a:r>
              <a:t>    u ← ExtractMin(Q)</a:t>
            </a:r>
          </a:p>
          <a:p>
            <a:pPr>
              <a:spcAft>
                <a:spcPts val="900"/>
              </a:spcAft>
              <a:defRPr sz="2200" b="0">
                <a:solidFill>
                  <a:srgbClr val="FFFFFF"/>
                </a:solidFill>
                <a:latin typeface="Courier New"/>
              </a:defRPr>
            </a:pPr>
            <a:r>
              <a:t>    for each outgoing edge (u, v):</a:t>
            </a:r>
          </a:p>
          <a:p>
            <a:pPr>
              <a:spcAft>
                <a:spcPts val="900"/>
              </a:spcAft>
              <a:defRPr sz="2200" b="0">
                <a:solidFill>
                  <a:srgbClr val="FFFFFF"/>
                </a:solidFill>
                <a:latin typeface="Courier New"/>
              </a:defRPr>
            </a:pPr>
            <a:r>
              <a:t>        Relax(u, v)</a:t>
            </a:r>
          </a:p>
        </p:txBody>
      </p:sp>
      <p:sp>
        <p:nvSpPr>
          <p:cNvPr id="9" name="TextBox 8"/>
          <p:cNvSpPr txBox="1"/>
          <p:nvPr/>
        </p:nvSpPr>
        <p:spPr>
          <a:xfrm>
            <a:off x="7763256" y="1947672"/>
            <a:ext cx="3749039" cy="457200"/>
          </a:xfrm>
          <a:prstGeom prst="rect">
            <a:avLst/>
          </a:prstGeom>
          <a:noFill/>
        </p:spPr>
        <p:txBody>
          <a:bodyPr wrap="square" lIns="0" rIns="0" tIns="0" bIns="0">
            <a:spAutoFit/>
          </a:bodyPr>
          <a:lstStyle/>
          <a:p>
            <a:pPr>
              <a:spcAft>
                <a:spcPts val="900"/>
              </a:spcAft>
              <a:defRPr sz="1500" b="1">
                <a:solidFill>
                  <a:srgbClr val="176B9B"/>
                </a:solidFill>
                <a:latin typeface="Arial"/>
              </a:defRPr>
            </a:pPr>
            <a:r>
              <a:t>RELAXATION</a:t>
            </a:r>
          </a:p>
        </p:txBody>
      </p:sp>
      <p:sp>
        <p:nvSpPr>
          <p:cNvPr id="10" name="TextBox 9"/>
          <p:cNvSpPr txBox="1"/>
          <p:nvPr/>
        </p:nvSpPr>
        <p:spPr>
          <a:xfrm>
            <a:off x="7763256" y="2569464"/>
            <a:ext cx="3749039" cy="2304288"/>
          </a:xfrm>
          <a:prstGeom prst="rect">
            <a:avLst/>
          </a:prstGeom>
          <a:noFill/>
        </p:spPr>
        <p:txBody>
          <a:bodyPr wrap="square" lIns="0" rIns="0" tIns="0" bIns="0">
            <a:spAutoFit/>
          </a:bodyPr>
          <a:lstStyle/>
          <a:p>
            <a:pPr>
              <a:spcAft>
                <a:spcPts val="900"/>
              </a:spcAft>
              <a:defRPr sz="2100" b="0">
                <a:solidFill>
                  <a:srgbClr val="475569"/>
                </a:solidFill>
                <a:latin typeface="Arial"/>
              </a:defRPr>
            </a:pPr>
            <a:r>
              <a:t>If dist[u] + weight &lt; dist[v]:</a:t>
            </a:r>
          </a:p>
          <a:p>
            <a:pPr>
              <a:spcAft>
                <a:spcPts val="900"/>
              </a:spcAft>
              <a:defRPr sz="2100" b="0">
                <a:solidFill>
                  <a:srgbClr val="475569"/>
                </a:solidFill>
                <a:latin typeface="Arial"/>
              </a:defRPr>
            </a:pPr>
          </a:p>
          <a:p>
            <a:pPr>
              <a:spcAft>
                <a:spcPts val="900"/>
              </a:spcAft>
              <a:defRPr sz="2100" b="0">
                <a:solidFill>
                  <a:srgbClr val="475569"/>
                </a:solidFill>
                <a:latin typeface="Arial"/>
              </a:defRPr>
            </a:pPr>
            <a:r>
              <a:t>Update dist[v] and parent[v].</a:t>
            </a:r>
          </a:p>
          <a:p>
            <a:pPr>
              <a:spcAft>
                <a:spcPts val="900"/>
              </a:spcAft>
              <a:defRPr sz="2100" b="0">
                <a:solidFill>
                  <a:srgbClr val="475569"/>
                </a:solidFill>
                <a:latin typeface="Arial"/>
              </a:defRPr>
            </a:pPr>
          </a:p>
          <a:p>
            <a:pPr>
              <a:spcAft>
                <a:spcPts val="900"/>
              </a:spcAft>
              <a:defRPr sz="2100" b="0">
                <a:solidFill>
                  <a:srgbClr val="475569"/>
                </a:solidFill>
                <a:latin typeface="Arial"/>
              </a:defRPr>
            </a:pPr>
            <a:r>
              <a:t>In B, also call decrease-key.</a:t>
            </a:r>
          </a:p>
        </p:txBody>
      </p:sp>
      <p:sp>
        <p:nvSpPr>
          <p:cNvPr id="11" name="Rounded Rectangle 10"/>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Requirements: finite, nonnegative weights; zero-weight edges are allowed.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EXPERIMENTAL METHOD</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Measure the work that explains the complexity</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07</a:t>
            </a:r>
          </a:p>
        </p:txBody>
      </p:sp>
      <p:sp>
        <p:nvSpPr>
          <p:cNvPr id="7" name="Rounded Rectangle 6"/>
          <p:cNvSpPr/>
          <p:nvPr/>
        </p:nvSpPr>
        <p:spPr>
          <a:xfrm>
            <a:off x="502920"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COUNT</a:t>
            </a:r>
          </a:p>
        </p:txBody>
      </p:sp>
      <p:sp>
        <p:nvSpPr>
          <p:cNvPr id="9" name="TextBox 8"/>
          <p:cNvSpPr txBox="1"/>
          <p:nvPr/>
        </p:nvSpPr>
        <p:spPr>
          <a:xfrm>
            <a:off x="722376"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Neighbor discovery</a:t>
            </a:r>
          </a:p>
        </p:txBody>
      </p:sp>
      <p:sp>
        <p:nvSpPr>
          <p:cNvPr id="10" name="TextBox 9"/>
          <p:cNvSpPr txBox="1"/>
          <p:nvPr/>
        </p:nvSpPr>
        <p:spPr>
          <a:xfrm>
            <a:off x="722376"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Matrix-cell probes in A.</a:t>
            </a:r>
          </a:p>
          <a:p>
            <a:pPr>
              <a:spcAft>
                <a:spcPts val="900"/>
              </a:spcAft>
              <a:defRPr sz="1900" b="0">
                <a:solidFill>
                  <a:srgbClr val="475569"/>
                </a:solidFill>
                <a:latin typeface="Arial"/>
              </a:defRPr>
            </a:pPr>
            <a:r>
              <a:t>Adjacency entries in B.</a:t>
            </a:r>
          </a:p>
        </p:txBody>
      </p:sp>
      <p:sp>
        <p:nvSpPr>
          <p:cNvPr id="11" name="Rounded Rectangle 10"/>
          <p:cNvSpPr/>
          <p:nvPr/>
        </p:nvSpPr>
        <p:spPr>
          <a:xfrm>
            <a:off x="722376"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4791456"/>
            <a:ext cx="2916936" cy="347472"/>
          </a:xfrm>
          <a:prstGeom prst="rect">
            <a:avLst/>
          </a:prstGeom>
          <a:noFill/>
        </p:spPr>
        <p:txBody>
          <a:bodyPr wrap="square" lIns="0" rIns="0" tIns="0" bIns="0">
            <a:spAutoFit/>
          </a:bodyPr>
          <a:lstStyle/>
          <a:p>
            <a:pPr>
              <a:spcAft>
                <a:spcPts val="900"/>
              </a:spcAft>
              <a:defRPr sz="2000" b="1">
                <a:solidFill>
                  <a:srgbClr val="176B9B"/>
                </a:solidFill>
                <a:latin typeface="Arial"/>
              </a:defRPr>
            </a:pPr>
            <a:r>
              <a:t>V² versus E</a:t>
            </a:r>
          </a:p>
        </p:txBody>
      </p:sp>
      <p:sp>
        <p:nvSpPr>
          <p:cNvPr id="13" name="Rounded Rectangle 12"/>
          <p:cNvSpPr/>
          <p:nvPr/>
        </p:nvSpPr>
        <p:spPr>
          <a:xfrm>
            <a:off x="4288536"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COUNT</a:t>
            </a:r>
          </a:p>
        </p:txBody>
      </p:sp>
      <p:sp>
        <p:nvSpPr>
          <p:cNvPr id="15" name="TextBox 14"/>
          <p:cNvSpPr txBox="1"/>
          <p:nvPr/>
        </p:nvSpPr>
        <p:spPr>
          <a:xfrm>
            <a:off x="4507992"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Queue + relaxation</a:t>
            </a:r>
          </a:p>
        </p:txBody>
      </p:sp>
      <p:sp>
        <p:nvSpPr>
          <p:cNvPr id="16" name="TextBox 15"/>
          <p:cNvSpPr txBox="1"/>
          <p:nvPr/>
        </p:nvSpPr>
        <p:spPr>
          <a:xfrm>
            <a:off x="4507992"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Minimum comparisons, heap comparisons/swaps, relaxation checks and updates.</a:t>
            </a:r>
          </a:p>
        </p:txBody>
      </p:sp>
      <p:sp>
        <p:nvSpPr>
          <p:cNvPr id="17" name="Rounded Rectangle 16"/>
          <p:cNvSpPr/>
          <p:nvPr/>
        </p:nvSpPr>
        <p:spPr>
          <a:xfrm>
            <a:off x="4507992"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791456"/>
            <a:ext cx="2916936" cy="347472"/>
          </a:xfrm>
          <a:prstGeom prst="rect">
            <a:avLst/>
          </a:prstGeom>
          <a:noFill/>
        </p:spPr>
        <p:txBody>
          <a:bodyPr wrap="square" lIns="0" rIns="0" tIns="0" bIns="0">
            <a:spAutoFit/>
          </a:bodyPr>
          <a:lstStyle/>
          <a:p>
            <a:pPr>
              <a:spcAft>
                <a:spcPts val="900"/>
              </a:spcAft>
              <a:defRPr sz="2000" b="1">
                <a:solidFill>
                  <a:srgbClr val="176B9B"/>
                </a:solidFill>
                <a:latin typeface="Arial"/>
              </a:defRPr>
            </a:pPr>
            <a:r>
              <a:t>Count queue work</a:t>
            </a:r>
          </a:p>
        </p:txBody>
      </p:sp>
      <p:sp>
        <p:nvSpPr>
          <p:cNvPr id="19" name="Rounded Rectangle 18"/>
          <p:cNvSpPr/>
          <p:nvPr/>
        </p:nvSpPr>
        <p:spPr>
          <a:xfrm>
            <a:off x="8074152" y="1755648"/>
            <a:ext cx="3575304" cy="3694176"/>
          </a:xfrm>
          <a:prstGeom prst="roundRect">
            <a:avLst>
              <a:gd name="adj" fmla="val 6000"/>
            </a:avLst>
          </a:prstGeom>
          <a:solidFill>
            <a:srgbClr val="12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1984248"/>
            <a:ext cx="3136392" cy="274320"/>
          </a:xfrm>
          <a:prstGeom prst="rect">
            <a:avLst/>
          </a:prstGeom>
          <a:noFill/>
        </p:spPr>
        <p:txBody>
          <a:bodyPr wrap="square" lIns="0" rIns="0" tIns="0" bIns="0">
            <a:spAutoFit/>
          </a:bodyPr>
          <a:lstStyle/>
          <a:p>
            <a:pPr>
              <a:spcAft>
                <a:spcPts val="900"/>
              </a:spcAft>
              <a:defRPr sz="1200" b="1">
                <a:solidFill>
                  <a:srgbClr val="38BDF8"/>
                </a:solidFill>
                <a:latin typeface="Arial"/>
              </a:defRPr>
            </a:pPr>
            <a:r>
              <a:t>INTERPRET</a:t>
            </a:r>
          </a:p>
        </p:txBody>
      </p:sp>
      <p:sp>
        <p:nvSpPr>
          <p:cNvPr id="21" name="TextBox 20"/>
          <p:cNvSpPr txBox="1"/>
          <p:nvPr/>
        </p:nvSpPr>
        <p:spPr>
          <a:xfrm>
            <a:off x="8293608" y="2450592"/>
            <a:ext cx="3136392" cy="612648"/>
          </a:xfrm>
          <a:prstGeom prst="rect">
            <a:avLst/>
          </a:prstGeom>
          <a:noFill/>
        </p:spPr>
        <p:txBody>
          <a:bodyPr wrap="square" lIns="0" rIns="0" tIns="0" bIns="0">
            <a:spAutoFit/>
          </a:bodyPr>
          <a:lstStyle/>
          <a:p>
            <a:pPr>
              <a:spcAft>
                <a:spcPts val="900"/>
              </a:spcAft>
              <a:defRPr sz="2300" b="1">
                <a:solidFill>
                  <a:srgbClr val="FFFFFF"/>
                </a:solidFill>
                <a:latin typeface="Arial"/>
              </a:defRPr>
            </a:pPr>
            <a:r>
              <a:t>Work, not seconds</a:t>
            </a:r>
          </a:p>
        </p:txBody>
      </p:sp>
      <p:sp>
        <p:nvSpPr>
          <p:cNvPr id="22" name="TextBox 21"/>
          <p:cNvSpPr txBox="1"/>
          <p:nvPr/>
        </p:nvSpPr>
        <p:spPr>
          <a:xfrm>
            <a:off x="8293608" y="3182112"/>
            <a:ext cx="3136392" cy="1243584"/>
          </a:xfrm>
          <a:prstGeom prst="rect">
            <a:avLst/>
          </a:prstGeom>
          <a:noFill/>
        </p:spPr>
        <p:txBody>
          <a:bodyPr wrap="square" lIns="0" rIns="0" tIns="0" bIns="0">
            <a:spAutoFit/>
          </a:bodyPr>
          <a:lstStyle/>
          <a:p>
            <a:pPr>
              <a:spcAft>
                <a:spcPts val="900"/>
              </a:spcAft>
              <a:defRPr sz="1900" b="0">
                <a:solidFill>
                  <a:srgbClr val="C8D5DF"/>
                </a:solidFill>
                <a:latin typeface="Arial"/>
              </a:defRPr>
            </a:pPr>
            <a:r>
              <a:t>Fixed seeds give reproducible counts. Constants still affect actual runtime.</a:t>
            </a:r>
          </a:p>
        </p:txBody>
      </p:sp>
      <p:sp>
        <p:nvSpPr>
          <p:cNvPr id="23" name="Rounded Rectangle 22"/>
          <p:cNvSpPr/>
          <p:nvPr/>
        </p:nvSpPr>
        <p:spPr>
          <a:xfrm>
            <a:off x="8293608" y="4690872"/>
            <a:ext cx="3136392" cy="512064"/>
          </a:xfrm>
          <a:prstGeom prst="roundRect">
            <a:avLst>
              <a:gd name="adj" fmla="val 6000"/>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03336" y="4791456"/>
            <a:ext cx="2916936" cy="347472"/>
          </a:xfrm>
          <a:prstGeom prst="rect">
            <a:avLst/>
          </a:prstGeom>
          <a:noFill/>
        </p:spPr>
        <p:txBody>
          <a:bodyPr wrap="square" lIns="0" rIns="0" tIns="0" bIns="0">
            <a:spAutoFit/>
          </a:bodyPr>
          <a:lstStyle/>
          <a:p>
            <a:pPr>
              <a:spcAft>
                <a:spcPts val="900"/>
              </a:spcAft>
              <a:defRPr sz="2000" b="1">
                <a:solidFill>
                  <a:srgbClr val="FFFFFF"/>
                </a:solidFill>
                <a:latin typeface="Arial"/>
              </a:defRPr>
            </a:pPr>
            <a:r>
              <a:t>No runtime claim</a:t>
            </a:r>
          </a:p>
        </p:txBody>
      </p:sp>
      <p:sp>
        <p:nvSpPr>
          <p:cNvPr id="25" name="Rounded Rectangle 24"/>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Counting only relaxations would hide the difference: both attempt E relaxations.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INPUT GENERATION AND VALIDATION</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Vary vertices and edges separately</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08</a:t>
            </a:r>
          </a:p>
        </p:txBody>
      </p:sp>
      <p:sp>
        <p:nvSpPr>
          <p:cNvPr id="7" name="Rounded Rectangle 6"/>
          <p:cNvSpPr/>
          <p:nvPr/>
        </p:nvSpPr>
        <p:spPr>
          <a:xfrm>
            <a:off x="502920"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01 • V SWEEP</a:t>
            </a:r>
          </a:p>
        </p:txBody>
      </p:sp>
      <p:sp>
        <p:nvSpPr>
          <p:cNvPr id="9" name="TextBox 8"/>
          <p:cNvSpPr txBox="1"/>
          <p:nvPr/>
        </p:nvSpPr>
        <p:spPr>
          <a:xfrm>
            <a:off x="722376"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Grow the graph</a:t>
            </a:r>
          </a:p>
        </p:txBody>
      </p:sp>
      <p:sp>
        <p:nvSpPr>
          <p:cNvPr id="10" name="TextBox 9"/>
          <p:cNvSpPr txBox="1"/>
          <p:nvPr/>
        </p:nvSpPr>
        <p:spPr>
          <a:xfrm>
            <a:off x="722376"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V: 24, 48, 96, 192, 384</a:t>
            </a:r>
          </a:p>
          <a:p>
            <a:pPr>
              <a:spcAft>
                <a:spcPts val="900"/>
              </a:spcAft>
              <a:defRPr sz="1900" b="0">
                <a:solidFill>
                  <a:srgbClr val="475569"/>
                </a:solidFill>
                <a:latin typeface="Arial"/>
              </a:defRPr>
            </a:pPr>
            <a:r>
              <a:t>Sparse: E = 4V</a:t>
            </a:r>
          </a:p>
          <a:p>
            <a:pPr>
              <a:spcAft>
                <a:spcPts val="900"/>
              </a:spcAft>
              <a:defRPr sz="1900" b="0">
                <a:solidFill>
                  <a:srgbClr val="475569"/>
                </a:solidFill>
                <a:latin typeface="Arial"/>
              </a:defRPr>
            </a:pPr>
            <a:r>
              <a:t>Dense: E = ⌊V(V − 1)/2⌋</a:t>
            </a:r>
          </a:p>
        </p:txBody>
      </p:sp>
      <p:sp>
        <p:nvSpPr>
          <p:cNvPr id="11" name="Rounded Rectangle 10"/>
          <p:cNvSpPr/>
          <p:nvPr/>
        </p:nvSpPr>
        <p:spPr>
          <a:xfrm>
            <a:off x="722376"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4791456"/>
            <a:ext cx="2916936" cy="347472"/>
          </a:xfrm>
          <a:prstGeom prst="rect">
            <a:avLst/>
          </a:prstGeom>
          <a:noFill/>
        </p:spPr>
        <p:txBody>
          <a:bodyPr wrap="square" lIns="0" rIns="0" tIns="0" bIns="0">
            <a:spAutoFit/>
          </a:bodyPr>
          <a:lstStyle/>
          <a:p>
            <a:pPr>
              <a:spcAft>
                <a:spcPts val="900"/>
              </a:spcAft>
              <a:defRPr sz="2000" b="1">
                <a:solidFill>
                  <a:srgbClr val="176B9B"/>
                </a:solidFill>
                <a:latin typeface="Arial"/>
              </a:defRPr>
            </a:pPr>
            <a:r>
              <a:t>3 seeds per setting</a:t>
            </a:r>
          </a:p>
        </p:txBody>
      </p:sp>
      <p:sp>
        <p:nvSpPr>
          <p:cNvPr id="13" name="Rounded Rectangle 12"/>
          <p:cNvSpPr/>
          <p:nvPr/>
        </p:nvSpPr>
        <p:spPr>
          <a:xfrm>
            <a:off x="4288536"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02 • E SWEEP</a:t>
            </a:r>
          </a:p>
        </p:txBody>
      </p:sp>
      <p:sp>
        <p:nvSpPr>
          <p:cNvPr id="15" name="TextBox 14"/>
          <p:cNvSpPr txBox="1"/>
          <p:nvPr/>
        </p:nvSpPr>
        <p:spPr>
          <a:xfrm>
            <a:off x="4507992"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Increase density</a:t>
            </a:r>
          </a:p>
        </p:txBody>
      </p:sp>
      <p:sp>
        <p:nvSpPr>
          <p:cNvPr id="16" name="TextBox 15"/>
          <p:cNvSpPr txBox="1"/>
          <p:nvPr/>
        </p:nvSpPr>
        <p:spPr>
          <a:xfrm>
            <a:off x="4507992"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Fix V = 192.</a:t>
            </a:r>
          </a:p>
          <a:p>
            <a:pPr>
              <a:spcAft>
                <a:spcPts val="900"/>
              </a:spcAft>
              <a:defRPr sz="1900" b="0">
                <a:solidFill>
                  <a:srgbClr val="475569"/>
                </a:solidFill>
                <a:latin typeface="Arial"/>
              </a:defRPr>
            </a:pPr>
            <a:r>
              <a:t>Increase E from 191 to 36,672.</a:t>
            </a:r>
          </a:p>
          <a:p>
            <a:pPr>
              <a:spcAft>
                <a:spcPts val="900"/>
              </a:spcAft>
              <a:defRPr sz="1900" b="0">
                <a:solidFill>
                  <a:srgbClr val="475569"/>
                </a:solidFill>
                <a:latin typeface="Arial"/>
              </a:defRPr>
            </a:pPr>
            <a:r>
              <a:t>Keep source = 0.</a:t>
            </a:r>
          </a:p>
        </p:txBody>
      </p:sp>
      <p:sp>
        <p:nvSpPr>
          <p:cNvPr id="17" name="Rounded Rectangle 16"/>
          <p:cNvSpPr/>
          <p:nvPr/>
        </p:nvSpPr>
        <p:spPr>
          <a:xfrm>
            <a:off x="4507992"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791456"/>
            <a:ext cx="2916936" cy="347472"/>
          </a:xfrm>
          <a:prstGeom prst="rect">
            <a:avLst/>
          </a:prstGeom>
          <a:noFill/>
        </p:spPr>
        <p:txBody>
          <a:bodyPr wrap="square" lIns="0" rIns="0" tIns="0" bIns="0">
            <a:spAutoFit/>
          </a:bodyPr>
          <a:lstStyle/>
          <a:p>
            <a:pPr>
              <a:spcAft>
                <a:spcPts val="900"/>
              </a:spcAft>
              <a:defRPr sz="2000" b="1">
                <a:solidFill>
                  <a:srgbClr val="176B9B"/>
                </a:solidFill>
                <a:latin typeface="Arial"/>
              </a:defRPr>
            </a:pPr>
            <a:r>
              <a:t>Identical inputs</a:t>
            </a:r>
          </a:p>
        </p:txBody>
      </p:sp>
      <p:sp>
        <p:nvSpPr>
          <p:cNvPr id="19" name="Rounded Rectangle 18"/>
          <p:cNvSpPr/>
          <p:nvPr/>
        </p:nvSpPr>
        <p:spPr>
          <a:xfrm>
            <a:off x="8074152" y="1755648"/>
            <a:ext cx="3575304" cy="3694176"/>
          </a:xfrm>
          <a:prstGeom prst="roundRect">
            <a:avLst>
              <a:gd name="adj" fmla="val 6000"/>
            </a:avLst>
          </a:prstGeom>
          <a:solidFill>
            <a:srgbClr val="12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1984248"/>
            <a:ext cx="3136392" cy="274320"/>
          </a:xfrm>
          <a:prstGeom prst="rect">
            <a:avLst/>
          </a:prstGeom>
          <a:noFill/>
        </p:spPr>
        <p:txBody>
          <a:bodyPr wrap="square" lIns="0" rIns="0" tIns="0" bIns="0">
            <a:spAutoFit/>
          </a:bodyPr>
          <a:lstStyle/>
          <a:p>
            <a:pPr>
              <a:spcAft>
                <a:spcPts val="900"/>
              </a:spcAft>
              <a:defRPr sz="1200" b="1">
                <a:solidFill>
                  <a:srgbClr val="38BDF8"/>
                </a:solidFill>
                <a:latin typeface="Arial"/>
              </a:defRPr>
            </a:pPr>
            <a:r>
              <a:t>03 • VALIDATE</a:t>
            </a:r>
          </a:p>
        </p:txBody>
      </p:sp>
      <p:sp>
        <p:nvSpPr>
          <p:cNvPr id="21" name="TextBox 20"/>
          <p:cNvSpPr txBox="1"/>
          <p:nvPr/>
        </p:nvSpPr>
        <p:spPr>
          <a:xfrm>
            <a:off x="8293608" y="2450592"/>
            <a:ext cx="3136392" cy="612648"/>
          </a:xfrm>
          <a:prstGeom prst="rect">
            <a:avLst/>
          </a:prstGeom>
          <a:noFill/>
        </p:spPr>
        <p:txBody>
          <a:bodyPr wrap="square" lIns="0" rIns="0" tIns="0" bIns="0">
            <a:spAutoFit/>
          </a:bodyPr>
          <a:lstStyle/>
          <a:p>
            <a:pPr>
              <a:spcAft>
                <a:spcPts val="900"/>
              </a:spcAft>
              <a:defRPr sz="2300" b="1">
                <a:solidFill>
                  <a:srgbClr val="FFFFFF"/>
                </a:solidFill>
                <a:latin typeface="Arial"/>
              </a:defRPr>
            </a:pPr>
            <a:r>
              <a:t>Independent oracle</a:t>
            </a:r>
          </a:p>
        </p:txBody>
      </p:sp>
      <p:sp>
        <p:nvSpPr>
          <p:cNvPr id="22" name="TextBox 21"/>
          <p:cNvSpPr txBox="1"/>
          <p:nvPr/>
        </p:nvSpPr>
        <p:spPr>
          <a:xfrm>
            <a:off x="8293608" y="3182112"/>
            <a:ext cx="3136392" cy="1243584"/>
          </a:xfrm>
          <a:prstGeom prst="rect">
            <a:avLst/>
          </a:prstGeom>
          <a:noFill/>
        </p:spPr>
        <p:txBody>
          <a:bodyPr wrap="square" lIns="0" rIns="0" tIns="0" bIns="0">
            <a:spAutoFit/>
          </a:bodyPr>
          <a:lstStyle/>
          <a:p>
            <a:pPr>
              <a:spcAft>
                <a:spcPts val="900"/>
              </a:spcAft>
              <a:defRPr sz="1900" b="0">
                <a:solidFill>
                  <a:srgbClr val="C8D5DF"/>
                </a:solidFill>
                <a:latin typeface="Arial"/>
              </a:defRPr>
            </a:pPr>
            <a:r>
              <a:t>Compare against Bellman–Ford. Check reconstructed paths and invalid inputs.</a:t>
            </a:r>
          </a:p>
        </p:txBody>
      </p:sp>
      <p:sp>
        <p:nvSpPr>
          <p:cNvPr id="23" name="Rounded Rectangle 22"/>
          <p:cNvSpPr/>
          <p:nvPr/>
        </p:nvSpPr>
        <p:spPr>
          <a:xfrm>
            <a:off x="8293608" y="4690872"/>
            <a:ext cx="3136392" cy="512064"/>
          </a:xfrm>
          <a:prstGeom prst="roundRect">
            <a:avLst>
              <a:gd name="adj" fmla="val 6000"/>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03336" y="4791456"/>
            <a:ext cx="2916936" cy="347472"/>
          </a:xfrm>
          <a:prstGeom prst="rect">
            <a:avLst/>
          </a:prstGeom>
          <a:noFill/>
        </p:spPr>
        <p:txBody>
          <a:bodyPr wrap="square" lIns="0" rIns="0" tIns="0" bIns="0">
            <a:spAutoFit/>
          </a:bodyPr>
          <a:lstStyle/>
          <a:p>
            <a:pPr>
              <a:spcAft>
                <a:spcPts val="900"/>
              </a:spcAft>
              <a:defRPr sz="2000" b="1">
                <a:solidFill>
                  <a:srgbClr val="FFFFFF"/>
                </a:solidFill>
                <a:latin typeface="Arial"/>
              </a:defRPr>
            </a:pPr>
            <a:r>
              <a:t>57 experiment graphs</a:t>
            </a:r>
          </a:p>
        </p:txBody>
      </p:sp>
      <p:sp>
        <p:nvSpPr>
          <p:cNvPr id="25" name="Rounded Rectangle 24"/>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All presentation plots use linear axes and one graph per 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A • IMPLEMENTATION</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Part A: scan the queue, then scan a matrix row</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09</a:t>
            </a:r>
          </a:p>
        </p:txBody>
      </p:sp>
      <p:sp>
        <p:nvSpPr>
          <p:cNvPr id="7" name="Rounded Rectangle 6"/>
          <p:cNvSpPr/>
          <p:nvPr/>
        </p:nvSpPr>
        <p:spPr>
          <a:xfrm>
            <a:off x="502920"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STEP 01</a:t>
            </a:r>
          </a:p>
        </p:txBody>
      </p:sp>
      <p:sp>
        <p:nvSpPr>
          <p:cNvPr id="9" name="TextBox 8"/>
          <p:cNvSpPr txBox="1"/>
          <p:nvPr/>
        </p:nvSpPr>
        <p:spPr>
          <a:xfrm>
            <a:off x="722376"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Extract minimum</a:t>
            </a:r>
          </a:p>
        </p:txBody>
      </p:sp>
      <p:sp>
        <p:nvSpPr>
          <p:cNvPr id="10" name="TextBox 9"/>
          <p:cNvSpPr txBox="1"/>
          <p:nvPr/>
        </p:nvSpPr>
        <p:spPr>
          <a:xfrm>
            <a:off x="722376"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Scan the remaining array entries; choose the smallest dist.</a:t>
            </a:r>
          </a:p>
        </p:txBody>
      </p:sp>
      <p:sp>
        <p:nvSpPr>
          <p:cNvPr id="11" name="Rounded Rectangle 10"/>
          <p:cNvSpPr/>
          <p:nvPr/>
        </p:nvSpPr>
        <p:spPr>
          <a:xfrm>
            <a:off x="722376"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4791456"/>
            <a:ext cx="2916936" cy="347472"/>
          </a:xfrm>
          <a:prstGeom prst="rect">
            <a:avLst/>
          </a:prstGeom>
          <a:noFill/>
        </p:spPr>
        <p:txBody>
          <a:bodyPr wrap="square" lIns="0" rIns="0" tIns="0" bIns="0">
            <a:spAutoFit/>
          </a:bodyPr>
          <a:lstStyle/>
          <a:p>
            <a:pPr>
              <a:spcAft>
                <a:spcPts val="900"/>
              </a:spcAft>
              <a:defRPr sz="1700" b="1">
                <a:solidFill>
                  <a:srgbClr val="176B9B"/>
                </a:solidFill>
                <a:latin typeface="Arial"/>
              </a:defRPr>
            </a:pPr>
            <a:r>
              <a:t>O(|Q|) per extraction</a:t>
            </a:r>
          </a:p>
        </p:txBody>
      </p:sp>
      <p:sp>
        <p:nvSpPr>
          <p:cNvPr id="13" name="Rounded Rectangle 12"/>
          <p:cNvSpPr/>
          <p:nvPr/>
        </p:nvSpPr>
        <p:spPr>
          <a:xfrm>
            <a:off x="4288536"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STEP 02</a:t>
            </a:r>
          </a:p>
        </p:txBody>
      </p:sp>
      <p:sp>
        <p:nvSpPr>
          <p:cNvPr id="15" name="TextBox 14"/>
          <p:cNvSpPr txBox="1"/>
          <p:nvPr/>
        </p:nvSpPr>
        <p:spPr>
          <a:xfrm>
            <a:off x="4507992"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Discover neighbors</a:t>
            </a:r>
          </a:p>
        </p:txBody>
      </p:sp>
      <p:sp>
        <p:nvSpPr>
          <p:cNvPr id="16" name="TextBox 15"/>
          <p:cNvSpPr txBox="1"/>
          <p:nvPr/>
        </p:nvSpPr>
        <p:spPr>
          <a:xfrm>
            <a:off x="4507992"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Read matrix[u][v] for every v. Relax only present edges.</a:t>
            </a:r>
          </a:p>
        </p:txBody>
      </p:sp>
      <p:sp>
        <p:nvSpPr>
          <p:cNvPr id="17" name="Rounded Rectangle 16"/>
          <p:cNvSpPr/>
          <p:nvPr/>
        </p:nvSpPr>
        <p:spPr>
          <a:xfrm>
            <a:off x="4507992"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791456"/>
            <a:ext cx="2916936" cy="347472"/>
          </a:xfrm>
          <a:prstGeom prst="rect">
            <a:avLst/>
          </a:prstGeom>
          <a:noFill/>
        </p:spPr>
        <p:txBody>
          <a:bodyPr wrap="square" lIns="0" rIns="0" tIns="0" bIns="0">
            <a:spAutoFit/>
          </a:bodyPr>
          <a:lstStyle/>
          <a:p>
            <a:pPr>
              <a:spcAft>
                <a:spcPts val="900"/>
              </a:spcAft>
              <a:defRPr sz="2000" b="1">
                <a:solidFill>
                  <a:srgbClr val="176B9B"/>
                </a:solidFill>
                <a:latin typeface="Arial"/>
              </a:defRPr>
            </a:pPr>
            <a:r>
              <a:t>V probes per vertex</a:t>
            </a:r>
          </a:p>
        </p:txBody>
      </p:sp>
      <p:sp>
        <p:nvSpPr>
          <p:cNvPr id="19" name="Rounded Rectangle 18"/>
          <p:cNvSpPr/>
          <p:nvPr/>
        </p:nvSpPr>
        <p:spPr>
          <a:xfrm>
            <a:off x="8074152" y="1755648"/>
            <a:ext cx="3575304" cy="3694176"/>
          </a:xfrm>
          <a:prstGeom prst="roundRect">
            <a:avLst>
              <a:gd name="adj" fmla="val 6000"/>
            </a:avLst>
          </a:prstGeom>
          <a:solidFill>
            <a:srgbClr val="12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1984248"/>
            <a:ext cx="3136392" cy="274320"/>
          </a:xfrm>
          <a:prstGeom prst="rect">
            <a:avLst/>
          </a:prstGeom>
          <a:noFill/>
        </p:spPr>
        <p:txBody>
          <a:bodyPr wrap="square" lIns="0" rIns="0" tIns="0" bIns="0">
            <a:spAutoFit/>
          </a:bodyPr>
          <a:lstStyle/>
          <a:p>
            <a:pPr>
              <a:spcAft>
                <a:spcPts val="900"/>
              </a:spcAft>
              <a:defRPr sz="1200" b="1">
                <a:solidFill>
                  <a:srgbClr val="38BDF8"/>
                </a:solidFill>
                <a:latin typeface="Arial"/>
              </a:defRPr>
            </a:pPr>
            <a:r>
              <a:t>STEP 03</a:t>
            </a:r>
          </a:p>
        </p:txBody>
      </p:sp>
      <p:sp>
        <p:nvSpPr>
          <p:cNvPr id="21" name="TextBox 20"/>
          <p:cNvSpPr txBox="1"/>
          <p:nvPr/>
        </p:nvSpPr>
        <p:spPr>
          <a:xfrm>
            <a:off x="8293608" y="2450592"/>
            <a:ext cx="3136392" cy="612648"/>
          </a:xfrm>
          <a:prstGeom prst="rect">
            <a:avLst/>
          </a:prstGeom>
          <a:noFill/>
        </p:spPr>
        <p:txBody>
          <a:bodyPr wrap="square" lIns="0" rIns="0" tIns="0" bIns="0">
            <a:spAutoFit/>
          </a:bodyPr>
          <a:lstStyle/>
          <a:p>
            <a:pPr>
              <a:spcAft>
                <a:spcPts val="900"/>
              </a:spcAft>
              <a:defRPr sz="2300" b="1">
                <a:solidFill>
                  <a:srgbClr val="FFFFFF"/>
                </a:solidFill>
                <a:latin typeface="Arial"/>
              </a:defRPr>
            </a:pPr>
            <a:r>
              <a:t>Update distance</a:t>
            </a:r>
          </a:p>
        </p:txBody>
      </p:sp>
      <p:sp>
        <p:nvSpPr>
          <p:cNvPr id="22" name="TextBox 21"/>
          <p:cNvSpPr txBox="1"/>
          <p:nvPr/>
        </p:nvSpPr>
        <p:spPr>
          <a:xfrm>
            <a:off x="8293608" y="3182112"/>
            <a:ext cx="3136392" cy="1243584"/>
          </a:xfrm>
          <a:prstGeom prst="rect">
            <a:avLst/>
          </a:prstGeom>
          <a:noFill/>
        </p:spPr>
        <p:txBody>
          <a:bodyPr wrap="square" lIns="0" rIns="0" tIns="0" bIns="0">
            <a:spAutoFit/>
          </a:bodyPr>
          <a:lstStyle/>
          <a:p>
            <a:pPr>
              <a:spcAft>
                <a:spcPts val="900"/>
              </a:spcAft>
              <a:defRPr sz="1900" b="0">
                <a:solidFill>
                  <a:srgbClr val="C8D5DF"/>
                </a:solidFill>
                <a:latin typeface="Arial"/>
              </a:defRPr>
            </a:pPr>
            <a:r>
              <a:t>Write dist[v] and parent[v]. Queue reads the updated distance directly.</a:t>
            </a:r>
          </a:p>
        </p:txBody>
      </p:sp>
      <p:sp>
        <p:nvSpPr>
          <p:cNvPr id="23" name="Rounded Rectangle 22"/>
          <p:cNvSpPr/>
          <p:nvPr/>
        </p:nvSpPr>
        <p:spPr>
          <a:xfrm>
            <a:off x="8293608" y="4690872"/>
            <a:ext cx="3136392" cy="512064"/>
          </a:xfrm>
          <a:prstGeom prst="roundRect">
            <a:avLst>
              <a:gd name="adj" fmla="val 6000"/>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03336" y="4791456"/>
            <a:ext cx="2916936" cy="347472"/>
          </a:xfrm>
          <a:prstGeom prst="rect">
            <a:avLst/>
          </a:prstGeom>
          <a:noFill/>
        </p:spPr>
        <p:txBody>
          <a:bodyPr wrap="square" lIns="0" rIns="0" tIns="0" bIns="0">
            <a:spAutoFit/>
          </a:bodyPr>
          <a:lstStyle/>
          <a:p>
            <a:pPr>
              <a:spcAft>
                <a:spcPts val="900"/>
              </a:spcAft>
              <a:defRPr sz="2000" b="1">
                <a:solidFill>
                  <a:srgbClr val="FFFFFF"/>
                </a:solidFill>
                <a:latin typeface="Arial"/>
              </a:defRPr>
            </a:pPr>
            <a:r>
              <a:t>O(1) per update</a:t>
            </a:r>
          </a:p>
        </p:txBody>
      </p:sp>
      <p:sp>
        <p:nvSpPr>
          <p:cNvPr id="25" name="Rounded Rectangle 24"/>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Matrix = edge discovery. Array queue = choice of the next vertex.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A • THEORETICAL ANALYSIS</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Part A: two sources of quadratic work</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12</a:t>
            </a:r>
          </a:p>
        </p:txBody>
      </p:sp>
      <p:sp>
        <p:nvSpPr>
          <p:cNvPr id="7" name="Rounded Rectangle 6"/>
          <p:cNvSpPr/>
          <p:nvPr/>
        </p:nvSpPr>
        <p:spPr>
          <a:xfrm>
            <a:off x="502920"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STEP 01</a:t>
            </a:r>
          </a:p>
        </p:txBody>
      </p:sp>
      <p:sp>
        <p:nvSpPr>
          <p:cNvPr id="9" name="TextBox 8"/>
          <p:cNvSpPr txBox="1"/>
          <p:nvPr/>
        </p:nvSpPr>
        <p:spPr>
          <a:xfrm>
            <a:off x="722376"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Queue selection</a:t>
            </a:r>
          </a:p>
        </p:txBody>
      </p:sp>
      <p:sp>
        <p:nvSpPr>
          <p:cNvPr id="10" name="TextBox 9"/>
          <p:cNvSpPr txBox="1"/>
          <p:nvPr/>
        </p:nvSpPr>
        <p:spPr>
          <a:xfrm>
            <a:off x="722376"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(V − 1) + (V − 2) + … + 0 comparisons.</a:t>
            </a:r>
          </a:p>
        </p:txBody>
      </p:sp>
      <p:sp>
        <p:nvSpPr>
          <p:cNvPr id="11" name="Rounded Rectangle 10"/>
          <p:cNvSpPr/>
          <p:nvPr/>
        </p:nvSpPr>
        <p:spPr>
          <a:xfrm>
            <a:off x="722376"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4791456"/>
            <a:ext cx="2916936" cy="347472"/>
          </a:xfrm>
          <a:prstGeom prst="rect">
            <a:avLst/>
          </a:prstGeom>
          <a:noFill/>
        </p:spPr>
        <p:txBody>
          <a:bodyPr wrap="square" lIns="0" rIns="0" tIns="0" bIns="0">
            <a:spAutoFit/>
          </a:bodyPr>
          <a:lstStyle/>
          <a:p>
            <a:pPr>
              <a:spcAft>
                <a:spcPts val="900"/>
              </a:spcAft>
              <a:defRPr sz="2000" b="1">
                <a:solidFill>
                  <a:srgbClr val="176B9B"/>
                </a:solidFill>
                <a:latin typeface="Arial"/>
              </a:defRPr>
            </a:pPr>
            <a:r>
              <a:t>V(V − 1)/2</a:t>
            </a:r>
          </a:p>
        </p:txBody>
      </p:sp>
      <p:sp>
        <p:nvSpPr>
          <p:cNvPr id="13" name="Rounded Rectangle 12"/>
          <p:cNvSpPr/>
          <p:nvPr/>
        </p:nvSpPr>
        <p:spPr>
          <a:xfrm>
            <a:off x="4288536"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STEP 02</a:t>
            </a:r>
          </a:p>
        </p:txBody>
      </p:sp>
      <p:sp>
        <p:nvSpPr>
          <p:cNvPr id="15" name="TextBox 14"/>
          <p:cNvSpPr txBox="1"/>
          <p:nvPr/>
        </p:nvSpPr>
        <p:spPr>
          <a:xfrm>
            <a:off x="4507992"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Matrix traversal</a:t>
            </a:r>
          </a:p>
        </p:txBody>
      </p:sp>
      <p:sp>
        <p:nvSpPr>
          <p:cNvPr id="16" name="TextBox 15"/>
          <p:cNvSpPr txBox="1"/>
          <p:nvPr/>
        </p:nvSpPr>
        <p:spPr>
          <a:xfrm>
            <a:off x="4507992"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V rows, each with V cells.</a:t>
            </a:r>
          </a:p>
          <a:p>
            <a:pPr>
              <a:spcAft>
                <a:spcPts val="900"/>
              </a:spcAft>
              <a:defRPr sz="1900" b="0">
                <a:solidFill>
                  <a:srgbClr val="475569"/>
                </a:solidFill>
                <a:latin typeface="Arial"/>
              </a:defRPr>
            </a:pPr>
            <a:r>
              <a:t>Plus E relaxation checks and R successful updates.</a:t>
            </a:r>
          </a:p>
        </p:txBody>
      </p:sp>
      <p:sp>
        <p:nvSpPr>
          <p:cNvPr id="17" name="Rounded Rectangle 16"/>
          <p:cNvSpPr/>
          <p:nvPr/>
        </p:nvSpPr>
        <p:spPr>
          <a:xfrm>
            <a:off x="4507992"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791456"/>
            <a:ext cx="2916936" cy="347472"/>
          </a:xfrm>
          <a:prstGeom prst="rect">
            <a:avLst/>
          </a:prstGeom>
          <a:noFill/>
        </p:spPr>
        <p:txBody>
          <a:bodyPr wrap="square" lIns="0" rIns="0" tIns="0" bIns="0">
            <a:spAutoFit/>
          </a:bodyPr>
          <a:lstStyle/>
          <a:p>
            <a:pPr>
              <a:spcAft>
                <a:spcPts val="900"/>
              </a:spcAft>
              <a:defRPr sz="2000" b="1">
                <a:solidFill>
                  <a:srgbClr val="176B9B"/>
                </a:solidFill>
                <a:latin typeface="Arial"/>
              </a:defRPr>
            </a:pPr>
            <a:r>
              <a:t>V² + E + R</a:t>
            </a:r>
          </a:p>
        </p:txBody>
      </p:sp>
      <p:sp>
        <p:nvSpPr>
          <p:cNvPr id="19" name="Rounded Rectangle 18"/>
          <p:cNvSpPr/>
          <p:nvPr/>
        </p:nvSpPr>
        <p:spPr>
          <a:xfrm>
            <a:off x="8074152" y="1755648"/>
            <a:ext cx="3575304" cy="3694176"/>
          </a:xfrm>
          <a:prstGeom prst="roundRect">
            <a:avLst>
              <a:gd name="adj" fmla="val 6000"/>
            </a:avLst>
          </a:prstGeom>
          <a:solidFill>
            <a:srgbClr val="12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1984248"/>
            <a:ext cx="3136392" cy="274320"/>
          </a:xfrm>
          <a:prstGeom prst="rect">
            <a:avLst/>
          </a:prstGeom>
          <a:noFill/>
        </p:spPr>
        <p:txBody>
          <a:bodyPr wrap="square" lIns="0" rIns="0" tIns="0" bIns="0">
            <a:spAutoFit/>
          </a:bodyPr>
          <a:lstStyle/>
          <a:p>
            <a:pPr>
              <a:spcAft>
                <a:spcPts val="900"/>
              </a:spcAft>
              <a:defRPr sz="1200" b="1">
                <a:solidFill>
                  <a:srgbClr val="38BDF8"/>
                </a:solidFill>
                <a:latin typeface="Arial"/>
              </a:defRPr>
            </a:pPr>
            <a:r>
              <a:t>CONCLUSION</a:t>
            </a:r>
          </a:p>
        </p:txBody>
      </p:sp>
      <p:sp>
        <p:nvSpPr>
          <p:cNvPr id="21" name="TextBox 20"/>
          <p:cNvSpPr txBox="1"/>
          <p:nvPr/>
        </p:nvSpPr>
        <p:spPr>
          <a:xfrm>
            <a:off x="8293608" y="2450592"/>
            <a:ext cx="3136392" cy="612648"/>
          </a:xfrm>
          <a:prstGeom prst="rect">
            <a:avLst/>
          </a:prstGeom>
          <a:noFill/>
        </p:spPr>
        <p:txBody>
          <a:bodyPr wrap="square" lIns="0" rIns="0" tIns="0" bIns="0">
            <a:spAutoFit/>
          </a:bodyPr>
          <a:lstStyle/>
          <a:p>
            <a:pPr>
              <a:spcAft>
                <a:spcPts val="900"/>
              </a:spcAft>
              <a:defRPr sz="2300" b="1">
                <a:solidFill>
                  <a:srgbClr val="FFFFFF"/>
                </a:solidFill>
                <a:latin typeface="Arial"/>
              </a:defRPr>
            </a:pPr>
            <a:r>
              <a:t>Total complexity</a:t>
            </a:r>
          </a:p>
        </p:txBody>
      </p:sp>
      <p:sp>
        <p:nvSpPr>
          <p:cNvPr id="22" name="TextBox 21"/>
          <p:cNvSpPr txBox="1"/>
          <p:nvPr/>
        </p:nvSpPr>
        <p:spPr>
          <a:xfrm>
            <a:off x="8293608" y="3182112"/>
            <a:ext cx="3136392" cy="1243584"/>
          </a:xfrm>
          <a:prstGeom prst="rect">
            <a:avLst/>
          </a:prstGeom>
          <a:noFill/>
        </p:spPr>
        <p:txBody>
          <a:bodyPr wrap="square" lIns="0" rIns="0" tIns="0" bIns="0">
            <a:spAutoFit/>
          </a:bodyPr>
          <a:lstStyle/>
          <a:p>
            <a:pPr>
              <a:spcAft>
                <a:spcPts val="900"/>
              </a:spcAft>
              <a:defRPr sz="1900" b="0">
                <a:solidFill>
                  <a:srgbClr val="C8D5DF"/>
                </a:solidFill>
                <a:latin typeface="Arial"/>
              </a:defRPr>
            </a:pPr>
            <a:r>
              <a:t>E ≤ V(V − 1), and R ≤ E.</a:t>
            </a:r>
          </a:p>
          <a:p>
            <a:pPr>
              <a:spcAft>
                <a:spcPts val="900"/>
              </a:spcAft>
              <a:defRPr sz="1900" b="0">
                <a:solidFill>
                  <a:srgbClr val="C8D5DF"/>
                </a:solidFill>
                <a:latin typeface="Arial"/>
              </a:defRPr>
            </a:pPr>
            <a:r>
              <a:t>Matrix storage: Θ(V²).</a:t>
            </a:r>
          </a:p>
          <a:p>
            <a:pPr>
              <a:spcAft>
                <a:spcPts val="900"/>
              </a:spcAft>
              <a:defRPr sz="1900" b="0">
                <a:solidFill>
                  <a:srgbClr val="C8D5DF"/>
                </a:solidFill>
                <a:latin typeface="Arial"/>
              </a:defRPr>
            </a:pPr>
            <a:r>
              <a:t>Auxiliary storage: Θ(V).</a:t>
            </a:r>
          </a:p>
        </p:txBody>
      </p:sp>
      <p:sp>
        <p:nvSpPr>
          <p:cNvPr id="23" name="Rounded Rectangle 22"/>
          <p:cNvSpPr/>
          <p:nvPr/>
        </p:nvSpPr>
        <p:spPr>
          <a:xfrm>
            <a:off x="8293608" y="4690872"/>
            <a:ext cx="3136392" cy="512064"/>
          </a:xfrm>
          <a:prstGeom prst="roundRect">
            <a:avLst>
              <a:gd name="adj" fmla="val 6000"/>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03336" y="4791456"/>
            <a:ext cx="2916936" cy="347472"/>
          </a:xfrm>
          <a:prstGeom prst="rect">
            <a:avLst/>
          </a:prstGeom>
          <a:noFill/>
        </p:spPr>
        <p:txBody>
          <a:bodyPr wrap="square" lIns="0" rIns="0" tIns="0" bIns="0">
            <a:spAutoFit/>
          </a:bodyPr>
          <a:lstStyle/>
          <a:p>
            <a:pPr>
              <a:spcAft>
                <a:spcPts val="900"/>
              </a:spcAft>
              <a:defRPr sz="2000" b="1">
                <a:solidFill>
                  <a:srgbClr val="FFFFFF"/>
                </a:solidFill>
                <a:latin typeface="Arial"/>
              </a:defRPr>
            </a:pPr>
            <a:r>
              <a:t>Θ(V² + E) = Θ(V²)</a:t>
            </a:r>
          </a:p>
        </p:txBody>
      </p:sp>
      <p:sp>
        <p:nvSpPr>
          <p:cNvPr id="25" name="Rounded Rectangle 24"/>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Even a sparse graph pays for all V² possible-neighbor checks.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A • V SWEEP</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Part A: sparse graphs still incur quadratic work</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13</a:t>
            </a:r>
          </a:p>
        </p:txBody>
      </p:sp>
      <p:pic>
        <p:nvPicPr>
          <p:cNvPr id="7" name="Picture 6" descr="chart_01.png"/>
          <p:cNvPicPr>
            <a:picLocks noChangeAspect="1"/>
          </p:cNvPicPr>
          <p:nvPr/>
        </p:nvPicPr>
        <p:blipFill>
          <a:blip r:embed="rId3"/>
          <a:stretch>
            <a:fillRect/>
          </a:stretch>
        </p:blipFill>
        <p:spPr>
          <a:xfrm>
            <a:off x="995033" y="1435608"/>
            <a:ext cx="6596149" cy="4206240"/>
          </a:xfrm>
          <a:prstGeom prst="rect">
            <a:avLst/>
          </a:prstGeom>
        </p:spPr>
      </p:pic>
      <p:sp>
        <p:nvSpPr>
          <p:cNvPr id="8" name="Rounded Rectangle 7"/>
          <p:cNvSpPr/>
          <p:nvPr/>
        </p:nvSpPr>
        <p:spPr>
          <a:xfrm>
            <a:off x="8348472" y="1700784"/>
            <a:ext cx="3291840" cy="3785615"/>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1947672"/>
            <a:ext cx="2834640" cy="722376"/>
          </a:xfrm>
          <a:prstGeom prst="rect">
            <a:avLst/>
          </a:prstGeom>
          <a:noFill/>
        </p:spPr>
        <p:txBody>
          <a:bodyPr wrap="square" lIns="0" rIns="0" tIns="0" bIns="0">
            <a:spAutoFit/>
          </a:bodyPr>
          <a:lstStyle/>
          <a:p>
            <a:pPr>
              <a:spcAft>
                <a:spcPts val="900"/>
              </a:spcAft>
              <a:defRPr sz="2500" b="1">
                <a:solidFill>
                  <a:srgbClr val="176B9B"/>
                </a:solidFill>
                <a:latin typeface="Arial"/>
              </a:defRPr>
            </a:pPr>
            <a:r>
              <a:t>E = 4V</a:t>
            </a:r>
          </a:p>
        </p:txBody>
      </p:sp>
      <p:sp>
        <p:nvSpPr>
          <p:cNvPr id="10" name="TextBox 9"/>
          <p:cNvSpPr txBox="1"/>
          <p:nvPr/>
        </p:nvSpPr>
        <p:spPr>
          <a:xfrm>
            <a:off x="8577072" y="2880360"/>
            <a:ext cx="2834640" cy="2286000"/>
          </a:xfrm>
          <a:prstGeom prst="rect">
            <a:avLst/>
          </a:prstGeom>
          <a:noFill/>
        </p:spPr>
        <p:txBody>
          <a:bodyPr wrap="square" lIns="0" rIns="0" tIns="0" bIns="0">
            <a:spAutoFit/>
          </a:bodyPr>
          <a:lstStyle/>
          <a:p>
            <a:pPr>
              <a:spcAft>
                <a:spcPts val="900"/>
              </a:spcAft>
              <a:defRPr sz="1900" b="0">
                <a:solidFill>
                  <a:srgbClr val="475569"/>
                </a:solidFill>
                <a:latin typeface="Arial"/>
              </a:defRPr>
            </a:pPr>
            <a:r>
              <a:t>Most edges are absent.</a:t>
            </a:r>
          </a:p>
          <a:p>
            <a:pPr>
              <a:spcAft>
                <a:spcPts val="900"/>
              </a:spcAft>
              <a:defRPr sz="1900" b="0">
                <a:solidFill>
                  <a:srgbClr val="475569"/>
                </a:solidFill>
                <a:latin typeface="Arial"/>
              </a:defRPr>
            </a:pPr>
          </a:p>
          <a:p>
            <a:pPr>
              <a:spcAft>
                <a:spcPts val="900"/>
              </a:spcAft>
              <a:defRPr sz="1900" b="0">
                <a:solidFill>
                  <a:srgbClr val="475569"/>
                </a:solidFill>
                <a:latin typeface="Arial"/>
              </a:defRPr>
            </a:pPr>
            <a:r>
              <a:t>The matrix and queue scans still grow quadratically.</a:t>
            </a:r>
          </a:p>
        </p:txBody>
      </p:sp>
      <p:sp>
        <p:nvSpPr>
          <p:cNvPr id="11" name="Rounded Rectangle 10"/>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Measured growth follows the V² reference.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A • V SWEEP</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Part A: dense graphs show the same growth order</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14</a:t>
            </a:r>
          </a:p>
        </p:txBody>
      </p:sp>
      <p:pic>
        <p:nvPicPr>
          <p:cNvPr id="7" name="Picture 6" descr="chart_02.png"/>
          <p:cNvPicPr>
            <a:picLocks noChangeAspect="1"/>
          </p:cNvPicPr>
          <p:nvPr/>
        </p:nvPicPr>
        <p:blipFill>
          <a:blip r:embed="rId3"/>
          <a:stretch>
            <a:fillRect/>
          </a:stretch>
        </p:blipFill>
        <p:spPr>
          <a:xfrm>
            <a:off x="995033" y="1435608"/>
            <a:ext cx="6596149" cy="4206240"/>
          </a:xfrm>
          <a:prstGeom prst="rect">
            <a:avLst/>
          </a:prstGeom>
        </p:spPr>
      </p:pic>
      <p:sp>
        <p:nvSpPr>
          <p:cNvPr id="8" name="Rounded Rectangle 7"/>
          <p:cNvSpPr/>
          <p:nvPr/>
        </p:nvSpPr>
        <p:spPr>
          <a:xfrm>
            <a:off x="8348472" y="1700784"/>
            <a:ext cx="3291840" cy="3785615"/>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1947672"/>
            <a:ext cx="2834640" cy="722376"/>
          </a:xfrm>
          <a:prstGeom prst="rect">
            <a:avLst/>
          </a:prstGeom>
          <a:noFill/>
        </p:spPr>
        <p:txBody>
          <a:bodyPr wrap="square" lIns="0" rIns="0" tIns="0" bIns="0">
            <a:spAutoFit/>
          </a:bodyPr>
          <a:lstStyle/>
          <a:p>
            <a:pPr>
              <a:spcAft>
                <a:spcPts val="900"/>
              </a:spcAft>
              <a:defRPr sz="2500" b="1">
                <a:solidFill>
                  <a:srgbClr val="176B9B"/>
                </a:solidFill>
                <a:latin typeface="Arial"/>
              </a:defRPr>
            </a:pPr>
            <a:r>
              <a:t>E ≈ V² / 2</a:t>
            </a:r>
          </a:p>
        </p:txBody>
      </p:sp>
      <p:sp>
        <p:nvSpPr>
          <p:cNvPr id="10" name="TextBox 9"/>
          <p:cNvSpPr txBox="1"/>
          <p:nvPr/>
        </p:nvSpPr>
        <p:spPr>
          <a:xfrm>
            <a:off x="8577072" y="2880360"/>
            <a:ext cx="2834640" cy="2286000"/>
          </a:xfrm>
          <a:prstGeom prst="rect">
            <a:avLst/>
          </a:prstGeom>
          <a:noFill/>
        </p:spPr>
        <p:txBody>
          <a:bodyPr wrap="square" lIns="0" rIns="0" tIns="0" bIns="0">
            <a:spAutoFit/>
          </a:bodyPr>
          <a:lstStyle/>
          <a:p>
            <a:pPr>
              <a:spcAft>
                <a:spcPts val="900"/>
              </a:spcAft>
              <a:defRPr sz="1900" b="0">
                <a:solidFill>
                  <a:srgbClr val="475569"/>
                </a:solidFill>
                <a:latin typeface="Arial"/>
              </a:defRPr>
            </a:pPr>
            <a:r>
              <a:t>More edges add relaxation work.</a:t>
            </a:r>
          </a:p>
          <a:p>
            <a:pPr>
              <a:spcAft>
                <a:spcPts val="900"/>
              </a:spcAft>
              <a:defRPr sz="1900" b="0">
                <a:solidFill>
                  <a:srgbClr val="475569"/>
                </a:solidFill>
                <a:latin typeface="Arial"/>
              </a:defRPr>
            </a:pPr>
          </a:p>
          <a:p>
            <a:pPr>
              <a:spcAft>
                <a:spcPts val="900"/>
              </a:spcAft>
              <a:defRPr sz="1900" b="0">
                <a:solidFill>
                  <a:srgbClr val="475569"/>
                </a:solidFill>
                <a:latin typeface="Arial"/>
              </a:defRPr>
            </a:pPr>
            <a:r>
              <a:t>The dominant growth remains quadratic.</a:t>
            </a:r>
          </a:p>
        </p:txBody>
      </p:sp>
      <p:sp>
        <p:nvSpPr>
          <p:cNvPr id="11" name="Rounded Rectangle 10"/>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Dense inputs add work without changing A’s Θ(V²) bound.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A • E SWEEP</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Part A: at fixed V, scan costs remain constant</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15</a:t>
            </a:r>
          </a:p>
        </p:txBody>
      </p:sp>
      <p:pic>
        <p:nvPicPr>
          <p:cNvPr id="7" name="Picture 6" descr="chart_03.png"/>
          <p:cNvPicPr>
            <a:picLocks noChangeAspect="1"/>
          </p:cNvPicPr>
          <p:nvPr/>
        </p:nvPicPr>
        <p:blipFill>
          <a:blip r:embed="rId3"/>
          <a:stretch>
            <a:fillRect/>
          </a:stretch>
        </p:blipFill>
        <p:spPr>
          <a:xfrm>
            <a:off x="995033" y="1435608"/>
            <a:ext cx="6596149" cy="4206240"/>
          </a:xfrm>
          <a:prstGeom prst="rect">
            <a:avLst/>
          </a:prstGeom>
        </p:spPr>
      </p:pic>
      <p:sp>
        <p:nvSpPr>
          <p:cNvPr id="8" name="Rounded Rectangle 7"/>
          <p:cNvSpPr/>
          <p:nvPr/>
        </p:nvSpPr>
        <p:spPr>
          <a:xfrm>
            <a:off x="8348472" y="1700784"/>
            <a:ext cx="3291840" cy="3785615"/>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1947672"/>
            <a:ext cx="2834640" cy="722376"/>
          </a:xfrm>
          <a:prstGeom prst="rect">
            <a:avLst/>
          </a:prstGeom>
          <a:noFill/>
        </p:spPr>
        <p:txBody>
          <a:bodyPr wrap="square" lIns="0" rIns="0" tIns="0" bIns="0">
            <a:spAutoFit/>
          </a:bodyPr>
          <a:lstStyle/>
          <a:p>
            <a:pPr>
              <a:spcAft>
                <a:spcPts val="900"/>
              </a:spcAft>
              <a:defRPr sz="2500" b="1">
                <a:solidFill>
                  <a:srgbClr val="176B9B"/>
                </a:solidFill>
                <a:latin typeface="Arial"/>
              </a:defRPr>
            </a:pPr>
            <a:r>
              <a:t>V = 192</a:t>
            </a:r>
          </a:p>
        </p:txBody>
      </p:sp>
      <p:sp>
        <p:nvSpPr>
          <p:cNvPr id="10" name="TextBox 9"/>
          <p:cNvSpPr txBox="1"/>
          <p:nvPr/>
        </p:nvSpPr>
        <p:spPr>
          <a:xfrm>
            <a:off x="8577072" y="2880360"/>
            <a:ext cx="2834640" cy="2286000"/>
          </a:xfrm>
          <a:prstGeom prst="rect">
            <a:avLst/>
          </a:prstGeom>
          <a:noFill/>
        </p:spPr>
        <p:txBody>
          <a:bodyPr wrap="square" lIns="0" rIns="0" tIns="0" bIns="0">
            <a:spAutoFit/>
          </a:bodyPr>
          <a:lstStyle/>
          <a:p>
            <a:pPr>
              <a:spcAft>
                <a:spcPts val="900"/>
              </a:spcAft>
              <a:defRPr sz="1900" b="0">
                <a:solidFill>
                  <a:srgbClr val="475569"/>
                </a:solidFill>
                <a:latin typeface="Arial"/>
              </a:defRPr>
            </a:pPr>
            <a:r>
              <a:t>36,864 matrix probes.</a:t>
            </a:r>
          </a:p>
          <a:p>
            <a:pPr>
              <a:spcAft>
                <a:spcPts val="900"/>
              </a:spcAft>
              <a:defRPr sz="1900" b="0">
                <a:solidFill>
                  <a:srgbClr val="475569"/>
                </a:solidFill>
                <a:latin typeface="Arial"/>
              </a:defRPr>
            </a:pPr>
          </a:p>
          <a:p>
            <a:pPr>
              <a:spcAft>
                <a:spcPts val="900"/>
              </a:spcAft>
              <a:defRPr sz="1900" b="0">
                <a:solidFill>
                  <a:srgbClr val="475569"/>
                </a:solidFill>
                <a:latin typeface="Arial"/>
              </a:defRPr>
            </a:pPr>
            <a:r>
              <a:t>18,336 queue comparisons.</a:t>
            </a:r>
          </a:p>
          <a:p>
            <a:pPr>
              <a:spcAft>
                <a:spcPts val="900"/>
              </a:spcAft>
              <a:defRPr sz="1900" b="0">
                <a:solidFill>
                  <a:srgbClr val="475569"/>
                </a:solidFill>
                <a:latin typeface="Arial"/>
              </a:defRPr>
            </a:pPr>
          </a:p>
          <a:p>
            <a:pPr>
              <a:spcAft>
                <a:spcPts val="900"/>
              </a:spcAft>
              <a:defRPr sz="1900" b="0">
                <a:solidFill>
                  <a:srgbClr val="475569"/>
                </a:solidFill>
                <a:latin typeface="Arial"/>
              </a:defRPr>
            </a:pPr>
            <a:r>
              <a:t>More edges add relaxations.</a:t>
            </a:r>
          </a:p>
        </p:txBody>
      </p:sp>
      <p:sp>
        <p:nvSpPr>
          <p:cNvPr id="11" name="Rounded Rectangle 10"/>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Increasing E adds work above an already large fixed baseline.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B • IMPLEMENTATION</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Part B: visit existing edges and repair the heap</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16</a:t>
            </a:r>
          </a:p>
        </p:txBody>
      </p:sp>
      <p:sp>
        <p:nvSpPr>
          <p:cNvPr id="7" name="Rounded Rectangle 6"/>
          <p:cNvSpPr/>
          <p:nvPr/>
        </p:nvSpPr>
        <p:spPr>
          <a:xfrm>
            <a:off x="502920"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STEP 01</a:t>
            </a:r>
          </a:p>
        </p:txBody>
      </p:sp>
      <p:sp>
        <p:nvSpPr>
          <p:cNvPr id="9" name="TextBox 8"/>
          <p:cNvSpPr txBox="1"/>
          <p:nvPr/>
        </p:nvSpPr>
        <p:spPr>
          <a:xfrm>
            <a:off x="722376"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Extract minimum</a:t>
            </a:r>
          </a:p>
        </p:txBody>
      </p:sp>
      <p:sp>
        <p:nvSpPr>
          <p:cNvPr id="10" name="TextBox 9"/>
          <p:cNvSpPr txBox="1"/>
          <p:nvPr/>
        </p:nvSpPr>
        <p:spPr>
          <a:xfrm>
            <a:off x="722376"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Remove the root of an indexed binary min-heap.</a:t>
            </a:r>
          </a:p>
        </p:txBody>
      </p:sp>
      <p:sp>
        <p:nvSpPr>
          <p:cNvPr id="11" name="Rounded Rectangle 10"/>
          <p:cNvSpPr/>
          <p:nvPr/>
        </p:nvSpPr>
        <p:spPr>
          <a:xfrm>
            <a:off x="722376"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4791456"/>
            <a:ext cx="2916936" cy="347472"/>
          </a:xfrm>
          <a:prstGeom prst="rect">
            <a:avLst/>
          </a:prstGeom>
          <a:noFill/>
        </p:spPr>
        <p:txBody>
          <a:bodyPr wrap="square" lIns="0" rIns="0" tIns="0" bIns="0">
            <a:spAutoFit/>
          </a:bodyPr>
          <a:lstStyle/>
          <a:p>
            <a:pPr>
              <a:spcAft>
                <a:spcPts val="900"/>
              </a:spcAft>
              <a:defRPr sz="2000" b="1">
                <a:solidFill>
                  <a:srgbClr val="176B9B"/>
                </a:solidFill>
                <a:latin typeface="Arial"/>
              </a:defRPr>
            </a:pPr>
            <a:r>
              <a:t>O(log V)</a:t>
            </a:r>
          </a:p>
        </p:txBody>
      </p:sp>
      <p:sp>
        <p:nvSpPr>
          <p:cNvPr id="13" name="Rounded Rectangle 12"/>
          <p:cNvSpPr/>
          <p:nvPr/>
        </p:nvSpPr>
        <p:spPr>
          <a:xfrm>
            <a:off x="4288536"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STEP 02</a:t>
            </a:r>
          </a:p>
        </p:txBody>
      </p:sp>
      <p:sp>
        <p:nvSpPr>
          <p:cNvPr id="15" name="TextBox 14"/>
          <p:cNvSpPr txBox="1"/>
          <p:nvPr/>
        </p:nvSpPr>
        <p:spPr>
          <a:xfrm>
            <a:off x="4507992"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Visit neighbors</a:t>
            </a:r>
          </a:p>
        </p:txBody>
      </p:sp>
      <p:sp>
        <p:nvSpPr>
          <p:cNvPr id="16" name="TextBox 15"/>
          <p:cNvSpPr txBox="1"/>
          <p:nvPr/>
        </p:nvSpPr>
        <p:spPr>
          <a:xfrm>
            <a:off x="4507992"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Access adjacency[u] in O(1). Iterate its existing edges only.</a:t>
            </a:r>
          </a:p>
        </p:txBody>
      </p:sp>
      <p:sp>
        <p:nvSpPr>
          <p:cNvPr id="17" name="Rounded Rectangle 16"/>
          <p:cNvSpPr/>
          <p:nvPr/>
        </p:nvSpPr>
        <p:spPr>
          <a:xfrm>
            <a:off x="4507992"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791456"/>
            <a:ext cx="2916936" cy="347472"/>
          </a:xfrm>
          <a:prstGeom prst="rect">
            <a:avLst/>
          </a:prstGeom>
          <a:noFill/>
        </p:spPr>
        <p:txBody>
          <a:bodyPr wrap="square" lIns="0" rIns="0" tIns="0" bIns="0">
            <a:spAutoFit/>
          </a:bodyPr>
          <a:lstStyle/>
          <a:p>
            <a:pPr>
              <a:spcAft>
                <a:spcPts val="900"/>
              </a:spcAft>
              <a:defRPr sz="2000" b="1">
                <a:solidFill>
                  <a:srgbClr val="176B9B"/>
                </a:solidFill>
                <a:latin typeface="Arial"/>
              </a:defRPr>
            </a:pPr>
            <a:r>
              <a:t>Θ(outdegree(u))</a:t>
            </a:r>
          </a:p>
        </p:txBody>
      </p:sp>
      <p:sp>
        <p:nvSpPr>
          <p:cNvPr id="19" name="Rounded Rectangle 18"/>
          <p:cNvSpPr/>
          <p:nvPr/>
        </p:nvSpPr>
        <p:spPr>
          <a:xfrm>
            <a:off x="8074152" y="1755648"/>
            <a:ext cx="3575304" cy="3694176"/>
          </a:xfrm>
          <a:prstGeom prst="roundRect">
            <a:avLst>
              <a:gd name="adj" fmla="val 6000"/>
            </a:avLst>
          </a:prstGeom>
          <a:solidFill>
            <a:srgbClr val="12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1984248"/>
            <a:ext cx="3136392" cy="274320"/>
          </a:xfrm>
          <a:prstGeom prst="rect">
            <a:avLst/>
          </a:prstGeom>
          <a:noFill/>
        </p:spPr>
        <p:txBody>
          <a:bodyPr wrap="square" lIns="0" rIns="0" tIns="0" bIns="0">
            <a:spAutoFit/>
          </a:bodyPr>
          <a:lstStyle/>
          <a:p>
            <a:pPr>
              <a:spcAft>
                <a:spcPts val="900"/>
              </a:spcAft>
              <a:defRPr sz="1200" b="1">
                <a:solidFill>
                  <a:srgbClr val="38BDF8"/>
                </a:solidFill>
                <a:latin typeface="Arial"/>
              </a:defRPr>
            </a:pPr>
            <a:r>
              <a:t>STEP 03</a:t>
            </a:r>
          </a:p>
        </p:txBody>
      </p:sp>
      <p:sp>
        <p:nvSpPr>
          <p:cNvPr id="21" name="TextBox 20"/>
          <p:cNvSpPr txBox="1"/>
          <p:nvPr/>
        </p:nvSpPr>
        <p:spPr>
          <a:xfrm>
            <a:off x="8293608" y="2450592"/>
            <a:ext cx="3136392" cy="612648"/>
          </a:xfrm>
          <a:prstGeom prst="rect">
            <a:avLst/>
          </a:prstGeom>
          <a:noFill/>
        </p:spPr>
        <p:txBody>
          <a:bodyPr wrap="square" lIns="0" rIns="0" tIns="0" bIns="0">
            <a:spAutoFit/>
          </a:bodyPr>
          <a:lstStyle/>
          <a:p>
            <a:pPr>
              <a:spcAft>
                <a:spcPts val="900"/>
              </a:spcAft>
              <a:defRPr sz="2300" b="1">
                <a:solidFill>
                  <a:srgbClr val="FFFFFF"/>
                </a:solidFill>
                <a:latin typeface="Arial"/>
              </a:defRPr>
            </a:pPr>
            <a:r>
              <a:t>Decrease key</a:t>
            </a:r>
          </a:p>
        </p:txBody>
      </p:sp>
      <p:sp>
        <p:nvSpPr>
          <p:cNvPr id="22" name="TextBox 21"/>
          <p:cNvSpPr txBox="1"/>
          <p:nvPr/>
        </p:nvSpPr>
        <p:spPr>
          <a:xfrm>
            <a:off x="8293608" y="3182112"/>
            <a:ext cx="3136392" cy="1243584"/>
          </a:xfrm>
          <a:prstGeom prst="rect">
            <a:avLst/>
          </a:prstGeom>
          <a:noFill/>
        </p:spPr>
        <p:txBody>
          <a:bodyPr wrap="square" lIns="0" rIns="0" tIns="0" bIns="0">
            <a:spAutoFit/>
          </a:bodyPr>
          <a:lstStyle/>
          <a:p>
            <a:pPr>
              <a:spcAft>
                <a:spcPts val="900"/>
              </a:spcAft>
              <a:defRPr sz="1900" b="0">
                <a:solidFill>
                  <a:srgbClr val="C8D5DF"/>
                </a:solidFill>
                <a:latin typeface="Arial"/>
              </a:defRPr>
            </a:pPr>
            <a:r>
              <a:t>After a successful relaxation, find v with position[v] and sift up.</a:t>
            </a:r>
          </a:p>
        </p:txBody>
      </p:sp>
      <p:sp>
        <p:nvSpPr>
          <p:cNvPr id="23" name="Rounded Rectangle 22"/>
          <p:cNvSpPr/>
          <p:nvPr/>
        </p:nvSpPr>
        <p:spPr>
          <a:xfrm>
            <a:off x="8293608" y="4690872"/>
            <a:ext cx="3136392" cy="512064"/>
          </a:xfrm>
          <a:prstGeom prst="roundRect">
            <a:avLst>
              <a:gd name="adj" fmla="val 6000"/>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03336" y="4791456"/>
            <a:ext cx="2916936" cy="347472"/>
          </a:xfrm>
          <a:prstGeom prst="rect">
            <a:avLst/>
          </a:prstGeom>
          <a:noFill/>
        </p:spPr>
        <p:txBody>
          <a:bodyPr wrap="square" lIns="0" rIns="0" tIns="0" bIns="0">
            <a:spAutoFit/>
          </a:bodyPr>
          <a:lstStyle/>
          <a:p>
            <a:pPr>
              <a:spcAft>
                <a:spcPts val="900"/>
              </a:spcAft>
              <a:defRPr sz="2000" b="1">
                <a:solidFill>
                  <a:srgbClr val="FFFFFF"/>
                </a:solidFill>
                <a:latin typeface="Arial"/>
              </a:defRPr>
            </a:pPr>
            <a:r>
              <a:t>O(log V) per update</a:t>
            </a:r>
          </a:p>
        </p:txBody>
      </p:sp>
      <p:sp>
        <p:nvSpPr>
          <p:cNvPr id="25" name="Rounded Rectangle 24"/>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The list avoids absent edges; the heap avoids linear minimum searches.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B • THEORETICAL ANALYSIS</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Part B: edge visits plus heap maintenance</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20</a:t>
            </a:r>
          </a:p>
        </p:txBody>
      </p:sp>
      <p:sp>
        <p:nvSpPr>
          <p:cNvPr id="7" name="Rounded Rectangle 6"/>
          <p:cNvSpPr/>
          <p:nvPr/>
        </p:nvSpPr>
        <p:spPr>
          <a:xfrm>
            <a:off x="502920"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STEP 01</a:t>
            </a:r>
          </a:p>
        </p:txBody>
      </p:sp>
      <p:sp>
        <p:nvSpPr>
          <p:cNvPr id="9" name="TextBox 8"/>
          <p:cNvSpPr txBox="1"/>
          <p:nvPr/>
        </p:nvSpPr>
        <p:spPr>
          <a:xfrm>
            <a:off x="722376"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Visit existing edges</a:t>
            </a:r>
          </a:p>
        </p:txBody>
      </p:sp>
      <p:sp>
        <p:nvSpPr>
          <p:cNvPr id="10" name="TextBox 9"/>
          <p:cNvSpPr txBox="1"/>
          <p:nvPr/>
        </p:nvSpPr>
        <p:spPr>
          <a:xfrm>
            <a:off x="722376"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Each adjacency entry is read once.</a:t>
            </a:r>
          </a:p>
          <a:p>
            <a:pPr>
              <a:spcAft>
                <a:spcPts val="900"/>
              </a:spcAft>
              <a:defRPr sz="1900" b="0">
                <a:solidFill>
                  <a:srgbClr val="475569"/>
                </a:solidFill>
                <a:latin typeface="Arial"/>
              </a:defRPr>
            </a:pPr>
            <a:r>
              <a:t>Each edge is relaxed once.</a:t>
            </a:r>
          </a:p>
        </p:txBody>
      </p:sp>
      <p:sp>
        <p:nvSpPr>
          <p:cNvPr id="11" name="Rounded Rectangle 10"/>
          <p:cNvSpPr/>
          <p:nvPr/>
        </p:nvSpPr>
        <p:spPr>
          <a:xfrm>
            <a:off x="722376"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4791456"/>
            <a:ext cx="2916936" cy="347472"/>
          </a:xfrm>
          <a:prstGeom prst="rect">
            <a:avLst/>
          </a:prstGeom>
          <a:noFill/>
        </p:spPr>
        <p:txBody>
          <a:bodyPr wrap="square" lIns="0" rIns="0" tIns="0" bIns="0">
            <a:spAutoFit/>
          </a:bodyPr>
          <a:lstStyle/>
          <a:p>
            <a:pPr>
              <a:spcAft>
                <a:spcPts val="900"/>
              </a:spcAft>
              <a:defRPr sz="2000" b="1">
                <a:solidFill>
                  <a:srgbClr val="176B9B"/>
                </a:solidFill>
                <a:latin typeface="Arial"/>
              </a:defRPr>
            </a:pPr>
            <a:r>
              <a:t>Θ(E)</a:t>
            </a:r>
          </a:p>
        </p:txBody>
      </p:sp>
      <p:sp>
        <p:nvSpPr>
          <p:cNvPr id="13" name="Rounded Rectangle 12"/>
          <p:cNvSpPr/>
          <p:nvPr/>
        </p:nvSpPr>
        <p:spPr>
          <a:xfrm>
            <a:off x="4288536"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STEP 02</a:t>
            </a:r>
          </a:p>
        </p:txBody>
      </p:sp>
      <p:sp>
        <p:nvSpPr>
          <p:cNvPr id="15" name="TextBox 14"/>
          <p:cNvSpPr txBox="1"/>
          <p:nvPr/>
        </p:nvSpPr>
        <p:spPr>
          <a:xfrm>
            <a:off x="4507992"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Maintain the heap</a:t>
            </a:r>
          </a:p>
        </p:txBody>
      </p:sp>
      <p:sp>
        <p:nvSpPr>
          <p:cNvPr id="16" name="TextBox 15"/>
          <p:cNvSpPr txBox="1"/>
          <p:nvPr/>
        </p:nvSpPr>
        <p:spPr>
          <a:xfrm>
            <a:off x="4507992"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V extract-min calls.</a:t>
            </a:r>
          </a:p>
          <a:p>
            <a:pPr>
              <a:spcAft>
                <a:spcPts val="900"/>
              </a:spcAft>
              <a:defRPr sz="1900" b="0">
                <a:solidFill>
                  <a:srgbClr val="475569"/>
                </a:solidFill>
                <a:latin typeface="Arial"/>
              </a:defRPr>
            </a:pPr>
            <a:r>
              <a:t>R decrease-key calls.</a:t>
            </a:r>
          </a:p>
          <a:p>
            <a:pPr>
              <a:spcAft>
                <a:spcPts val="900"/>
              </a:spcAft>
              <a:defRPr sz="1900" b="0">
                <a:solidFill>
                  <a:srgbClr val="475569"/>
                </a:solidFill>
                <a:latin typeface="Arial"/>
              </a:defRPr>
            </a:pPr>
            <a:r>
              <a:t>Heap construction is O(V).</a:t>
            </a:r>
          </a:p>
        </p:txBody>
      </p:sp>
      <p:sp>
        <p:nvSpPr>
          <p:cNvPr id="17" name="Rounded Rectangle 16"/>
          <p:cNvSpPr/>
          <p:nvPr/>
        </p:nvSpPr>
        <p:spPr>
          <a:xfrm>
            <a:off x="4507992"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791456"/>
            <a:ext cx="2916936" cy="347472"/>
          </a:xfrm>
          <a:prstGeom prst="rect">
            <a:avLst/>
          </a:prstGeom>
          <a:noFill/>
        </p:spPr>
        <p:txBody>
          <a:bodyPr wrap="square" lIns="0" rIns="0" tIns="0" bIns="0">
            <a:spAutoFit/>
          </a:bodyPr>
          <a:lstStyle/>
          <a:p>
            <a:pPr>
              <a:spcAft>
                <a:spcPts val="900"/>
              </a:spcAft>
              <a:defRPr sz="2000" b="1">
                <a:solidFill>
                  <a:srgbClr val="176B9B"/>
                </a:solidFill>
                <a:latin typeface="Arial"/>
              </a:defRPr>
            </a:pPr>
            <a:r>
              <a:t>O((V + R) log V)</a:t>
            </a:r>
          </a:p>
        </p:txBody>
      </p:sp>
      <p:sp>
        <p:nvSpPr>
          <p:cNvPr id="19" name="Rounded Rectangle 18"/>
          <p:cNvSpPr/>
          <p:nvPr/>
        </p:nvSpPr>
        <p:spPr>
          <a:xfrm>
            <a:off x="8074152" y="1755648"/>
            <a:ext cx="3575304" cy="3694176"/>
          </a:xfrm>
          <a:prstGeom prst="roundRect">
            <a:avLst>
              <a:gd name="adj" fmla="val 6000"/>
            </a:avLst>
          </a:prstGeom>
          <a:solidFill>
            <a:srgbClr val="12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1984248"/>
            <a:ext cx="3136392" cy="274320"/>
          </a:xfrm>
          <a:prstGeom prst="rect">
            <a:avLst/>
          </a:prstGeom>
          <a:noFill/>
        </p:spPr>
        <p:txBody>
          <a:bodyPr wrap="square" lIns="0" rIns="0" tIns="0" bIns="0">
            <a:spAutoFit/>
          </a:bodyPr>
          <a:lstStyle/>
          <a:p>
            <a:pPr>
              <a:spcAft>
                <a:spcPts val="900"/>
              </a:spcAft>
              <a:defRPr sz="1200" b="1">
                <a:solidFill>
                  <a:srgbClr val="38BDF8"/>
                </a:solidFill>
                <a:latin typeface="Arial"/>
              </a:defRPr>
            </a:pPr>
            <a:r>
              <a:t>CONCLUSION</a:t>
            </a:r>
          </a:p>
        </p:txBody>
      </p:sp>
      <p:sp>
        <p:nvSpPr>
          <p:cNvPr id="21" name="TextBox 20"/>
          <p:cNvSpPr txBox="1"/>
          <p:nvPr/>
        </p:nvSpPr>
        <p:spPr>
          <a:xfrm>
            <a:off x="8293608" y="2450592"/>
            <a:ext cx="3136392" cy="612648"/>
          </a:xfrm>
          <a:prstGeom prst="rect">
            <a:avLst/>
          </a:prstGeom>
          <a:noFill/>
        </p:spPr>
        <p:txBody>
          <a:bodyPr wrap="square" lIns="0" rIns="0" tIns="0" bIns="0">
            <a:spAutoFit/>
          </a:bodyPr>
          <a:lstStyle/>
          <a:p>
            <a:pPr>
              <a:spcAft>
                <a:spcPts val="900"/>
              </a:spcAft>
              <a:defRPr sz="2300" b="1">
                <a:solidFill>
                  <a:srgbClr val="FFFFFF"/>
                </a:solidFill>
                <a:latin typeface="Arial"/>
              </a:defRPr>
            </a:pPr>
            <a:r>
              <a:t>Worst-case bound</a:t>
            </a:r>
          </a:p>
        </p:txBody>
      </p:sp>
      <p:sp>
        <p:nvSpPr>
          <p:cNvPr id="22" name="TextBox 21"/>
          <p:cNvSpPr txBox="1"/>
          <p:nvPr/>
        </p:nvSpPr>
        <p:spPr>
          <a:xfrm>
            <a:off x="8293608" y="3182112"/>
            <a:ext cx="3136392" cy="1243584"/>
          </a:xfrm>
          <a:prstGeom prst="rect">
            <a:avLst/>
          </a:prstGeom>
          <a:noFill/>
        </p:spPr>
        <p:txBody>
          <a:bodyPr wrap="square" lIns="0" rIns="0" tIns="0" bIns="0">
            <a:spAutoFit/>
          </a:bodyPr>
          <a:lstStyle/>
          <a:p>
            <a:pPr>
              <a:spcAft>
                <a:spcPts val="900"/>
              </a:spcAft>
              <a:defRPr sz="1900" b="0">
                <a:solidFill>
                  <a:srgbClr val="C8D5DF"/>
                </a:solidFill>
                <a:latin typeface="Arial"/>
              </a:defRPr>
            </a:pPr>
            <a:r>
              <a:t>Use R ≤ E.</a:t>
            </a:r>
          </a:p>
          <a:p>
            <a:pPr>
              <a:spcAft>
                <a:spcPts val="900"/>
              </a:spcAft>
              <a:defRPr sz="1900" b="0">
                <a:solidFill>
                  <a:srgbClr val="C8D5DF"/>
                </a:solidFill>
                <a:latin typeface="Arial"/>
              </a:defRPr>
            </a:pPr>
            <a:r>
              <a:t>Graph space: Θ(V + E).</a:t>
            </a:r>
          </a:p>
          <a:p>
            <a:pPr>
              <a:spcAft>
                <a:spcPts val="900"/>
              </a:spcAft>
              <a:defRPr sz="1900" b="0">
                <a:solidFill>
                  <a:srgbClr val="C8D5DF"/>
                </a:solidFill>
                <a:latin typeface="Arial"/>
              </a:defRPr>
            </a:pPr>
            <a:r>
              <a:t>Auxiliary space: Θ(V).</a:t>
            </a:r>
          </a:p>
        </p:txBody>
      </p:sp>
      <p:sp>
        <p:nvSpPr>
          <p:cNvPr id="23" name="Rounded Rectangle 22"/>
          <p:cNvSpPr/>
          <p:nvPr/>
        </p:nvSpPr>
        <p:spPr>
          <a:xfrm>
            <a:off x="8293608" y="4690872"/>
            <a:ext cx="3136392" cy="512064"/>
          </a:xfrm>
          <a:prstGeom prst="roundRect">
            <a:avLst>
              <a:gd name="adj" fmla="val 6000"/>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03336" y="4791456"/>
            <a:ext cx="2916936" cy="347472"/>
          </a:xfrm>
          <a:prstGeom prst="rect">
            <a:avLst/>
          </a:prstGeom>
          <a:noFill/>
        </p:spPr>
        <p:txBody>
          <a:bodyPr wrap="square" lIns="0" rIns="0" tIns="0" bIns="0">
            <a:spAutoFit/>
          </a:bodyPr>
          <a:lstStyle/>
          <a:p>
            <a:pPr>
              <a:spcAft>
                <a:spcPts val="900"/>
              </a:spcAft>
              <a:defRPr sz="2000" b="1">
                <a:solidFill>
                  <a:srgbClr val="FFFFFF"/>
                </a:solidFill>
                <a:latin typeface="Arial"/>
              </a:defRPr>
            </a:pPr>
            <a:r>
              <a:t>O((V + E) log V)</a:t>
            </a:r>
          </a:p>
        </p:txBody>
      </p:sp>
      <p:sp>
        <p:nvSpPr>
          <p:cNvPr id="25" name="Rounded Rectangle 24"/>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An upper bound does not say every edge causes a logarithmic-cost update.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B • V SWEEP</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Part B: sparse graphs benefit from both choices</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21</a:t>
            </a:r>
          </a:p>
        </p:txBody>
      </p:sp>
      <p:pic>
        <p:nvPicPr>
          <p:cNvPr id="7" name="Picture 6" descr="chart_04.png"/>
          <p:cNvPicPr>
            <a:picLocks noChangeAspect="1"/>
          </p:cNvPicPr>
          <p:nvPr/>
        </p:nvPicPr>
        <p:blipFill>
          <a:blip r:embed="rId3"/>
          <a:stretch>
            <a:fillRect/>
          </a:stretch>
        </p:blipFill>
        <p:spPr>
          <a:xfrm>
            <a:off x="995033" y="1435608"/>
            <a:ext cx="6596149" cy="4206240"/>
          </a:xfrm>
          <a:prstGeom prst="rect">
            <a:avLst/>
          </a:prstGeom>
        </p:spPr>
      </p:pic>
      <p:sp>
        <p:nvSpPr>
          <p:cNvPr id="8" name="Rounded Rectangle 7"/>
          <p:cNvSpPr/>
          <p:nvPr/>
        </p:nvSpPr>
        <p:spPr>
          <a:xfrm>
            <a:off x="8348472" y="1700784"/>
            <a:ext cx="3291840" cy="3785615"/>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1947672"/>
            <a:ext cx="2834640" cy="722376"/>
          </a:xfrm>
          <a:prstGeom prst="rect">
            <a:avLst/>
          </a:prstGeom>
          <a:noFill/>
        </p:spPr>
        <p:txBody>
          <a:bodyPr wrap="square" lIns="0" rIns="0" tIns="0" bIns="0">
            <a:spAutoFit/>
          </a:bodyPr>
          <a:lstStyle/>
          <a:p>
            <a:pPr>
              <a:spcAft>
                <a:spcPts val="900"/>
              </a:spcAft>
              <a:defRPr sz="2500" b="1">
                <a:solidFill>
                  <a:srgbClr val="176B9B"/>
                </a:solidFill>
                <a:latin typeface="Arial"/>
              </a:defRPr>
            </a:pPr>
            <a:r>
              <a:t>O(V log V)</a:t>
            </a:r>
          </a:p>
        </p:txBody>
      </p:sp>
      <p:sp>
        <p:nvSpPr>
          <p:cNvPr id="10" name="TextBox 9"/>
          <p:cNvSpPr txBox="1"/>
          <p:nvPr/>
        </p:nvSpPr>
        <p:spPr>
          <a:xfrm>
            <a:off x="8577072" y="2880360"/>
            <a:ext cx="2834640" cy="2286000"/>
          </a:xfrm>
          <a:prstGeom prst="rect">
            <a:avLst/>
          </a:prstGeom>
          <a:noFill/>
        </p:spPr>
        <p:txBody>
          <a:bodyPr wrap="square" lIns="0" rIns="0" tIns="0" bIns="0">
            <a:spAutoFit/>
          </a:bodyPr>
          <a:lstStyle/>
          <a:p>
            <a:pPr>
              <a:spcAft>
                <a:spcPts val="900"/>
              </a:spcAft>
              <a:defRPr sz="1900" b="0">
                <a:solidFill>
                  <a:srgbClr val="475569"/>
                </a:solidFill>
                <a:latin typeface="Arial"/>
              </a:defRPr>
            </a:pPr>
            <a:r>
              <a:t>Only 4V edges are visited.</a:t>
            </a:r>
          </a:p>
          <a:p>
            <a:pPr>
              <a:spcAft>
                <a:spcPts val="900"/>
              </a:spcAft>
              <a:defRPr sz="1900" b="0">
                <a:solidFill>
                  <a:srgbClr val="475569"/>
                </a:solidFill>
                <a:latin typeface="Arial"/>
              </a:defRPr>
            </a:pPr>
          </a:p>
          <a:p>
            <a:pPr>
              <a:spcAft>
                <a:spcPts val="900"/>
              </a:spcAft>
              <a:defRPr sz="1900" b="0">
                <a:solidFill>
                  <a:srgbClr val="475569"/>
                </a:solidFill>
                <a:latin typeface="Arial"/>
              </a:defRPr>
            </a:pPr>
            <a:r>
              <a:t>The heap replaces repeated linear minimum searches.</a:t>
            </a:r>
          </a:p>
        </p:txBody>
      </p:sp>
      <p:sp>
        <p:nvSpPr>
          <p:cNvPr id="11" name="Rounded Rectangle 10"/>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Sparse inputs avoid both quadratic costs found in Part 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B • V SWEEP</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Part B: a dense upper bound can be pessimistic</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22</a:t>
            </a:r>
          </a:p>
        </p:txBody>
      </p:sp>
      <p:pic>
        <p:nvPicPr>
          <p:cNvPr id="7" name="Picture 6" descr="chart_05.png"/>
          <p:cNvPicPr>
            <a:picLocks noChangeAspect="1"/>
          </p:cNvPicPr>
          <p:nvPr/>
        </p:nvPicPr>
        <p:blipFill>
          <a:blip r:embed="rId3"/>
          <a:stretch>
            <a:fillRect/>
          </a:stretch>
        </p:blipFill>
        <p:spPr>
          <a:xfrm>
            <a:off x="995033" y="1435608"/>
            <a:ext cx="6596149" cy="4206240"/>
          </a:xfrm>
          <a:prstGeom prst="rect">
            <a:avLst/>
          </a:prstGeom>
        </p:spPr>
      </p:pic>
      <p:sp>
        <p:nvSpPr>
          <p:cNvPr id="8" name="Rounded Rectangle 7"/>
          <p:cNvSpPr/>
          <p:nvPr/>
        </p:nvSpPr>
        <p:spPr>
          <a:xfrm>
            <a:off x="8348472" y="1700784"/>
            <a:ext cx="3291840" cy="3785615"/>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1947672"/>
            <a:ext cx="2834640" cy="722376"/>
          </a:xfrm>
          <a:prstGeom prst="rect">
            <a:avLst/>
          </a:prstGeom>
          <a:noFill/>
        </p:spPr>
        <p:txBody>
          <a:bodyPr wrap="square" lIns="0" rIns="0" tIns="0" bIns="0">
            <a:spAutoFit/>
          </a:bodyPr>
          <a:lstStyle/>
          <a:p>
            <a:pPr>
              <a:spcAft>
                <a:spcPts val="900"/>
              </a:spcAft>
              <a:defRPr sz="2500" b="1">
                <a:solidFill>
                  <a:srgbClr val="176B9B"/>
                </a:solidFill>
                <a:latin typeface="Arial"/>
              </a:defRPr>
            </a:pPr>
            <a:r>
              <a:t>R can be ≪ E</a:t>
            </a:r>
          </a:p>
        </p:txBody>
      </p:sp>
      <p:sp>
        <p:nvSpPr>
          <p:cNvPr id="10" name="TextBox 9"/>
          <p:cNvSpPr txBox="1"/>
          <p:nvPr/>
        </p:nvSpPr>
        <p:spPr>
          <a:xfrm>
            <a:off x="8577072" y="2880360"/>
            <a:ext cx="2834640" cy="2286000"/>
          </a:xfrm>
          <a:prstGeom prst="rect">
            <a:avLst/>
          </a:prstGeom>
          <a:noFill/>
        </p:spPr>
        <p:txBody>
          <a:bodyPr wrap="square" lIns="0" rIns="0" tIns="0" bIns="0">
            <a:spAutoFit/>
          </a:bodyPr>
          <a:lstStyle/>
          <a:p>
            <a:pPr>
              <a:spcAft>
                <a:spcPts val="900"/>
              </a:spcAft>
              <a:defRPr sz="1900" b="0">
                <a:solidFill>
                  <a:srgbClr val="475569"/>
                </a:solidFill>
                <a:latin typeface="Arial"/>
              </a:defRPr>
            </a:pPr>
            <a:r>
              <a:t>Every edge is checked.</a:t>
            </a:r>
          </a:p>
          <a:p>
            <a:pPr>
              <a:spcAft>
                <a:spcPts val="900"/>
              </a:spcAft>
              <a:defRPr sz="1900" b="0">
                <a:solidFill>
                  <a:srgbClr val="475569"/>
                </a:solidFill>
                <a:latin typeface="Arial"/>
              </a:defRPr>
            </a:pPr>
          </a:p>
          <a:p>
            <a:pPr>
              <a:spcAft>
                <a:spcPts val="900"/>
              </a:spcAft>
              <a:defRPr sz="1900" b="0">
                <a:solidFill>
                  <a:srgbClr val="475569"/>
                </a:solidFill>
                <a:latin typeface="Arial"/>
              </a:defRPr>
            </a:pPr>
            <a:r>
              <a:t>Only successful improvements trigger decrease-key.</a:t>
            </a:r>
          </a:p>
        </p:txBody>
      </p:sp>
      <p:sp>
        <p:nvSpPr>
          <p:cNvPr id="11" name="Rounded Rectangle 10"/>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Observed work can grow closer to V² than V² log 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B • E SWEEP</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Part B: adding edges directly adds list visits</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23</a:t>
            </a:r>
          </a:p>
        </p:txBody>
      </p:sp>
      <p:pic>
        <p:nvPicPr>
          <p:cNvPr id="7" name="Picture 6" descr="chart_06.png"/>
          <p:cNvPicPr>
            <a:picLocks noChangeAspect="1"/>
          </p:cNvPicPr>
          <p:nvPr/>
        </p:nvPicPr>
        <p:blipFill>
          <a:blip r:embed="rId3"/>
          <a:stretch>
            <a:fillRect/>
          </a:stretch>
        </p:blipFill>
        <p:spPr>
          <a:xfrm>
            <a:off x="995033" y="1435608"/>
            <a:ext cx="6596149" cy="4206240"/>
          </a:xfrm>
          <a:prstGeom prst="rect">
            <a:avLst/>
          </a:prstGeom>
        </p:spPr>
      </p:pic>
      <p:sp>
        <p:nvSpPr>
          <p:cNvPr id="8" name="Rounded Rectangle 7"/>
          <p:cNvSpPr/>
          <p:nvPr/>
        </p:nvSpPr>
        <p:spPr>
          <a:xfrm>
            <a:off x="8348472" y="1700784"/>
            <a:ext cx="3291840" cy="3785615"/>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1947672"/>
            <a:ext cx="2834640" cy="722376"/>
          </a:xfrm>
          <a:prstGeom prst="rect">
            <a:avLst/>
          </a:prstGeom>
          <a:noFill/>
        </p:spPr>
        <p:txBody>
          <a:bodyPr wrap="square" lIns="0" rIns="0" tIns="0" bIns="0">
            <a:spAutoFit/>
          </a:bodyPr>
          <a:lstStyle/>
          <a:p>
            <a:pPr>
              <a:spcAft>
                <a:spcPts val="900"/>
              </a:spcAft>
              <a:defRPr sz="2500" b="1">
                <a:solidFill>
                  <a:srgbClr val="176B9B"/>
                </a:solidFill>
                <a:latin typeface="Arial"/>
              </a:defRPr>
            </a:pPr>
            <a:r>
              <a:t>V = 192</a:t>
            </a:r>
          </a:p>
        </p:txBody>
      </p:sp>
      <p:sp>
        <p:nvSpPr>
          <p:cNvPr id="10" name="TextBox 9"/>
          <p:cNvSpPr txBox="1"/>
          <p:nvPr/>
        </p:nvSpPr>
        <p:spPr>
          <a:xfrm>
            <a:off x="8577072" y="2880360"/>
            <a:ext cx="2834640" cy="2286000"/>
          </a:xfrm>
          <a:prstGeom prst="rect">
            <a:avLst/>
          </a:prstGeom>
          <a:noFill/>
        </p:spPr>
        <p:txBody>
          <a:bodyPr wrap="square" lIns="0" rIns="0" tIns="0" bIns="0">
            <a:spAutoFit/>
          </a:bodyPr>
          <a:lstStyle/>
          <a:p>
            <a:pPr>
              <a:spcAft>
                <a:spcPts val="900"/>
              </a:spcAft>
              <a:defRPr sz="1900" b="0">
                <a:solidFill>
                  <a:srgbClr val="475569"/>
                </a:solidFill>
                <a:latin typeface="Arial"/>
              </a:defRPr>
            </a:pPr>
            <a:r>
              <a:t>E list-entry visits.</a:t>
            </a:r>
          </a:p>
          <a:p>
            <a:pPr>
              <a:spcAft>
                <a:spcPts val="900"/>
              </a:spcAft>
              <a:defRPr sz="1900" b="0">
                <a:solidFill>
                  <a:srgbClr val="475569"/>
                </a:solidFill>
                <a:latin typeface="Arial"/>
              </a:defRPr>
            </a:pPr>
          </a:p>
          <a:p>
            <a:pPr>
              <a:spcAft>
                <a:spcPts val="900"/>
              </a:spcAft>
              <a:defRPr sz="1900" b="0">
                <a:solidFill>
                  <a:srgbClr val="475569"/>
                </a:solidFill>
                <a:latin typeface="Arial"/>
              </a:defRPr>
            </a:pPr>
            <a:r>
              <a:t>E relaxation checks.</a:t>
            </a:r>
          </a:p>
          <a:p>
            <a:pPr>
              <a:spcAft>
                <a:spcPts val="900"/>
              </a:spcAft>
              <a:defRPr sz="1900" b="0">
                <a:solidFill>
                  <a:srgbClr val="475569"/>
                </a:solidFill>
                <a:latin typeface="Arial"/>
              </a:defRPr>
            </a:pPr>
          </a:p>
          <a:p>
            <a:pPr>
              <a:spcAft>
                <a:spcPts val="900"/>
              </a:spcAft>
              <a:defRPr sz="1900" b="0">
                <a:solidFill>
                  <a:srgbClr val="475569"/>
                </a:solidFill>
                <a:latin typeface="Arial"/>
              </a:defRPr>
            </a:pPr>
            <a:r>
              <a:t>Heap work depends on successful updates.</a:t>
            </a:r>
          </a:p>
        </p:txBody>
      </p:sp>
      <p:sp>
        <p:nvSpPr>
          <p:cNvPr id="11" name="Rounded Rectangle 10"/>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At fixed V, edge traversal grows linearly with 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C • COMPARISON</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Part C: Part B uses much less work on sparse inputs</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24</a:t>
            </a:r>
          </a:p>
        </p:txBody>
      </p:sp>
      <p:pic>
        <p:nvPicPr>
          <p:cNvPr id="7" name="Picture 6" descr="chart_07.png"/>
          <p:cNvPicPr>
            <a:picLocks noChangeAspect="1"/>
          </p:cNvPicPr>
          <p:nvPr/>
        </p:nvPicPr>
        <p:blipFill>
          <a:blip r:embed="rId3"/>
          <a:stretch>
            <a:fillRect/>
          </a:stretch>
        </p:blipFill>
        <p:spPr>
          <a:xfrm>
            <a:off x="995033" y="1435608"/>
            <a:ext cx="6596149" cy="4206240"/>
          </a:xfrm>
          <a:prstGeom prst="rect">
            <a:avLst/>
          </a:prstGeom>
        </p:spPr>
      </p:pic>
      <p:sp>
        <p:nvSpPr>
          <p:cNvPr id="8" name="Rounded Rectangle 7"/>
          <p:cNvSpPr/>
          <p:nvPr/>
        </p:nvSpPr>
        <p:spPr>
          <a:xfrm>
            <a:off x="8348472" y="1700784"/>
            <a:ext cx="3291840" cy="3785615"/>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1947672"/>
            <a:ext cx="2834640" cy="722376"/>
          </a:xfrm>
          <a:prstGeom prst="rect">
            <a:avLst/>
          </a:prstGeom>
          <a:noFill/>
        </p:spPr>
        <p:txBody>
          <a:bodyPr wrap="square" lIns="0" rIns="0" tIns="0" bIns="0">
            <a:spAutoFit/>
          </a:bodyPr>
          <a:lstStyle/>
          <a:p>
            <a:pPr>
              <a:spcAft>
                <a:spcPts val="900"/>
              </a:spcAft>
              <a:defRPr sz="2500" b="1">
                <a:solidFill>
                  <a:srgbClr val="176B9B"/>
                </a:solidFill>
                <a:latin typeface="Arial"/>
              </a:defRPr>
            </a:pPr>
            <a:r>
              <a:t>A / B = 15.21</a:t>
            </a:r>
          </a:p>
        </p:txBody>
      </p:sp>
      <p:sp>
        <p:nvSpPr>
          <p:cNvPr id="10" name="TextBox 9"/>
          <p:cNvSpPr txBox="1"/>
          <p:nvPr/>
        </p:nvSpPr>
        <p:spPr>
          <a:xfrm>
            <a:off x="8577072" y="2880360"/>
            <a:ext cx="2834640" cy="2286000"/>
          </a:xfrm>
          <a:prstGeom prst="rect">
            <a:avLst/>
          </a:prstGeom>
          <a:noFill/>
        </p:spPr>
        <p:txBody>
          <a:bodyPr wrap="square" lIns="0" rIns="0" tIns="0" bIns="0">
            <a:spAutoFit/>
          </a:bodyPr>
          <a:lstStyle/>
          <a:p>
            <a:pPr>
              <a:spcAft>
                <a:spcPts val="900"/>
              </a:spcAft>
              <a:defRPr sz="1900" b="0">
                <a:solidFill>
                  <a:srgbClr val="475569"/>
                </a:solidFill>
                <a:latin typeface="Arial"/>
              </a:defRPr>
            </a:pPr>
            <a:r>
              <a:t>At V = 384, E = 1,536:</a:t>
            </a:r>
          </a:p>
          <a:p>
            <a:pPr>
              <a:spcAft>
                <a:spcPts val="900"/>
              </a:spcAft>
              <a:defRPr sz="1900" b="0">
                <a:solidFill>
                  <a:srgbClr val="475569"/>
                </a:solidFill>
                <a:latin typeface="Arial"/>
              </a:defRPr>
            </a:pPr>
          </a:p>
          <a:p>
            <a:pPr>
              <a:spcAft>
                <a:spcPts val="900"/>
              </a:spcAft>
              <a:defRPr sz="1900" b="0">
                <a:solidFill>
                  <a:srgbClr val="475569"/>
                </a:solidFill>
                <a:latin typeface="Arial"/>
              </a:defRPr>
            </a:pPr>
            <a:r>
              <a:t>A: 224,192 operations</a:t>
            </a:r>
          </a:p>
          <a:p>
            <a:pPr>
              <a:spcAft>
                <a:spcPts val="900"/>
              </a:spcAft>
              <a:defRPr sz="1900" b="0">
                <a:solidFill>
                  <a:srgbClr val="475569"/>
                </a:solidFill>
                <a:latin typeface="Arial"/>
              </a:defRPr>
            </a:pPr>
            <a:r>
              <a:t>B: 14,737 operations</a:t>
            </a:r>
          </a:p>
        </p:txBody>
      </p:sp>
      <p:sp>
        <p:nvSpPr>
          <p:cNvPr id="11" name="Rounded Rectangle 10"/>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This is a work-score ratio, not a runtime speedup.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C • COMPARISON</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Part C: Part B also wins these random dense inputs</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25</a:t>
            </a:r>
          </a:p>
        </p:txBody>
      </p:sp>
      <p:pic>
        <p:nvPicPr>
          <p:cNvPr id="7" name="Picture 6" descr="chart_08.png"/>
          <p:cNvPicPr>
            <a:picLocks noChangeAspect="1"/>
          </p:cNvPicPr>
          <p:nvPr/>
        </p:nvPicPr>
        <p:blipFill>
          <a:blip r:embed="rId3"/>
          <a:stretch>
            <a:fillRect/>
          </a:stretch>
        </p:blipFill>
        <p:spPr>
          <a:xfrm>
            <a:off x="995033" y="1435608"/>
            <a:ext cx="6596149" cy="4206240"/>
          </a:xfrm>
          <a:prstGeom prst="rect">
            <a:avLst/>
          </a:prstGeom>
        </p:spPr>
      </p:pic>
      <p:sp>
        <p:nvSpPr>
          <p:cNvPr id="8" name="Rounded Rectangle 7"/>
          <p:cNvSpPr/>
          <p:nvPr/>
        </p:nvSpPr>
        <p:spPr>
          <a:xfrm>
            <a:off x="8348472" y="1700784"/>
            <a:ext cx="3291840" cy="3785615"/>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1947672"/>
            <a:ext cx="2834640" cy="722376"/>
          </a:xfrm>
          <a:prstGeom prst="rect">
            <a:avLst/>
          </a:prstGeom>
          <a:noFill/>
        </p:spPr>
        <p:txBody>
          <a:bodyPr wrap="square" lIns="0" rIns="0" tIns="0" bIns="0">
            <a:spAutoFit/>
          </a:bodyPr>
          <a:lstStyle/>
          <a:p>
            <a:pPr>
              <a:spcAft>
                <a:spcPts val="900"/>
              </a:spcAft>
              <a:defRPr sz="2500" b="1">
                <a:solidFill>
                  <a:srgbClr val="176B9B"/>
                </a:solidFill>
                <a:latin typeface="Arial"/>
              </a:defRPr>
            </a:pPr>
            <a:r>
              <a:t>A / B = 1.82</a:t>
            </a:r>
          </a:p>
        </p:txBody>
      </p:sp>
      <p:sp>
        <p:nvSpPr>
          <p:cNvPr id="10" name="TextBox 9"/>
          <p:cNvSpPr txBox="1"/>
          <p:nvPr/>
        </p:nvSpPr>
        <p:spPr>
          <a:xfrm>
            <a:off x="8577072" y="2880360"/>
            <a:ext cx="2834640" cy="2286000"/>
          </a:xfrm>
          <a:prstGeom prst="rect">
            <a:avLst/>
          </a:prstGeom>
          <a:noFill/>
        </p:spPr>
        <p:txBody>
          <a:bodyPr wrap="square" lIns="0" rIns="0" tIns="0" bIns="0">
            <a:spAutoFit/>
          </a:bodyPr>
          <a:lstStyle/>
          <a:p>
            <a:pPr>
              <a:spcAft>
                <a:spcPts val="900"/>
              </a:spcAft>
              <a:defRPr sz="1900" b="0">
                <a:solidFill>
                  <a:srgbClr val="475569"/>
                </a:solidFill>
                <a:latin typeface="Arial"/>
              </a:defRPr>
            </a:pPr>
            <a:r>
              <a:t>At V = 384, E = 73,536:</a:t>
            </a:r>
          </a:p>
          <a:p>
            <a:pPr>
              <a:spcAft>
                <a:spcPts val="900"/>
              </a:spcAft>
              <a:defRPr sz="1900" b="0">
                <a:solidFill>
                  <a:srgbClr val="475569"/>
                </a:solidFill>
                <a:latin typeface="Arial"/>
              </a:defRPr>
            </a:pPr>
          </a:p>
          <a:p>
            <a:pPr>
              <a:spcAft>
                <a:spcPts val="900"/>
              </a:spcAft>
              <a:defRPr sz="1900" b="0">
                <a:solidFill>
                  <a:srgbClr val="475569"/>
                </a:solidFill>
                <a:latin typeface="Arial"/>
              </a:defRPr>
            </a:pPr>
            <a:r>
              <a:t>A: 297,284 operations</a:t>
            </a:r>
          </a:p>
          <a:p>
            <a:pPr>
              <a:spcAft>
                <a:spcPts val="900"/>
              </a:spcAft>
              <a:defRPr sz="1900" b="0">
                <a:solidFill>
                  <a:srgbClr val="475569"/>
                </a:solidFill>
                <a:latin typeface="Arial"/>
              </a:defRPr>
            </a:pPr>
            <a:r>
              <a:t>B: 163,496 operations</a:t>
            </a:r>
          </a:p>
        </p:txBody>
      </p:sp>
      <p:sp>
        <p:nvSpPr>
          <p:cNvPr id="11" name="Rounded Rectangle 10"/>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A’s better worst-case bound does not guarantee a win on every dense graph.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C • FIXED V</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Part C: why the ratio falls as E increases</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26</a:t>
            </a:r>
          </a:p>
        </p:txBody>
      </p:sp>
      <p:pic>
        <p:nvPicPr>
          <p:cNvPr id="7" name="Picture 6" descr="chart_09.png"/>
          <p:cNvPicPr>
            <a:picLocks noChangeAspect="1"/>
          </p:cNvPicPr>
          <p:nvPr/>
        </p:nvPicPr>
        <p:blipFill>
          <a:blip r:embed="rId3"/>
          <a:stretch>
            <a:fillRect/>
          </a:stretch>
        </p:blipFill>
        <p:spPr>
          <a:xfrm>
            <a:off x="995033" y="1435608"/>
            <a:ext cx="6596149" cy="4206240"/>
          </a:xfrm>
          <a:prstGeom prst="rect">
            <a:avLst/>
          </a:prstGeom>
        </p:spPr>
      </p:pic>
      <p:sp>
        <p:nvSpPr>
          <p:cNvPr id="8" name="Rounded Rectangle 7"/>
          <p:cNvSpPr/>
          <p:nvPr/>
        </p:nvSpPr>
        <p:spPr>
          <a:xfrm>
            <a:off x="8348472" y="1700784"/>
            <a:ext cx="3291840" cy="3785615"/>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77072" y="1947672"/>
            <a:ext cx="2834640" cy="722376"/>
          </a:xfrm>
          <a:prstGeom prst="rect">
            <a:avLst/>
          </a:prstGeom>
          <a:noFill/>
        </p:spPr>
        <p:txBody>
          <a:bodyPr wrap="square" lIns="0" rIns="0" tIns="0" bIns="0">
            <a:spAutoFit/>
          </a:bodyPr>
          <a:lstStyle/>
          <a:p>
            <a:pPr>
              <a:spcAft>
                <a:spcPts val="900"/>
              </a:spcAft>
              <a:defRPr sz="2500" b="1">
                <a:solidFill>
                  <a:srgbClr val="176B9B"/>
                </a:solidFill>
                <a:latin typeface="Arial"/>
              </a:defRPr>
            </a:pPr>
            <a:r>
              <a:t>Read A / B</a:t>
            </a:r>
          </a:p>
        </p:txBody>
      </p:sp>
      <p:sp>
        <p:nvSpPr>
          <p:cNvPr id="10" name="TextBox 9"/>
          <p:cNvSpPr txBox="1"/>
          <p:nvPr/>
        </p:nvSpPr>
        <p:spPr>
          <a:xfrm>
            <a:off x="8577072" y="2880360"/>
            <a:ext cx="2834640" cy="2286000"/>
          </a:xfrm>
          <a:prstGeom prst="rect">
            <a:avLst/>
          </a:prstGeom>
          <a:noFill/>
        </p:spPr>
        <p:txBody>
          <a:bodyPr wrap="square" lIns="0" rIns="0" tIns="0" bIns="0">
            <a:spAutoFit/>
          </a:bodyPr>
          <a:lstStyle/>
          <a:p>
            <a:pPr>
              <a:spcAft>
                <a:spcPts val="900"/>
              </a:spcAft>
              <a:defRPr sz="1900" b="0">
                <a:solidFill>
                  <a:srgbClr val="475569"/>
                </a:solidFill>
                <a:latin typeface="Arial"/>
              </a:defRPr>
            </a:pPr>
            <a:r>
              <a:t>Above 1: B uses less work.</a:t>
            </a:r>
          </a:p>
          <a:p>
            <a:pPr>
              <a:spcAft>
                <a:spcPts val="900"/>
              </a:spcAft>
              <a:defRPr sz="1900" b="0">
                <a:solidFill>
                  <a:srgbClr val="475569"/>
                </a:solidFill>
                <a:latin typeface="Arial"/>
              </a:defRPr>
            </a:pPr>
          </a:p>
          <a:p>
            <a:pPr>
              <a:spcAft>
                <a:spcPts val="900"/>
              </a:spcAft>
              <a:defRPr sz="1900" b="0">
                <a:solidFill>
                  <a:srgbClr val="475569"/>
                </a:solidFill>
                <a:latin typeface="Arial"/>
              </a:defRPr>
            </a:pPr>
            <a:r>
              <a:t>Below 1: A uses less work.</a:t>
            </a:r>
          </a:p>
          <a:p>
            <a:pPr>
              <a:spcAft>
                <a:spcPts val="900"/>
              </a:spcAft>
              <a:defRPr sz="1900" b="0">
                <a:solidFill>
                  <a:srgbClr val="475569"/>
                </a:solidFill>
                <a:latin typeface="Arial"/>
              </a:defRPr>
            </a:pPr>
          </a:p>
          <a:p>
            <a:pPr>
              <a:spcAft>
                <a:spcPts val="900"/>
              </a:spcAft>
              <a:defRPr sz="1900" b="0">
                <a:solidFill>
                  <a:srgbClr val="475569"/>
                </a:solidFill>
                <a:latin typeface="Arial"/>
              </a:defRPr>
            </a:pPr>
            <a:r>
              <a:t>Crossing 1 is not required.</a:t>
            </a:r>
          </a:p>
        </p:txBody>
      </p:sp>
      <p:sp>
        <p:nvSpPr>
          <p:cNvPr id="11" name="Rounded Rectangle 10"/>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A’s fixed scan costs are large; B’s edge-dependent work catches up.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C • A CONTROLLED DENSE EXAMPLE</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Frequent updates can make Part A preferable</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27</a:t>
            </a:r>
          </a:p>
        </p:txBody>
      </p:sp>
      <p:sp>
        <p:nvSpPr>
          <p:cNvPr id="7" name="TextBox 6"/>
          <p:cNvSpPr txBox="1"/>
          <p:nvPr/>
        </p:nvSpPr>
        <p:spPr>
          <a:xfrm>
            <a:off x="594360" y="1600200"/>
            <a:ext cx="10789920" cy="548640"/>
          </a:xfrm>
          <a:prstGeom prst="rect">
            <a:avLst/>
          </a:prstGeom>
          <a:noFill/>
        </p:spPr>
        <p:txBody>
          <a:bodyPr wrap="square" lIns="0" rIns="0" tIns="0" bIns="0">
            <a:spAutoFit/>
          </a:bodyPr>
          <a:lstStyle/>
          <a:p>
            <a:pPr>
              <a:spcAft>
                <a:spcPts val="900"/>
              </a:spcAft>
              <a:defRPr sz="2100" b="0">
                <a:solidFill>
                  <a:srgbClr val="475569"/>
                </a:solidFill>
                <a:latin typeface="Arial"/>
              </a:defRPr>
            </a:pPr>
            <a:r>
              <a:t>Complete directed graph • V = 384 • E = 147,072 • R = E / 2</a:t>
            </a:r>
          </a:p>
        </p:txBody>
      </p:sp>
      <p:sp>
        <p:nvSpPr>
          <p:cNvPr id="8" name="TextBox 7"/>
          <p:cNvSpPr txBox="1"/>
          <p:nvPr/>
        </p:nvSpPr>
        <p:spPr>
          <a:xfrm>
            <a:off x="612648" y="2587752"/>
            <a:ext cx="1188720" cy="411480"/>
          </a:xfrm>
          <a:prstGeom prst="rect">
            <a:avLst/>
          </a:prstGeom>
          <a:noFill/>
        </p:spPr>
        <p:txBody>
          <a:bodyPr wrap="square" lIns="0" rIns="0" tIns="0" bIns="0">
            <a:spAutoFit/>
          </a:bodyPr>
          <a:lstStyle/>
          <a:p>
            <a:pPr>
              <a:spcAft>
                <a:spcPts val="900"/>
              </a:spcAft>
              <a:defRPr sz="2400" b="1">
                <a:solidFill>
                  <a:srgbClr val="12283E"/>
                </a:solidFill>
                <a:latin typeface="Arial"/>
              </a:defRPr>
            </a:pPr>
            <a:r>
              <a:t>Part A</a:t>
            </a:r>
          </a:p>
        </p:txBody>
      </p:sp>
      <p:sp>
        <p:nvSpPr>
          <p:cNvPr id="9" name="Rectangle 8"/>
          <p:cNvSpPr/>
          <p:nvPr/>
        </p:nvSpPr>
        <p:spPr>
          <a:xfrm>
            <a:off x="1920240" y="2514600"/>
            <a:ext cx="5520714" cy="630936"/>
          </a:xfrm>
          <a:prstGeom prst="rect">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7258" y="2606040"/>
            <a:ext cx="2103120" cy="365760"/>
          </a:xfrm>
          <a:prstGeom prst="rect">
            <a:avLst/>
          </a:prstGeom>
          <a:noFill/>
        </p:spPr>
        <p:txBody>
          <a:bodyPr wrap="square" lIns="0" rIns="0" tIns="0" bIns="0">
            <a:spAutoFit/>
          </a:bodyPr>
          <a:lstStyle/>
          <a:p>
            <a:pPr>
              <a:spcAft>
                <a:spcPts val="900"/>
              </a:spcAft>
              <a:defRPr sz="2300" b="1">
                <a:solidFill>
                  <a:srgbClr val="176B9B"/>
                </a:solidFill>
                <a:latin typeface="Arial"/>
              </a:defRPr>
            </a:pPr>
            <a:r>
              <a:t>442,752</a:t>
            </a:r>
          </a:p>
        </p:txBody>
      </p:sp>
      <p:sp>
        <p:nvSpPr>
          <p:cNvPr id="11" name="TextBox 10"/>
          <p:cNvSpPr txBox="1"/>
          <p:nvPr/>
        </p:nvSpPr>
        <p:spPr>
          <a:xfrm>
            <a:off x="612648" y="3822191"/>
            <a:ext cx="1188720" cy="411480"/>
          </a:xfrm>
          <a:prstGeom prst="rect">
            <a:avLst/>
          </a:prstGeom>
          <a:noFill/>
        </p:spPr>
        <p:txBody>
          <a:bodyPr wrap="square" lIns="0" rIns="0" tIns="0" bIns="0">
            <a:spAutoFit/>
          </a:bodyPr>
          <a:lstStyle/>
          <a:p>
            <a:pPr>
              <a:spcAft>
                <a:spcPts val="900"/>
              </a:spcAft>
              <a:defRPr sz="2400" b="1">
                <a:solidFill>
                  <a:srgbClr val="12283E"/>
                </a:solidFill>
                <a:latin typeface="Arial"/>
              </a:defRPr>
            </a:pPr>
            <a:r>
              <a:t>Part B</a:t>
            </a:r>
          </a:p>
        </p:txBody>
      </p:sp>
      <p:sp>
        <p:nvSpPr>
          <p:cNvPr id="12" name="Rectangle 11"/>
          <p:cNvSpPr/>
          <p:nvPr/>
        </p:nvSpPr>
        <p:spPr>
          <a:xfrm>
            <a:off x="1920240" y="3749039"/>
            <a:ext cx="6520287" cy="630936"/>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86831" y="3840479"/>
            <a:ext cx="2103120" cy="365760"/>
          </a:xfrm>
          <a:prstGeom prst="rect">
            <a:avLst/>
          </a:prstGeom>
          <a:noFill/>
        </p:spPr>
        <p:txBody>
          <a:bodyPr wrap="square" lIns="0" rIns="0" tIns="0" bIns="0">
            <a:spAutoFit/>
          </a:bodyPr>
          <a:lstStyle/>
          <a:p>
            <a:pPr>
              <a:spcAft>
                <a:spcPts val="900"/>
              </a:spcAft>
              <a:defRPr sz="2300" b="1">
                <a:solidFill>
                  <a:srgbClr val="D96B27"/>
                </a:solidFill>
                <a:latin typeface="Arial"/>
              </a:defRPr>
            </a:pPr>
            <a:r>
              <a:t>522,916</a:t>
            </a:r>
          </a:p>
        </p:txBody>
      </p:sp>
      <p:sp>
        <p:nvSpPr>
          <p:cNvPr id="14" name="TextBox 13"/>
          <p:cNvSpPr txBox="1"/>
          <p:nvPr/>
        </p:nvSpPr>
        <p:spPr>
          <a:xfrm>
            <a:off x="1920240" y="4782312"/>
            <a:ext cx="8229600" cy="411480"/>
          </a:xfrm>
          <a:prstGeom prst="rect">
            <a:avLst/>
          </a:prstGeom>
          <a:noFill/>
        </p:spPr>
        <p:txBody>
          <a:bodyPr wrap="square" lIns="0" rIns="0" tIns="0" bIns="0">
            <a:spAutoFit/>
          </a:bodyPr>
          <a:lstStyle/>
          <a:p>
            <a:pPr>
              <a:spcAft>
                <a:spcPts val="900"/>
              </a:spcAft>
              <a:defRPr sz="1700" b="0">
                <a:solidFill>
                  <a:srgbClr val="475569"/>
                </a:solidFill>
                <a:latin typeface="Arial"/>
              </a:defRPr>
            </a:pPr>
            <a:r>
              <a:t>Counted operations; bars start at zero.</a:t>
            </a:r>
          </a:p>
        </p:txBody>
      </p:sp>
      <p:sp>
        <p:nvSpPr>
          <p:cNvPr id="15" name="Rounded Rectangle 14"/>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Part A uses 15.3% fewer counted operations when many priorities improve.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C • WHAT ACTUALLY CAUSES THE DIFFERENCE?</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Separate the representation from the priority queue</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28</a:t>
            </a:r>
          </a:p>
        </p:txBody>
      </p:sp>
      <p:sp>
        <p:nvSpPr>
          <p:cNvPr id="7" name="Rectangle 6"/>
          <p:cNvSpPr/>
          <p:nvPr/>
        </p:nvSpPr>
        <p:spPr>
          <a:xfrm>
            <a:off x="502920" y="1755648"/>
            <a:ext cx="11155680" cy="640080"/>
          </a:xfrm>
          <a:prstGeom prst="rect">
            <a:avLst/>
          </a:prstGeom>
          <a:solidFill>
            <a:srgbClr val="12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901952"/>
            <a:ext cx="3108960" cy="374904"/>
          </a:xfrm>
          <a:prstGeom prst="rect">
            <a:avLst/>
          </a:prstGeom>
          <a:noFill/>
        </p:spPr>
        <p:txBody>
          <a:bodyPr wrap="square" lIns="0" rIns="0" tIns="0" bIns="0">
            <a:spAutoFit/>
          </a:bodyPr>
          <a:lstStyle/>
          <a:p>
            <a:pPr>
              <a:spcAft>
                <a:spcPts val="900"/>
              </a:spcAft>
              <a:defRPr sz="1900" b="1">
                <a:solidFill>
                  <a:srgbClr val="FFFFFF"/>
                </a:solidFill>
                <a:latin typeface="Arial"/>
              </a:defRPr>
            </a:pPr>
            <a:r>
              <a:t>Choice</a:t>
            </a:r>
          </a:p>
        </p:txBody>
      </p:sp>
      <p:sp>
        <p:nvSpPr>
          <p:cNvPr id="9" name="TextBox 8"/>
          <p:cNvSpPr txBox="1"/>
          <p:nvPr/>
        </p:nvSpPr>
        <p:spPr>
          <a:xfrm>
            <a:off x="4023360" y="1901952"/>
            <a:ext cx="3474720" cy="374904"/>
          </a:xfrm>
          <a:prstGeom prst="rect">
            <a:avLst/>
          </a:prstGeom>
          <a:noFill/>
        </p:spPr>
        <p:txBody>
          <a:bodyPr wrap="square" lIns="0" rIns="0" tIns="0" bIns="0">
            <a:spAutoFit/>
          </a:bodyPr>
          <a:lstStyle/>
          <a:p>
            <a:pPr>
              <a:spcAft>
                <a:spcPts val="900"/>
              </a:spcAft>
              <a:defRPr sz="1900" b="1">
                <a:solidFill>
                  <a:srgbClr val="FFFFFF"/>
                </a:solidFill>
                <a:latin typeface="Arial"/>
              </a:defRPr>
            </a:pPr>
            <a:r>
              <a:t>Matrix / array</a:t>
            </a:r>
          </a:p>
        </p:txBody>
      </p:sp>
      <p:sp>
        <p:nvSpPr>
          <p:cNvPr id="10" name="TextBox 9"/>
          <p:cNvSpPr txBox="1"/>
          <p:nvPr/>
        </p:nvSpPr>
        <p:spPr>
          <a:xfrm>
            <a:off x="7708392" y="1901952"/>
            <a:ext cx="3657600" cy="374904"/>
          </a:xfrm>
          <a:prstGeom prst="rect">
            <a:avLst/>
          </a:prstGeom>
          <a:noFill/>
        </p:spPr>
        <p:txBody>
          <a:bodyPr wrap="square" lIns="0" rIns="0" tIns="0" bIns="0">
            <a:spAutoFit/>
          </a:bodyPr>
          <a:lstStyle/>
          <a:p>
            <a:pPr>
              <a:spcAft>
                <a:spcPts val="900"/>
              </a:spcAft>
              <a:defRPr sz="1900" b="1">
                <a:solidFill>
                  <a:srgbClr val="FFFFFF"/>
                </a:solidFill>
                <a:latin typeface="Arial"/>
              </a:defRPr>
            </a:pPr>
            <a:r>
              <a:t>List / heap</a:t>
            </a:r>
          </a:p>
        </p:txBody>
      </p:sp>
      <p:sp>
        <p:nvSpPr>
          <p:cNvPr id="11" name="Rectangle 10"/>
          <p:cNvSpPr/>
          <p:nvPr/>
        </p:nvSpPr>
        <p:spPr>
          <a:xfrm>
            <a:off x="502920" y="2450591"/>
            <a:ext cx="1115568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2596896"/>
            <a:ext cx="3108960" cy="374904"/>
          </a:xfrm>
          <a:prstGeom prst="rect">
            <a:avLst/>
          </a:prstGeom>
          <a:noFill/>
        </p:spPr>
        <p:txBody>
          <a:bodyPr wrap="square" lIns="0" rIns="0" tIns="0" bIns="0">
            <a:spAutoFit/>
          </a:bodyPr>
          <a:lstStyle/>
          <a:p>
            <a:pPr>
              <a:spcAft>
                <a:spcPts val="900"/>
              </a:spcAft>
              <a:defRPr sz="1900" b="0">
                <a:solidFill>
                  <a:srgbClr val="12283E"/>
                </a:solidFill>
                <a:latin typeface="Arial"/>
              </a:defRPr>
            </a:pPr>
            <a:r>
              <a:t>Neighbor discovery</a:t>
            </a:r>
          </a:p>
        </p:txBody>
      </p:sp>
      <p:sp>
        <p:nvSpPr>
          <p:cNvPr id="13" name="TextBox 12"/>
          <p:cNvSpPr txBox="1"/>
          <p:nvPr/>
        </p:nvSpPr>
        <p:spPr>
          <a:xfrm>
            <a:off x="4023360" y="2596896"/>
            <a:ext cx="3474720" cy="374904"/>
          </a:xfrm>
          <a:prstGeom prst="rect">
            <a:avLst/>
          </a:prstGeom>
          <a:noFill/>
        </p:spPr>
        <p:txBody>
          <a:bodyPr wrap="square" lIns="0" rIns="0" tIns="0" bIns="0">
            <a:spAutoFit/>
          </a:bodyPr>
          <a:lstStyle/>
          <a:p>
            <a:pPr>
              <a:spcAft>
                <a:spcPts val="900"/>
              </a:spcAft>
              <a:defRPr sz="1900" b="0">
                <a:solidFill>
                  <a:srgbClr val="12283E"/>
                </a:solidFill>
                <a:latin typeface="Arial"/>
              </a:defRPr>
            </a:pPr>
            <a:r>
              <a:t>Matrix: V² cells</a:t>
            </a:r>
          </a:p>
        </p:txBody>
      </p:sp>
      <p:sp>
        <p:nvSpPr>
          <p:cNvPr id="14" name="TextBox 13"/>
          <p:cNvSpPr txBox="1"/>
          <p:nvPr/>
        </p:nvSpPr>
        <p:spPr>
          <a:xfrm>
            <a:off x="7708392" y="2596896"/>
            <a:ext cx="3657600" cy="374904"/>
          </a:xfrm>
          <a:prstGeom prst="rect">
            <a:avLst/>
          </a:prstGeom>
          <a:noFill/>
        </p:spPr>
        <p:txBody>
          <a:bodyPr wrap="square" lIns="0" rIns="0" tIns="0" bIns="0">
            <a:spAutoFit/>
          </a:bodyPr>
          <a:lstStyle/>
          <a:p>
            <a:pPr>
              <a:spcAft>
                <a:spcPts val="900"/>
              </a:spcAft>
              <a:defRPr sz="1900" b="0">
                <a:solidFill>
                  <a:srgbClr val="12283E"/>
                </a:solidFill>
                <a:latin typeface="Arial"/>
              </a:defRPr>
            </a:pPr>
            <a:r>
              <a:t>List: E entries</a:t>
            </a:r>
          </a:p>
        </p:txBody>
      </p:sp>
      <p:sp>
        <p:nvSpPr>
          <p:cNvPr id="15" name="Rectangle 14"/>
          <p:cNvSpPr/>
          <p:nvPr/>
        </p:nvSpPr>
        <p:spPr>
          <a:xfrm>
            <a:off x="502920" y="3145536"/>
            <a:ext cx="1115568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 y="3291840"/>
            <a:ext cx="3108960" cy="374904"/>
          </a:xfrm>
          <a:prstGeom prst="rect">
            <a:avLst/>
          </a:prstGeom>
          <a:noFill/>
        </p:spPr>
        <p:txBody>
          <a:bodyPr wrap="square" lIns="0" rIns="0" tIns="0" bIns="0">
            <a:spAutoFit/>
          </a:bodyPr>
          <a:lstStyle/>
          <a:p>
            <a:pPr>
              <a:spcAft>
                <a:spcPts val="900"/>
              </a:spcAft>
              <a:defRPr sz="1900" b="0">
                <a:solidFill>
                  <a:srgbClr val="12283E"/>
                </a:solidFill>
                <a:latin typeface="Arial"/>
              </a:defRPr>
            </a:pPr>
            <a:r>
              <a:t>Minimum selection</a:t>
            </a:r>
          </a:p>
        </p:txBody>
      </p:sp>
      <p:sp>
        <p:nvSpPr>
          <p:cNvPr id="17" name="TextBox 16"/>
          <p:cNvSpPr txBox="1"/>
          <p:nvPr/>
        </p:nvSpPr>
        <p:spPr>
          <a:xfrm>
            <a:off x="4023360" y="3291840"/>
            <a:ext cx="3474720" cy="374904"/>
          </a:xfrm>
          <a:prstGeom prst="rect">
            <a:avLst/>
          </a:prstGeom>
          <a:noFill/>
        </p:spPr>
        <p:txBody>
          <a:bodyPr wrap="square" lIns="0" rIns="0" tIns="0" bIns="0">
            <a:spAutoFit/>
          </a:bodyPr>
          <a:lstStyle/>
          <a:p>
            <a:pPr>
              <a:spcAft>
                <a:spcPts val="900"/>
              </a:spcAft>
              <a:defRPr sz="1900" b="0">
                <a:solidFill>
                  <a:srgbClr val="12283E"/>
                </a:solidFill>
                <a:latin typeface="Arial"/>
              </a:defRPr>
            </a:pPr>
            <a:r>
              <a:t>Array: Θ(V²) total</a:t>
            </a:r>
          </a:p>
        </p:txBody>
      </p:sp>
      <p:sp>
        <p:nvSpPr>
          <p:cNvPr id="18" name="TextBox 17"/>
          <p:cNvSpPr txBox="1"/>
          <p:nvPr/>
        </p:nvSpPr>
        <p:spPr>
          <a:xfrm>
            <a:off x="7708392" y="3291840"/>
            <a:ext cx="3657600" cy="374904"/>
          </a:xfrm>
          <a:prstGeom prst="rect">
            <a:avLst/>
          </a:prstGeom>
          <a:noFill/>
        </p:spPr>
        <p:txBody>
          <a:bodyPr wrap="square" lIns="0" rIns="0" tIns="0" bIns="0">
            <a:spAutoFit/>
          </a:bodyPr>
          <a:lstStyle/>
          <a:p>
            <a:pPr>
              <a:spcAft>
                <a:spcPts val="900"/>
              </a:spcAft>
              <a:defRPr sz="1900" b="0">
                <a:solidFill>
                  <a:srgbClr val="12283E"/>
                </a:solidFill>
                <a:latin typeface="Arial"/>
              </a:defRPr>
            </a:pPr>
            <a:r>
              <a:t>Heap: O(V log V) total</a:t>
            </a:r>
          </a:p>
        </p:txBody>
      </p:sp>
      <p:sp>
        <p:nvSpPr>
          <p:cNvPr id="19" name="Rectangle 18"/>
          <p:cNvSpPr/>
          <p:nvPr/>
        </p:nvSpPr>
        <p:spPr>
          <a:xfrm>
            <a:off x="502920" y="3840480"/>
            <a:ext cx="1115568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4088" y="3986784"/>
            <a:ext cx="3108960" cy="374904"/>
          </a:xfrm>
          <a:prstGeom prst="rect">
            <a:avLst/>
          </a:prstGeom>
          <a:noFill/>
        </p:spPr>
        <p:txBody>
          <a:bodyPr wrap="square" lIns="0" rIns="0" tIns="0" bIns="0">
            <a:spAutoFit/>
          </a:bodyPr>
          <a:lstStyle/>
          <a:p>
            <a:pPr>
              <a:spcAft>
                <a:spcPts val="900"/>
              </a:spcAft>
              <a:defRPr sz="1900" b="0">
                <a:solidFill>
                  <a:srgbClr val="12283E"/>
                </a:solidFill>
                <a:latin typeface="Arial"/>
              </a:defRPr>
            </a:pPr>
            <a:r>
              <a:t>Priority updates</a:t>
            </a:r>
          </a:p>
        </p:txBody>
      </p:sp>
      <p:sp>
        <p:nvSpPr>
          <p:cNvPr id="21" name="TextBox 20"/>
          <p:cNvSpPr txBox="1"/>
          <p:nvPr/>
        </p:nvSpPr>
        <p:spPr>
          <a:xfrm>
            <a:off x="4023360" y="3986784"/>
            <a:ext cx="3474720" cy="374904"/>
          </a:xfrm>
          <a:prstGeom prst="rect">
            <a:avLst/>
          </a:prstGeom>
          <a:noFill/>
        </p:spPr>
        <p:txBody>
          <a:bodyPr wrap="square" lIns="0" rIns="0" tIns="0" bIns="0">
            <a:spAutoFit/>
          </a:bodyPr>
          <a:lstStyle/>
          <a:p>
            <a:pPr>
              <a:spcAft>
                <a:spcPts val="900"/>
              </a:spcAft>
              <a:defRPr sz="1900" b="0">
                <a:solidFill>
                  <a:srgbClr val="12283E"/>
                </a:solidFill>
                <a:latin typeface="Arial"/>
              </a:defRPr>
            </a:pPr>
            <a:r>
              <a:t>Array: O(1) each</a:t>
            </a:r>
          </a:p>
        </p:txBody>
      </p:sp>
      <p:sp>
        <p:nvSpPr>
          <p:cNvPr id="22" name="TextBox 21"/>
          <p:cNvSpPr txBox="1"/>
          <p:nvPr/>
        </p:nvSpPr>
        <p:spPr>
          <a:xfrm>
            <a:off x="7708392" y="3986784"/>
            <a:ext cx="3657600" cy="374904"/>
          </a:xfrm>
          <a:prstGeom prst="rect">
            <a:avLst/>
          </a:prstGeom>
          <a:noFill/>
        </p:spPr>
        <p:txBody>
          <a:bodyPr wrap="square" lIns="0" rIns="0" tIns="0" bIns="0">
            <a:spAutoFit/>
          </a:bodyPr>
          <a:lstStyle/>
          <a:p>
            <a:pPr>
              <a:spcAft>
                <a:spcPts val="900"/>
              </a:spcAft>
              <a:defRPr sz="1900" b="0">
                <a:solidFill>
                  <a:srgbClr val="12283E"/>
                </a:solidFill>
                <a:latin typeface="Arial"/>
              </a:defRPr>
            </a:pPr>
            <a:r>
              <a:t>Heap: O(log V) each</a:t>
            </a:r>
          </a:p>
        </p:txBody>
      </p:sp>
      <p:sp>
        <p:nvSpPr>
          <p:cNvPr id="23" name="Rectangle 22"/>
          <p:cNvSpPr/>
          <p:nvPr/>
        </p:nvSpPr>
        <p:spPr>
          <a:xfrm>
            <a:off x="502920" y="4535424"/>
            <a:ext cx="11155680"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 y="4681728"/>
            <a:ext cx="3108960" cy="374904"/>
          </a:xfrm>
          <a:prstGeom prst="rect">
            <a:avLst/>
          </a:prstGeom>
          <a:noFill/>
        </p:spPr>
        <p:txBody>
          <a:bodyPr wrap="square" lIns="0" rIns="0" tIns="0" bIns="0">
            <a:spAutoFit/>
          </a:bodyPr>
          <a:lstStyle/>
          <a:p>
            <a:pPr>
              <a:spcAft>
                <a:spcPts val="900"/>
              </a:spcAft>
              <a:defRPr sz="1900" b="0">
                <a:solidFill>
                  <a:srgbClr val="12283E"/>
                </a:solidFill>
                <a:latin typeface="Arial"/>
              </a:defRPr>
            </a:pPr>
            <a:r>
              <a:t>Specific edge lookup</a:t>
            </a:r>
          </a:p>
        </p:txBody>
      </p:sp>
      <p:sp>
        <p:nvSpPr>
          <p:cNvPr id="25" name="TextBox 24"/>
          <p:cNvSpPr txBox="1"/>
          <p:nvPr/>
        </p:nvSpPr>
        <p:spPr>
          <a:xfrm>
            <a:off x="4023360" y="4681728"/>
            <a:ext cx="3474720" cy="374904"/>
          </a:xfrm>
          <a:prstGeom prst="rect">
            <a:avLst/>
          </a:prstGeom>
          <a:noFill/>
        </p:spPr>
        <p:txBody>
          <a:bodyPr wrap="square" lIns="0" rIns="0" tIns="0" bIns="0">
            <a:spAutoFit/>
          </a:bodyPr>
          <a:lstStyle/>
          <a:p>
            <a:pPr>
              <a:spcAft>
                <a:spcPts val="900"/>
              </a:spcAft>
              <a:defRPr sz="1900" b="0">
                <a:solidFill>
                  <a:srgbClr val="12283E"/>
                </a:solidFill>
                <a:latin typeface="Arial"/>
              </a:defRPr>
            </a:pPr>
            <a:r>
              <a:t>Matrix: O(1)</a:t>
            </a:r>
          </a:p>
        </p:txBody>
      </p:sp>
      <p:sp>
        <p:nvSpPr>
          <p:cNvPr id="26" name="TextBox 25"/>
          <p:cNvSpPr txBox="1"/>
          <p:nvPr/>
        </p:nvSpPr>
        <p:spPr>
          <a:xfrm>
            <a:off x="7708392" y="4681728"/>
            <a:ext cx="3657600" cy="374904"/>
          </a:xfrm>
          <a:prstGeom prst="rect">
            <a:avLst/>
          </a:prstGeom>
          <a:noFill/>
        </p:spPr>
        <p:txBody>
          <a:bodyPr wrap="square" lIns="0" rIns="0" tIns="0" bIns="0">
            <a:spAutoFit/>
          </a:bodyPr>
          <a:lstStyle/>
          <a:p>
            <a:pPr>
              <a:spcAft>
                <a:spcPts val="900"/>
              </a:spcAft>
              <a:defRPr sz="1900" b="0">
                <a:solidFill>
                  <a:srgbClr val="12283E"/>
                </a:solidFill>
                <a:latin typeface="Arial"/>
              </a:defRPr>
            </a:pPr>
            <a:r>
              <a:t>List: O(outdegree(u))</a:t>
            </a:r>
          </a:p>
        </p:txBody>
      </p:sp>
      <p:sp>
        <p:nvSpPr>
          <p:cNvPr id="27" name="Rounded Rectangle 26"/>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List + array also gives Θ(V² + E): a matrix is not essential for that bound.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283E"/>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38BDF8"/>
                </a:solidFill>
                <a:latin typeface="Arial"/>
              </a:defRPr>
            </a:pPr>
            <a:r>
              <a:t>CONCLUSIONS</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FFFFFF"/>
                </a:solidFill>
                <a:latin typeface="Arial"/>
              </a:defRPr>
            </a:pPr>
            <a:r>
              <a:t>Choose based on sparsity and update behavior</a:t>
            </a:r>
          </a:p>
        </p:txBody>
      </p:sp>
      <p:sp>
        <p:nvSpPr>
          <p:cNvPr id="4" name="Rectangle 3"/>
          <p:cNvSpPr/>
          <p:nvPr/>
        </p:nvSpPr>
        <p:spPr>
          <a:xfrm>
            <a:off x="502920" y="6437376"/>
            <a:ext cx="11155680" cy="13716"/>
          </a:xfrm>
          <a:prstGeom prst="rect">
            <a:avLst/>
          </a:prstGeom>
          <a:solidFill>
            <a:srgbClr val="5667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C8D5DF"/>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C8D5DF"/>
                </a:solidFill>
                <a:latin typeface="Arial"/>
              </a:defRPr>
            </a:pPr>
            <a:r>
              <a:t>29</a:t>
            </a:r>
          </a:p>
        </p:txBody>
      </p:sp>
      <p:sp>
        <p:nvSpPr>
          <p:cNvPr id="7" name="TextBox 6"/>
          <p:cNvSpPr txBox="1"/>
          <p:nvPr/>
        </p:nvSpPr>
        <p:spPr>
          <a:xfrm>
            <a:off x="640080" y="1783080"/>
            <a:ext cx="914400" cy="457200"/>
          </a:xfrm>
          <a:prstGeom prst="rect">
            <a:avLst/>
          </a:prstGeom>
          <a:noFill/>
        </p:spPr>
        <p:txBody>
          <a:bodyPr wrap="square" lIns="0" rIns="0" tIns="0" bIns="0">
            <a:spAutoFit/>
          </a:bodyPr>
          <a:lstStyle/>
          <a:p>
            <a:pPr>
              <a:spcAft>
                <a:spcPts val="900"/>
              </a:spcAft>
              <a:defRPr sz="2500" b="1">
                <a:solidFill>
                  <a:srgbClr val="38BDF8"/>
                </a:solidFill>
                <a:latin typeface="Arial"/>
              </a:defRPr>
            </a:pPr>
            <a:r>
              <a:t>01</a:t>
            </a:r>
          </a:p>
        </p:txBody>
      </p:sp>
      <p:sp>
        <p:nvSpPr>
          <p:cNvPr id="8" name="TextBox 7"/>
          <p:cNvSpPr txBox="1"/>
          <p:nvPr/>
        </p:nvSpPr>
        <p:spPr>
          <a:xfrm>
            <a:off x="1508760" y="1783080"/>
            <a:ext cx="9784080" cy="914400"/>
          </a:xfrm>
          <a:prstGeom prst="rect">
            <a:avLst/>
          </a:prstGeom>
          <a:noFill/>
        </p:spPr>
        <p:txBody>
          <a:bodyPr wrap="square" lIns="0" rIns="0" tIns="0" bIns="0">
            <a:spAutoFit/>
          </a:bodyPr>
          <a:lstStyle/>
          <a:p>
            <a:pPr>
              <a:spcAft>
                <a:spcPts val="900"/>
              </a:spcAft>
              <a:defRPr sz="2700" b="1">
                <a:solidFill>
                  <a:srgbClr val="FFFFFF"/>
                </a:solidFill>
                <a:latin typeface="Arial"/>
              </a:defRPr>
            </a:pPr>
            <a:r>
              <a:t>Sparse graphs: list + heap avoids wasted scans and saves space.</a:t>
            </a:r>
          </a:p>
        </p:txBody>
      </p:sp>
      <p:sp>
        <p:nvSpPr>
          <p:cNvPr id="9" name="TextBox 8"/>
          <p:cNvSpPr txBox="1"/>
          <p:nvPr/>
        </p:nvSpPr>
        <p:spPr>
          <a:xfrm>
            <a:off x="640080" y="3063240"/>
            <a:ext cx="914400" cy="457200"/>
          </a:xfrm>
          <a:prstGeom prst="rect">
            <a:avLst/>
          </a:prstGeom>
          <a:noFill/>
        </p:spPr>
        <p:txBody>
          <a:bodyPr wrap="square" lIns="0" rIns="0" tIns="0" bIns="0">
            <a:spAutoFit/>
          </a:bodyPr>
          <a:lstStyle/>
          <a:p>
            <a:pPr>
              <a:spcAft>
                <a:spcPts val="900"/>
              </a:spcAft>
              <a:defRPr sz="2500" b="1">
                <a:solidFill>
                  <a:srgbClr val="38BDF8"/>
                </a:solidFill>
                <a:latin typeface="Arial"/>
              </a:defRPr>
            </a:pPr>
            <a:r>
              <a:t>02</a:t>
            </a:r>
          </a:p>
        </p:txBody>
      </p:sp>
      <p:sp>
        <p:nvSpPr>
          <p:cNvPr id="10" name="TextBox 9"/>
          <p:cNvSpPr txBox="1"/>
          <p:nvPr/>
        </p:nvSpPr>
        <p:spPr>
          <a:xfrm>
            <a:off x="1508760" y="3063240"/>
            <a:ext cx="9784080" cy="914400"/>
          </a:xfrm>
          <a:prstGeom prst="rect">
            <a:avLst/>
          </a:prstGeom>
          <a:noFill/>
        </p:spPr>
        <p:txBody>
          <a:bodyPr wrap="square" lIns="0" rIns="0" tIns="0" bIns="0">
            <a:spAutoFit/>
          </a:bodyPr>
          <a:lstStyle/>
          <a:p>
            <a:pPr>
              <a:spcAft>
                <a:spcPts val="900"/>
              </a:spcAft>
              <a:defRPr sz="2700" b="1">
                <a:solidFill>
                  <a:srgbClr val="FFFFFF"/>
                </a:solidFill>
                <a:latin typeface="Arial"/>
              </a:defRPr>
            </a:pPr>
            <a:r>
              <a:t>Dense graphs: array updates give a strong worst-case bound; a win is not automatic.</a:t>
            </a:r>
          </a:p>
        </p:txBody>
      </p:sp>
      <p:sp>
        <p:nvSpPr>
          <p:cNvPr id="11" name="TextBox 10"/>
          <p:cNvSpPr txBox="1"/>
          <p:nvPr/>
        </p:nvSpPr>
        <p:spPr>
          <a:xfrm>
            <a:off x="640080" y="4498848"/>
            <a:ext cx="914400" cy="457200"/>
          </a:xfrm>
          <a:prstGeom prst="rect">
            <a:avLst/>
          </a:prstGeom>
          <a:noFill/>
        </p:spPr>
        <p:txBody>
          <a:bodyPr wrap="square" lIns="0" rIns="0" tIns="0" bIns="0">
            <a:spAutoFit/>
          </a:bodyPr>
          <a:lstStyle/>
          <a:p>
            <a:pPr>
              <a:spcAft>
                <a:spcPts val="900"/>
              </a:spcAft>
              <a:defRPr sz="2500" b="1">
                <a:solidFill>
                  <a:srgbClr val="38BDF8"/>
                </a:solidFill>
                <a:latin typeface="Arial"/>
              </a:defRPr>
            </a:pPr>
            <a:r>
              <a:t>03</a:t>
            </a:r>
          </a:p>
        </p:txBody>
      </p:sp>
      <p:sp>
        <p:nvSpPr>
          <p:cNvPr id="12" name="TextBox 11"/>
          <p:cNvSpPr txBox="1"/>
          <p:nvPr/>
        </p:nvSpPr>
        <p:spPr>
          <a:xfrm>
            <a:off x="1508760" y="4498848"/>
            <a:ext cx="9784080" cy="914400"/>
          </a:xfrm>
          <a:prstGeom prst="rect">
            <a:avLst/>
          </a:prstGeom>
          <a:noFill/>
        </p:spPr>
        <p:txBody>
          <a:bodyPr wrap="square" lIns="0" rIns="0" tIns="0" bIns="0">
            <a:spAutoFit/>
          </a:bodyPr>
          <a:lstStyle/>
          <a:p>
            <a:pPr>
              <a:spcAft>
                <a:spcPts val="900"/>
              </a:spcAft>
              <a:defRPr sz="2700" b="1">
                <a:solidFill>
                  <a:srgbClr val="FFFFFF"/>
                </a:solidFill>
                <a:latin typeface="Arial"/>
              </a:defRPr>
            </a:pPr>
            <a:r>
              <a:t>Report what was measured: core-operation counts, not CPU speedups.</a:t>
            </a:r>
          </a:p>
        </p:txBody>
      </p:sp>
      <p:sp>
        <p:nvSpPr>
          <p:cNvPr id="13" name="Rounded Rectangle 12"/>
          <p:cNvSpPr/>
          <p:nvPr/>
        </p:nvSpPr>
        <p:spPr>
          <a:xfrm>
            <a:off x="502920" y="5687568"/>
            <a:ext cx="11155680" cy="530352"/>
          </a:xfrm>
          <a:prstGeom prst="roundRect">
            <a:avLst>
              <a:gd name="adj" fmla="val 6000"/>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FFFFFF"/>
                </a:solidFill>
                <a:latin typeface="Arial"/>
              </a:defRPr>
            </a:pPr>
            <a:r>
              <a:t>Thank you — questions?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APPENDIX • COUNTING MODEL</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Exact counters connect theory to the measurements</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30</a:t>
            </a:r>
          </a:p>
        </p:txBody>
      </p:sp>
      <p:sp>
        <p:nvSpPr>
          <p:cNvPr id="7" name="TextBox 6"/>
          <p:cNvSpPr txBox="1"/>
          <p:nvPr/>
        </p:nvSpPr>
        <p:spPr>
          <a:xfrm>
            <a:off x="658368" y="1737360"/>
            <a:ext cx="10881360" cy="457200"/>
          </a:xfrm>
          <a:prstGeom prst="rect">
            <a:avLst/>
          </a:prstGeom>
          <a:noFill/>
        </p:spPr>
        <p:txBody>
          <a:bodyPr wrap="square" lIns="0" rIns="0" tIns="0" bIns="0">
            <a:spAutoFit/>
          </a:bodyPr>
          <a:lstStyle/>
          <a:p>
            <a:pPr>
              <a:spcAft>
                <a:spcPts val="900"/>
              </a:spcAft>
              <a:defRPr sz="2300" b="1">
                <a:solidFill>
                  <a:srgbClr val="176B9B"/>
                </a:solidFill>
                <a:latin typeface="Arial"/>
              </a:defRPr>
            </a:pPr>
            <a:r>
              <a:t>Part A</a:t>
            </a:r>
          </a:p>
        </p:txBody>
      </p:sp>
      <p:sp>
        <p:nvSpPr>
          <p:cNvPr id="8" name="TextBox 7"/>
          <p:cNvSpPr txBox="1"/>
          <p:nvPr/>
        </p:nvSpPr>
        <p:spPr>
          <a:xfrm>
            <a:off x="658368" y="2350008"/>
            <a:ext cx="10881360" cy="548640"/>
          </a:xfrm>
          <a:prstGeom prst="rect">
            <a:avLst/>
          </a:prstGeom>
          <a:noFill/>
        </p:spPr>
        <p:txBody>
          <a:bodyPr wrap="square" lIns="0" rIns="0" tIns="0" bIns="0">
            <a:spAutoFit/>
          </a:bodyPr>
          <a:lstStyle/>
          <a:p>
            <a:pPr>
              <a:spcAft>
                <a:spcPts val="900"/>
              </a:spcAft>
              <a:defRPr sz="2900" b="0">
                <a:solidFill>
                  <a:srgbClr val="12283E"/>
                </a:solidFill>
                <a:latin typeface="Arial"/>
              </a:defRPr>
            </a:pPr>
            <a:r>
              <a:t>C_A = 3V + V(V − 1)/2 + V² + E + R</a:t>
            </a:r>
          </a:p>
        </p:txBody>
      </p:sp>
      <p:sp>
        <p:nvSpPr>
          <p:cNvPr id="9" name="TextBox 8"/>
          <p:cNvSpPr txBox="1"/>
          <p:nvPr/>
        </p:nvSpPr>
        <p:spPr>
          <a:xfrm>
            <a:off x="658368" y="3246120"/>
            <a:ext cx="10881360" cy="457200"/>
          </a:xfrm>
          <a:prstGeom prst="rect">
            <a:avLst/>
          </a:prstGeom>
          <a:noFill/>
        </p:spPr>
        <p:txBody>
          <a:bodyPr wrap="square" lIns="0" rIns="0" tIns="0" bIns="0">
            <a:spAutoFit/>
          </a:bodyPr>
          <a:lstStyle/>
          <a:p>
            <a:pPr>
              <a:spcAft>
                <a:spcPts val="900"/>
              </a:spcAft>
              <a:defRPr sz="2300" b="1">
                <a:solidFill>
                  <a:srgbClr val="D96B27"/>
                </a:solidFill>
                <a:latin typeface="Arial"/>
              </a:defRPr>
            </a:pPr>
            <a:r>
              <a:t>Part B</a:t>
            </a:r>
          </a:p>
        </p:txBody>
      </p:sp>
      <p:sp>
        <p:nvSpPr>
          <p:cNvPr id="10" name="TextBox 9"/>
          <p:cNvSpPr txBox="1"/>
          <p:nvPr/>
        </p:nvSpPr>
        <p:spPr>
          <a:xfrm>
            <a:off x="658368" y="3858768"/>
            <a:ext cx="10881360" cy="548640"/>
          </a:xfrm>
          <a:prstGeom prst="rect">
            <a:avLst/>
          </a:prstGeom>
          <a:noFill/>
        </p:spPr>
        <p:txBody>
          <a:bodyPr wrap="square" lIns="0" rIns="0" tIns="0" bIns="0">
            <a:spAutoFit/>
          </a:bodyPr>
          <a:lstStyle/>
          <a:p>
            <a:pPr>
              <a:spcAft>
                <a:spcPts val="900"/>
              </a:spcAft>
              <a:defRPr sz="2900" b="0">
                <a:solidFill>
                  <a:srgbClr val="12283E"/>
                </a:solidFill>
                <a:latin typeface="Arial"/>
              </a:defRPr>
            </a:pPr>
            <a:r>
              <a:t>C_B = 3V + 2E + 2R + H_c + H_s</a:t>
            </a:r>
          </a:p>
        </p:txBody>
      </p:sp>
      <p:sp>
        <p:nvSpPr>
          <p:cNvPr id="11" name="TextBox 10"/>
          <p:cNvSpPr txBox="1"/>
          <p:nvPr/>
        </p:nvSpPr>
        <p:spPr>
          <a:xfrm>
            <a:off x="658368" y="4773168"/>
            <a:ext cx="10789920" cy="594360"/>
          </a:xfrm>
          <a:prstGeom prst="rect">
            <a:avLst/>
          </a:prstGeom>
          <a:noFill/>
        </p:spPr>
        <p:txBody>
          <a:bodyPr wrap="square" lIns="0" rIns="0" tIns="0" bIns="0">
            <a:spAutoFit/>
          </a:bodyPr>
          <a:lstStyle/>
          <a:p>
            <a:pPr>
              <a:spcAft>
                <a:spcPts val="900"/>
              </a:spcAft>
              <a:defRPr sz="1900" b="0">
                <a:solidFill>
                  <a:srgbClr val="475569"/>
                </a:solidFill>
                <a:latin typeface="Arial"/>
              </a:defRPr>
            </a:pPr>
            <a:r>
              <a:t>R: successful relaxations     H_c: heap comparisons     H_s: heap swaps</a:t>
            </a:r>
          </a:p>
        </p:txBody>
      </p:sp>
      <p:sp>
        <p:nvSpPr>
          <p:cNvPr id="12" name="Rounded Rectangle 11"/>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Generation, conversion, plotting and validation are outside these counts.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APPENDIX • REPRODUCIBILITY</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Validation, scope and sources</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31</a:t>
            </a:r>
          </a:p>
        </p:txBody>
      </p:sp>
      <p:sp>
        <p:nvSpPr>
          <p:cNvPr id="7" name="Rounded Rectangle 6"/>
          <p:cNvSpPr/>
          <p:nvPr/>
        </p:nvSpPr>
        <p:spPr>
          <a:xfrm>
            <a:off x="502920"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VALIDATION</a:t>
            </a:r>
          </a:p>
        </p:txBody>
      </p:sp>
      <p:sp>
        <p:nvSpPr>
          <p:cNvPr id="9" name="TextBox 8"/>
          <p:cNvSpPr txBox="1"/>
          <p:nvPr/>
        </p:nvSpPr>
        <p:spPr>
          <a:xfrm>
            <a:off x="722376"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Independent checks</a:t>
            </a:r>
          </a:p>
        </p:txBody>
      </p:sp>
      <p:sp>
        <p:nvSpPr>
          <p:cNvPr id="10" name="TextBox 9"/>
          <p:cNvSpPr txBox="1"/>
          <p:nvPr/>
        </p:nvSpPr>
        <p:spPr>
          <a:xfrm>
            <a:off x="722376"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Bellman–Ford distances.</a:t>
            </a:r>
          </a:p>
          <a:p>
            <a:pPr>
              <a:spcAft>
                <a:spcPts val="900"/>
              </a:spcAft>
              <a:defRPr sz="1900" b="0">
                <a:solidFill>
                  <a:srgbClr val="475569"/>
                </a:solidFill>
                <a:latin typeface="Arial"/>
              </a:defRPr>
            </a:pPr>
            <a:r>
              <a:t>Reconstructed path weights.</a:t>
            </a:r>
          </a:p>
          <a:p>
            <a:pPr>
              <a:spcAft>
                <a:spcPts val="900"/>
              </a:spcAft>
              <a:defRPr sz="1900" b="0">
                <a:solidFill>
                  <a:srgbClr val="475569"/>
                </a:solidFill>
                <a:latin typeface="Arial"/>
              </a:defRPr>
            </a:pPr>
            <a:r>
              <a:t>Zero weights, ties and disconnected graphs.</a:t>
            </a:r>
          </a:p>
        </p:txBody>
      </p:sp>
      <p:sp>
        <p:nvSpPr>
          <p:cNvPr id="11" name="Rounded Rectangle 10"/>
          <p:cNvSpPr/>
          <p:nvPr/>
        </p:nvSpPr>
        <p:spPr>
          <a:xfrm>
            <a:off x="722376"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4791456"/>
            <a:ext cx="2916936" cy="347472"/>
          </a:xfrm>
          <a:prstGeom prst="rect">
            <a:avLst/>
          </a:prstGeom>
          <a:noFill/>
        </p:spPr>
        <p:txBody>
          <a:bodyPr wrap="square" lIns="0" rIns="0" tIns="0" bIns="0">
            <a:spAutoFit/>
          </a:bodyPr>
          <a:lstStyle/>
          <a:p>
            <a:pPr>
              <a:spcAft>
                <a:spcPts val="900"/>
              </a:spcAft>
              <a:defRPr sz="2000" b="1">
                <a:solidFill>
                  <a:srgbClr val="176B9B"/>
                </a:solidFill>
                <a:latin typeface="Arial"/>
              </a:defRPr>
            </a:pPr>
            <a:r>
              <a:t>All checks passed</a:t>
            </a:r>
          </a:p>
        </p:txBody>
      </p:sp>
      <p:sp>
        <p:nvSpPr>
          <p:cNvPr id="13" name="Rounded Rectangle 12"/>
          <p:cNvSpPr/>
          <p:nvPr/>
        </p:nvSpPr>
        <p:spPr>
          <a:xfrm>
            <a:off x="4288536" y="1755648"/>
            <a:ext cx="3575304" cy="3694176"/>
          </a:xfrm>
          <a:prstGeom prst="roundRect">
            <a:avLst>
              <a:gd name="adj" fmla="val 6000"/>
            </a:avLst>
          </a:prstGeom>
          <a:solidFill>
            <a:srgbClr val="FFFFFF"/>
          </a:solidFill>
          <a:ln>
            <a:solidFill>
              <a:srgbClr val="DDE4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984248"/>
            <a:ext cx="3136392" cy="274320"/>
          </a:xfrm>
          <a:prstGeom prst="rect">
            <a:avLst/>
          </a:prstGeom>
          <a:noFill/>
        </p:spPr>
        <p:txBody>
          <a:bodyPr wrap="square" lIns="0" rIns="0" tIns="0" bIns="0">
            <a:spAutoFit/>
          </a:bodyPr>
          <a:lstStyle/>
          <a:p>
            <a:pPr>
              <a:spcAft>
                <a:spcPts val="900"/>
              </a:spcAft>
              <a:defRPr sz="1200" b="1">
                <a:solidFill>
                  <a:srgbClr val="176B9B"/>
                </a:solidFill>
                <a:latin typeface="Arial"/>
              </a:defRPr>
            </a:pPr>
            <a:r>
              <a:t>LIMITATIONS</a:t>
            </a:r>
          </a:p>
        </p:txBody>
      </p:sp>
      <p:sp>
        <p:nvSpPr>
          <p:cNvPr id="15" name="TextBox 14"/>
          <p:cNvSpPr txBox="1"/>
          <p:nvPr/>
        </p:nvSpPr>
        <p:spPr>
          <a:xfrm>
            <a:off x="4507992" y="2450592"/>
            <a:ext cx="3136392" cy="612648"/>
          </a:xfrm>
          <a:prstGeom prst="rect">
            <a:avLst/>
          </a:prstGeom>
          <a:noFill/>
        </p:spPr>
        <p:txBody>
          <a:bodyPr wrap="square" lIns="0" rIns="0" tIns="0" bIns="0">
            <a:spAutoFit/>
          </a:bodyPr>
          <a:lstStyle/>
          <a:p>
            <a:pPr>
              <a:spcAft>
                <a:spcPts val="900"/>
              </a:spcAft>
              <a:defRPr sz="2300" b="1">
                <a:solidFill>
                  <a:srgbClr val="12283E"/>
                </a:solidFill>
                <a:latin typeface="Arial"/>
              </a:defRPr>
            </a:pPr>
            <a:r>
              <a:t>Controlled experiments</a:t>
            </a:r>
          </a:p>
        </p:txBody>
      </p:sp>
      <p:sp>
        <p:nvSpPr>
          <p:cNvPr id="16" name="TextBox 15"/>
          <p:cNvSpPr txBox="1"/>
          <p:nvPr/>
        </p:nvSpPr>
        <p:spPr>
          <a:xfrm>
            <a:off x="4507992" y="3182112"/>
            <a:ext cx="3136392" cy="1243584"/>
          </a:xfrm>
          <a:prstGeom prst="rect">
            <a:avLst/>
          </a:prstGeom>
          <a:noFill/>
        </p:spPr>
        <p:txBody>
          <a:bodyPr wrap="square" lIns="0" rIns="0" tIns="0" bIns="0">
            <a:spAutoFit/>
          </a:bodyPr>
          <a:lstStyle/>
          <a:p>
            <a:pPr>
              <a:spcAft>
                <a:spcPts val="900"/>
              </a:spcAft>
              <a:defRPr sz="1900" b="0">
                <a:solidFill>
                  <a:srgbClr val="475569"/>
                </a:solidFill>
                <a:latin typeface="Arial"/>
              </a:defRPr>
            </a:pPr>
            <a:r>
              <a:t>Three seeds per setting.</a:t>
            </a:r>
          </a:p>
          <a:p>
            <a:pPr>
              <a:spcAft>
                <a:spcPts val="900"/>
              </a:spcAft>
              <a:defRPr sz="1900" b="0">
                <a:solidFill>
                  <a:srgbClr val="475569"/>
                </a:solidFill>
                <a:latin typeface="Arial"/>
              </a:defRPr>
            </a:pPr>
            <a:r>
              <a:t>Moderate input sizes.</a:t>
            </a:r>
          </a:p>
          <a:p>
            <a:pPr>
              <a:spcAft>
                <a:spcPts val="900"/>
              </a:spcAft>
              <a:defRPr sz="1900" b="0">
                <a:solidFill>
                  <a:srgbClr val="475569"/>
                </a:solidFill>
                <a:latin typeface="Arial"/>
              </a:defRPr>
            </a:pPr>
            <a:r>
              <a:t>Counts ≠ elapsed time.</a:t>
            </a:r>
          </a:p>
          <a:p>
            <a:pPr>
              <a:spcAft>
                <a:spcPts val="900"/>
              </a:spcAft>
              <a:defRPr sz="1900" b="0">
                <a:solidFill>
                  <a:srgbClr val="475569"/>
                </a:solidFill>
                <a:latin typeface="Arial"/>
              </a:defRPr>
            </a:pPr>
            <a:r>
              <a:t>References are scaled.</a:t>
            </a:r>
          </a:p>
        </p:txBody>
      </p:sp>
      <p:sp>
        <p:nvSpPr>
          <p:cNvPr id="17" name="Rounded Rectangle 16"/>
          <p:cNvSpPr/>
          <p:nvPr/>
        </p:nvSpPr>
        <p:spPr>
          <a:xfrm>
            <a:off x="4507992" y="4690872"/>
            <a:ext cx="3136392" cy="512064"/>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791456"/>
            <a:ext cx="2916936" cy="347472"/>
          </a:xfrm>
          <a:prstGeom prst="rect">
            <a:avLst/>
          </a:prstGeom>
          <a:noFill/>
        </p:spPr>
        <p:txBody>
          <a:bodyPr wrap="square" lIns="0" rIns="0" tIns="0" bIns="0">
            <a:spAutoFit/>
          </a:bodyPr>
          <a:lstStyle/>
          <a:p>
            <a:pPr>
              <a:spcAft>
                <a:spcPts val="900"/>
              </a:spcAft>
              <a:defRPr sz="1700" b="1">
                <a:solidFill>
                  <a:srgbClr val="176B9B"/>
                </a:solidFill>
                <a:latin typeface="Arial"/>
              </a:defRPr>
            </a:pPr>
            <a:r>
              <a:t>No universal crossover</a:t>
            </a:r>
          </a:p>
        </p:txBody>
      </p:sp>
      <p:sp>
        <p:nvSpPr>
          <p:cNvPr id="19" name="Rounded Rectangle 18"/>
          <p:cNvSpPr/>
          <p:nvPr/>
        </p:nvSpPr>
        <p:spPr>
          <a:xfrm>
            <a:off x="8074152" y="1755648"/>
            <a:ext cx="3575304" cy="3694176"/>
          </a:xfrm>
          <a:prstGeom prst="roundRect">
            <a:avLst>
              <a:gd name="adj" fmla="val 6000"/>
            </a:avLst>
          </a:prstGeom>
          <a:solidFill>
            <a:srgbClr val="122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1984248"/>
            <a:ext cx="3136392" cy="274320"/>
          </a:xfrm>
          <a:prstGeom prst="rect">
            <a:avLst/>
          </a:prstGeom>
          <a:noFill/>
        </p:spPr>
        <p:txBody>
          <a:bodyPr wrap="square" lIns="0" rIns="0" tIns="0" bIns="0">
            <a:spAutoFit/>
          </a:bodyPr>
          <a:lstStyle/>
          <a:p>
            <a:pPr>
              <a:spcAft>
                <a:spcPts val="900"/>
              </a:spcAft>
              <a:defRPr sz="1200" b="1">
                <a:solidFill>
                  <a:srgbClr val="38BDF8"/>
                </a:solidFill>
                <a:latin typeface="Arial"/>
              </a:defRPr>
            </a:pPr>
            <a:r>
              <a:t>SOURCES</a:t>
            </a:r>
          </a:p>
        </p:txBody>
      </p:sp>
      <p:sp>
        <p:nvSpPr>
          <p:cNvPr id="21" name="TextBox 20"/>
          <p:cNvSpPr txBox="1"/>
          <p:nvPr/>
        </p:nvSpPr>
        <p:spPr>
          <a:xfrm>
            <a:off x="8293608" y="2450592"/>
            <a:ext cx="3136392" cy="612648"/>
          </a:xfrm>
          <a:prstGeom prst="rect">
            <a:avLst/>
          </a:prstGeom>
          <a:noFill/>
        </p:spPr>
        <p:txBody>
          <a:bodyPr wrap="square" lIns="0" rIns="0" tIns="0" bIns="0">
            <a:spAutoFit/>
          </a:bodyPr>
          <a:lstStyle/>
          <a:p>
            <a:pPr>
              <a:spcAft>
                <a:spcPts val="900"/>
              </a:spcAft>
              <a:defRPr sz="2300" b="1">
                <a:solidFill>
                  <a:srgbClr val="FFFFFF"/>
                </a:solidFill>
                <a:latin typeface="Arial"/>
              </a:defRPr>
            </a:pPr>
            <a:r>
              <a:t>Project materials</a:t>
            </a:r>
          </a:p>
        </p:txBody>
      </p:sp>
      <p:sp>
        <p:nvSpPr>
          <p:cNvPr id="22" name="TextBox 21"/>
          <p:cNvSpPr txBox="1"/>
          <p:nvPr/>
        </p:nvSpPr>
        <p:spPr>
          <a:xfrm>
            <a:off x="8293608" y="3182112"/>
            <a:ext cx="3136392" cy="1243584"/>
          </a:xfrm>
          <a:prstGeom prst="rect">
            <a:avLst/>
          </a:prstGeom>
          <a:noFill/>
        </p:spPr>
        <p:txBody>
          <a:bodyPr wrap="square" lIns="0" rIns="0" tIns="0" bIns="0">
            <a:spAutoFit/>
          </a:bodyPr>
          <a:lstStyle/>
          <a:p>
            <a:pPr>
              <a:spcAft>
                <a:spcPts val="900"/>
              </a:spcAft>
              <a:defRPr sz="1900" b="0">
                <a:solidFill>
                  <a:srgbClr val="C8D5DF"/>
                </a:solidFill>
                <a:latin typeface="Arial"/>
              </a:defRPr>
            </a:pPr>
            <a:r>
              <a:t>Project 2.pdf: parts a–c</a:t>
            </a:r>
          </a:p>
          <a:p>
            <a:pPr>
              <a:spcAft>
                <a:spcPts val="900"/>
              </a:spcAft>
              <a:defRPr sz="1900" b="0">
                <a:solidFill>
                  <a:srgbClr val="C8D5DF"/>
                </a:solidFill>
                <a:latin typeface="Arial"/>
              </a:defRPr>
            </a:pPr>
            <a:r>
              <a:t>06_ShortestPath.pdf: slides 9–10, 13, 15–18</a:t>
            </a:r>
          </a:p>
          <a:p>
            <a:pPr>
              <a:spcAft>
                <a:spcPts val="900"/>
              </a:spcAft>
              <a:defRPr sz="1900" b="0">
                <a:solidFill>
                  <a:srgbClr val="C8D5DF"/>
                </a:solidFill>
                <a:latin typeface="Arial"/>
              </a:defRPr>
            </a:pPr>
            <a:r>
              <a:t>Project_2_Dijkstra.ipynb</a:t>
            </a:r>
          </a:p>
        </p:txBody>
      </p:sp>
      <p:sp>
        <p:nvSpPr>
          <p:cNvPr id="23" name="Rounded Rectangle 22"/>
          <p:cNvSpPr/>
          <p:nvPr/>
        </p:nvSpPr>
        <p:spPr>
          <a:xfrm>
            <a:off x="8293608" y="4690872"/>
            <a:ext cx="3136392" cy="512064"/>
          </a:xfrm>
          <a:prstGeom prst="roundRect">
            <a:avLst>
              <a:gd name="adj" fmla="val 6000"/>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03336" y="4791456"/>
            <a:ext cx="2916936" cy="347472"/>
          </a:xfrm>
          <a:prstGeom prst="rect">
            <a:avLst/>
          </a:prstGeom>
          <a:noFill/>
        </p:spPr>
        <p:txBody>
          <a:bodyPr wrap="square" lIns="0" rIns="0" tIns="0" bIns="0">
            <a:spAutoFit/>
          </a:bodyPr>
          <a:lstStyle/>
          <a:p>
            <a:pPr>
              <a:spcAft>
                <a:spcPts val="900"/>
              </a:spcAft>
              <a:defRPr sz="2000" b="1">
                <a:solidFill>
                  <a:srgbClr val="FFFFFF"/>
                </a:solidFill>
                <a:latin typeface="Arial"/>
              </a:defRPr>
            </a:pPr>
            <a:r>
              <a:t>Notebook results</a:t>
            </a:r>
          </a:p>
        </p:txBody>
      </p:sp>
      <p:sp>
        <p:nvSpPr>
          <p:cNvPr id="25" name="Rounded Rectangle 24"/>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Speaker notes include the detailed explanations and assumptions.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GRAPH REPRESENTATION</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Actual code: graph conversions</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04</a:t>
            </a:r>
          </a:p>
        </p:txBody>
      </p:sp>
      <p:sp>
        <p:nvSpPr>
          <p:cNvPr id="7" name="TextBox 6"/>
          <p:cNvSpPr txBox="1"/>
          <p:nvPr/>
        </p:nvSpPr>
        <p:spPr>
          <a:xfrm>
            <a:off x="530352" y="1463040"/>
            <a:ext cx="11064240" cy="292608"/>
          </a:xfrm>
          <a:prstGeom prst="rect">
            <a:avLst/>
          </a:prstGeom>
          <a:noFill/>
        </p:spPr>
        <p:txBody>
          <a:bodyPr wrap="square" lIns="0" rIns="0" tIns="0" bIns="0">
            <a:spAutoFit/>
          </a:bodyPr>
          <a:lstStyle/>
          <a:p>
            <a:pPr>
              <a:spcAft>
                <a:spcPts val="900"/>
              </a:spcAft>
              <a:defRPr sz="1200" b="0">
                <a:solidFill>
                  <a:srgbClr val="475569"/>
                </a:solidFill>
                <a:latin typeface="Arial"/>
              </a:defRPr>
            </a:pPr>
            <a:r>
              <a:t>Project_2_Dijkstra.ipynb • cell 4, lines 26–30; cell 4, lines 33–37</a:t>
            </a:r>
          </a:p>
        </p:txBody>
      </p:sp>
      <p:pic>
        <p:nvPicPr>
          <p:cNvPr id="8" name="Picture 7" descr="code_conversions.png"/>
          <p:cNvPicPr>
            <a:picLocks noChangeAspect="1"/>
          </p:cNvPicPr>
          <p:nvPr/>
        </p:nvPicPr>
        <p:blipFill>
          <a:blip r:embed="rId3"/>
          <a:stretch>
            <a:fillRect/>
          </a:stretch>
        </p:blipFill>
        <p:spPr>
          <a:xfrm>
            <a:off x="2289804" y="1828800"/>
            <a:ext cx="7581911" cy="3685032"/>
          </a:xfrm>
          <a:prstGeom prst="rect">
            <a:avLst/>
          </a:prstGeom>
        </p:spPr>
      </p:pic>
      <p:sp>
        <p:nvSpPr>
          <p:cNvPr id="9" name="Rounded Rectangle 8"/>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Matrix allocates V² cells; the list allocates V lists and appends E edges.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ALGORITHM</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Actual code: the shared relaxation function</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06</a:t>
            </a:r>
          </a:p>
        </p:txBody>
      </p:sp>
      <p:sp>
        <p:nvSpPr>
          <p:cNvPr id="7" name="TextBox 6"/>
          <p:cNvSpPr txBox="1"/>
          <p:nvPr/>
        </p:nvSpPr>
        <p:spPr>
          <a:xfrm>
            <a:off x="530352" y="1463040"/>
            <a:ext cx="11064240" cy="292608"/>
          </a:xfrm>
          <a:prstGeom prst="rect">
            <a:avLst/>
          </a:prstGeom>
          <a:noFill/>
        </p:spPr>
        <p:txBody>
          <a:bodyPr wrap="square" lIns="0" rIns="0" tIns="0" bIns="0">
            <a:spAutoFit/>
          </a:bodyPr>
          <a:lstStyle/>
          <a:p>
            <a:pPr>
              <a:spcAft>
                <a:spcPts val="900"/>
              </a:spcAft>
              <a:defRPr sz="1200" b="0">
                <a:solidFill>
                  <a:srgbClr val="475569"/>
                </a:solidFill>
                <a:latin typeface="Arial"/>
              </a:defRPr>
            </a:pPr>
            <a:r>
              <a:t>Project_2_Dijkstra.ipynb • cell 6, lines 29–37</a:t>
            </a:r>
          </a:p>
        </p:txBody>
      </p:sp>
      <p:pic>
        <p:nvPicPr>
          <p:cNvPr id="8" name="Picture 7" descr="code_relax.png"/>
          <p:cNvPicPr>
            <a:picLocks noChangeAspect="1"/>
          </p:cNvPicPr>
          <p:nvPr/>
        </p:nvPicPr>
        <p:blipFill>
          <a:blip r:embed="rId3"/>
          <a:stretch>
            <a:fillRect/>
          </a:stretch>
        </p:blipFill>
        <p:spPr>
          <a:xfrm>
            <a:off x="548640" y="1922838"/>
            <a:ext cx="11064240" cy="3496955"/>
          </a:xfrm>
          <a:prstGeom prst="rect">
            <a:avLst/>
          </a:prstGeom>
        </p:spPr>
      </p:pic>
      <p:sp>
        <p:nvSpPr>
          <p:cNvPr id="9" name="Rounded Rectangle 8"/>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A successful relaxation updates both the distance and its parent.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A • CODE 1 / 2</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Actual code: Part A selects the next vertex</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10</a:t>
            </a:r>
          </a:p>
        </p:txBody>
      </p:sp>
      <p:sp>
        <p:nvSpPr>
          <p:cNvPr id="7" name="TextBox 6"/>
          <p:cNvSpPr txBox="1"/>
          <p:nvPr/>
        </p:nvSpPr>
        <p:spPr>
          <a:xfrm>
            <a:off x="530352" y="1463040"/>
            <a:ext cx="11064240" cy="292608"/>
          </a:xfrm>
          <a:prstGeom prst="rect">
            <a:avLst/>
          </a:prstGeom>
          <a:noFill/>
        </p:spPr>
        <p:txBody>
          <a:bodyPr wrap="square" lIns="0" rIns="0" tIns="0" bIns="0">
            <a:spAutoFit/>
          </a:bodyPr>
          <a:lstStyle/>
          <a:p>
            <a:pPr>
              <a:spcAft>
                <a:spcPts val="900"/>
              </a:spcAft>
              <a:defRPr sz="1200" b="0">
                <a:solidFill>
                  <a:srgbClr val="475569"/>
                </a:solidFill>
                <a:latin typeface="Arial"/>
              </a:defRPr>
            </a:pPr>
            <a:r>
              <a:t>Project_2_Dijkstra.ipynb • cell 10, lines 1–13</a:t>
            </a:r>
          </a:p>
        </p:txBody>
      </p:sp>
      <p:pic>
        <p:nvPicPr>
          <p:cNvPr id="8" name="Picture 7" descr="code_matrix_queue.png"/>
          <p:cNvPicPr>
            <a:picLocks noChangeAspect="1"/>
          </p:cNvPicPr>
          <p:nvPr/>
        </p:nvPicPr>
        <p:blipFill>
          <a:blip r:embed="rId3"/>
          <a:stretch>
            <a:fillRect/>
          </a:stretch>
        </p:blipFill>
        <p:spPr>
          <a:xfrm>
            <a:off x="1756732" y="1828800"/>
            <a:ext cx="8648054" cy="3685032"/>
          </a:xfrm>
          <a:prstGeom prst="rect">
            <a:avLst/>
          </a:prstGeom>
        </p:spPr>
      </p:pic>
      <p:sp>
        <p:nvSpPr>
          <p:cNvPr id="9" name="Rounded Rectangle 8"/>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The unsorted queue scans its remaining vertices to find the minimum.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A • CODE 2 / 2</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Actual code: Part A scans the matrix row</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11</a:t>
            </a:r>
          </a:p>
        </p:txBody>
      </p:sp>
      <p:sp>
        <p:nvSpPr>
          <p:cNvPr id="7" name="TextBox 6"/>
          <p:cNvSpPr txBox="1"/>
          <p:nvPr/>
        </p:nvSpPr>
        <p:spPr>
          <a:xfrm>
            <a:off x="530352" y="1463040"/>
            <a:ext cx="11064240" cy="292608"/>
          </a:xfrm>
          <a:prstGeom prst="rect">
            <a:avLst/>
          </a:prstGeom>
          <a:noFill/>
        </p:spPr>
        <p:txBody>
          <a:bodyPr wrap="square" lIns="0" rIns="0" tIns="0" bIns="0">
            <a:spAutoFit/>
          </a:bodyPr>
          <a:lstStyle/>
          <a:p>
            <a:pPr>
              <a:spcAft>
                <a:spcPts val="900"/>
              </a:spcAft>
              <a:defRPr sz="1200" b="0">
                <a:solidFill>
                  <a:srgbClr val="475569"/>
                </a:solidFill>
                <a:latin typeface="Arial"/>
              </a:defRPr>
            </a:pPr>
            <a:r>
              <a:t>Project_2_Dijkstra.ipynb • cell 10, lines 14–23</a:t>
            </a:r>
          </a:p>
        </p:txBody>
      </p:sp>
      <p:pic>
        <p:nvPicPr>
          <p:cNvPr id="8" name="Picture 7" descr="code_matrix_edges.png"/>
          <p:cNvPicPr>
            <a:picLocks noChangeAspect="1"/>
          </p:cNvPicPr>
          <p:nvPr/>
        </p:nvPicPr>
        <p:blipFill>
          <a:blip r:embed="rId3"/>
          <a:stretch>
            <a:fillRect/>
          </a:stretch>
        </p:blipFill>
        <p:spPr>
          <a:xfrm>
            <a:off x="548640" y="1910306"/>
            <a:ext cx="11064240" cy="3522019"/>
          </a:xfrm>
          <a:prstGeom prst="rect">
            <a:avLst/>
          </a:prstGeom>
        </p:spPr>
      </p:pic>
      <p:sp>
        <p:nvSpPr>
          <p:cNvPr id="9" name="Rounded Rectangle 8"/>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Every extracted vertex scans all n columns, including absent edges.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B • CODE 1 / 3</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Actual code: Part B uses adjacency lists</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17</a:t>
            </a:r>
          </a:p>
        </p:txBody>
      </p:sp>
      <p:sp>
        <p:nvSpPr>
          <p:cNvPr id="7" name="TextBox 6"/>
          <p:cNvSpPr txBox="1"/>
          <p:nvPr/>
        </p:nvSpPr>
        <p:spPr>
          <a:xfrm>
            <a:off x="530352" y="1463040"/>
            <a:ext cx="11064240" cy="292608"/>
          </a:xfrm>
          <a:prstGeom prst="rect">
            <a:avLst/>
          </a:prstGeom>
          <a:noFill/>
        </p:spPr>
        <p:txBody>
          <a:bodyPr wrap="square" lIns="0" rIns="0" tIns="0" bIns="0">
            <a:spAutoFit/>
          </a:bodyPr>
          <a:lstStyle/>
          <a:p>
            <a:pPr>
              <a:spcAft>
                <a:spcPts val="900"/>
              </a:spcAft>
              <a:defRPr sz="1200" b="0">
                <a:solidFill>
                  <a:srgbClr val="475569"/>
                </a:solidFill>
                <a:latin typeface="Arial"/>
              </a:defRPr>
            </a:pPr>
            <a:r>
              <a:t>Project_2_Dijkstra.ipynb • cell 15, lines 60–71</a:t>
            </a:r>
          </a:p>
        </p:txBody>
      </p:sp>
      <p:pic>
        <p:nvPicPr>
          <p:cNvPr id="8" name="Picture 7" descr="code_list.png"/>
          <p:cNvPicPr>
            <a:picLocks noChangeAspect="1"/>
          </p:cNvPicPr>
          <p:nvPr/>
        </p:nvPicPr>
        <p:blipFill>
          <a:blip r:embed="rId3"/>
          <a:stretch>
            <a:fillRect/>
          </a:stretch>
        </p:blipFill>
        <p:spPr>
          <a:xfrm>
            <a:off x="1378989" y="1828800"/>
            <a:ext cx="9403541" cy="3685032"/>
          </a:xfrm>
          <a:prstGeom prst="rect">
            <a:avLst/>
          </a:prstGeom>
        </p:spPr>
      </p:pic>
      <p:sp>
        <p:nvSpPr>
          <p:cNvPr id="9" name="Rounded Rectangle 8"/>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Only existing neighbors are visited; successful updates call decrease-key.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B • CODE 2 / 3</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Actual code: extracting the heap minimum</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18</a:t>
            </a:r>
          </a:p>
        </p:txBody>
      </p:sp>
      <p:sp>
        <p:nvSpPr>
          <p:cNvPr id="7" name="TextBox 6"/>
          <p:cNvSpPr txBox="1"/>
          <p:nvPr/>
        </p:nvSpPr>
        <p:spPr>
          <a:xfrm>
            <a:off x="530352" y="1463040"/>
            <a:ext cx="11064240" cy="292608"/>
          </a:xfrm>
          <a:prstGeom prst="rect">
            <a:avLst/>
          </a:prstGeom>
          <a:noFill/>
        </p:spPr>
        <p:txBody>
          <a:bodyPr wrap="square" lIns="0" rIns="0" tIns="0" bIns="0">
            <a:spAutoFit/>
          </a:bodyPr>
          <a:lstStyle/>
          <a:p>
            <a:pPr>
              <a:spcAft>
                <a:spcPts val="900"/>
              </a:spcAft>
              <a:defRPr sz="1200" b="0">
                <a:solidFill>
                  <a:srgbClr val="475569"/>
                </a:solidFill>
                <a:latin typeface="Arial"/>
              </a:defRPr>
            </a:pPr>
            <a:r>
              <a:t>Project_2_Dijkstra.ipynb • cell 15, lines 36–45</a:t>
            </a:r>
          </a:p>
        </p:txBody>
      </p:sp>
      <p:pic>
        <p:nvPicPr>
          <p:cNvPr id="8" name="Picture 7" descr="code_extract.png"/>
          <p:cNvPicPr>
            <a:picLocks noChangeAspect="1"/>
          </p:cNvPicPr>
          <p:nvPr/>
        </p:nvPicPr>
        <p:blipFill>
          <a:blip r:embed="rId3"/>
          <a:stretch>
            <a:fillRect/>
          </a:stretch>
        </p:blipFill>
        <p:spPr>
          <a:xfrm>
            <a:off x="3226072" y="1828800"/>
            <a:ext cx="5709375" cy="3685032"/>
          </a:xfrm>
          <a:prstGeom prst="rect">
            <a:avLst/>
          </a:prstGeom>
        </p:spPr>
      </p:pic>
      <p:sp>
        <p:nvSpPr>
          <p:cNvPr id="9" name="Rounded Rectangle 8"/>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Replace the root with the last entry, then sift down to restore heap order.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B"/>
        </a:solidFill>
        <a:effectLst/>
      </p:bgPr>
    </p:bg>
    <p:spTree>
      <p:nvGrpSpPr>
        <p:cNvPr id="1" name=""/>
        <p:cNvGrpSpPr/>
        <p:nvPr/>
      </p:nvGrpSpPr>
      <p:grpSpPr/>
      <p:sp>
        <p:nvSpPr>
          <p:cNvPr id="2" name="TextBox 1"/>
          <p:cNvSpPr txBox="1"/>
          <p:nvPr/>
        </p:nvSpPr>
        <p:spPr>
          <a:xfrm>
            <a:off x="502920" y="256032"/>
            <a:ext cx="10972800" cy="274320"/>
          </a:xfrm>
          <a:prstGeom prst="rect">
            <a:avLst/>
          </a:prstGeom>
          <a:noFill/>
        </p:spPr>
        <p:txBody>
          <a:bodyPr wrap="square" lIns="0" rIns="0" tIns="0" bIns="0">
            <a:spAutoFit/>
          </a:bodyPr>
          <a:lstStyle/>
          <a:p>
            <a:pPr>
              <a:spcAft>
                <a:spcPts val="900"/>
              </a:spcAft>
              <a:defRPr sz="1100" b="1">
                <a:solidFill>
                  <a:srgbClr val="176B9B"/>
                </a:solidFill>
                <a:latin typeface="Arial"/>
              </a:defRPr>
            </a:pPr>
            <a:r>
              <a:t>PART B • CODE 3 / 3</a:t>
            </a:r>
          </a:p>
        </p:txBody>
      </p:sp>
      <p:sp>
        <p:nvSpPr>
          <p:cNvPr id="3" name="TextBox 2"/>
          <p:cNvSpPr txBox="1"/>
          <p:nvPr/>
        </p:nvSpPr>
        <p:spPr>
          <a:xfrm>
            <a:off x="502920" y="758952"/>
            <a:ext cx="11155680" cy="731520"/>
          </a:xfrm>
          <a:prstGeom prst="rect">
            <a:avLst/>
          </a:prstGeom>
          <a:noFill/>
        </p:spPr>
        <p:txBody>
          <a:bodyPr wrap="square" lIns="0" rIns="0" tIns="0" bIns="0">
            <a:spAutoFit/>
          </a:bodyPr>
          <a:lstStyle/>
          <a:p>
            <a:pPr>
              <a:spcAft>
                <a:spcPts val="900"/>
              </a:spcAft>
              <a:defRPr sz="3000" b="1">
                <a:solidFill>
                  <a:srgbClr val="12283E"/>
                </a:solidFill>
                <a:latin typeface="Arial"/>
              </a:defRPr>
            </a:pPr>
            <a:r>
              <a:t>Actual code: decreasing a heap priority</a:t>
            </a:r>
          </a:p>
        </p:txBody>
      </p:sp>
      <p:sp>
        <p:nvSpPr>
          <p:cNvPr id="4" name="Rectangle 3"/>
          <p:cNvSpPr/>
          <p:nvPr/>
        </p:nvSpPr>
        <p:spPr>
          <a:xfrm>
            <a:off x="502920" y="6437376"/>
            <a:ext cx="11155680" cy="13716"/>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28816"/>
            <a:ext cx="10058400" cy="164592"/>
          </a:xfrm>
          <a:prstGeom prst="rect">
            <a:avLst/>
          </a:prstGeom>
          <a:noFill/>
        </p:spPr>
        <p:txBody>
          <a:bodyPr wrap="square" lIns="0" rIns="0" tIns="0" bIns="0">
            <a:spAutoFit/>
          </a:bodyPr>
          <a:lstStyle/>
          <a:p>
            <a:pPr>
              <a:spcAft>
                <a:spcPts val="900"/>
              </a:spcAft>
              <a:defRPr sz="900" b="0">
                <a:solidFill>
                  <a:srgbClr val="475569"/>
                </a:solidFill>
                <a:latin typeface="Arial"/>
              </a:defRPr>
            </a:pPr>
            <a:r>
              <a:t>SC2001  |  Project 2: Dijkstra’s algorithm</a:t>
            </a:r>
          </a:p>
        </p:txBody>
      </p:sp>
      <p:sp>
        <p:nvSpPr>
          <p:cNvPr id="6" name="TextBox 5"/>
          <p:cNvSpPr txBox="1"/>
          <p:nvPr/>
        </p:nvSpPr>
        <p:spPr>
          <a:xfrm>
            <a:off x="11109960" y="6492240"/>
            <a:ext cx="548640" cy="228600"/>
          </a:xfrm>
          <a:prstGeom prst="rect">
            <a:avLst/>
          </a:prstGeom>
          <a:noFill/>
        </p:spPr>
        <p:txBody>
          <a:bodyPr wrap="square" lIns="0" rIns="0" tIns="0" bIns="0">
            <a:spAutoFit/>
          </a:bodyPr>
          <a:lstStyle/>
          <a:p>
            <a:pPr>
              <a:spcAft>
                <a:spcPts val="900"/>
              </a:spcAft>
              <a:defRPr sz="1100" b="0">
                <a:solidFill>
                  <a:srgbClr val="475569"/>
                </a:solidFill>
                <a:latin typeface="Arial"/>
              </a:defRPr>
            </a:pPr>
            <a:r>
              <a:t>19</a:t>
            </a:r>
          </a:p>
        </p:txBody>
      </p:sp>
      <p:sp>
        <p:nvSpPr>
          <p:cNvPr id="7" name="TextBox 6"/>
          <p:cNvSpPr txBox="1"/>
          <p:nvPr/>
        </p:nvSpPr>
        <p:spPr>
          <a:xfrm>
            <a:off x="530352" y="1463040"/>
            <a:ext cx="11064240" cy="292608"/>
          </a:xfrm>
          <a:prstGeom prst="rect">
            <a:avLst/>
          </a:prstGeom>
          <a:noFill/>
        </p:spPr>
        <p:txBody>
          <a:bodyPr wrap="square" lIns="0" rIns="0" tIns="0" bIns="0">
            <a:spAutoFit/>
          </a:bodyPr>
          <a:lstStyle/>
          <a:p>
            <a:pPr>
              <a:spcAft>
                <a:spcPts val="900"/>
              </a:spcAft>
              <a:defRPr sz="1200" b="0">
                <a:solidFill>
                  <a:srgbClr val="475569"/>
                </a:solidFill>
                <a:latin typeface="Arial"/>
              </a:defRPr>
            </a:pPr>
            <a:r>
              <a:t>Project_2_Dijkstra.ipynb • cell 15, lines 47–57</a:t>
            </a:r>
          </a:p>
        </p:txBody>
      </p:sp>
      <p:pic>
        <p:nvPicPr>
          <p:cNvPr id="8" name="Picture 7" descr="code_decrease.png"/>
          <p:cNvPicPr>
            <a:picLocks noChangeAspect="1"/>
          </p:cNvPicPr>
          <p:nvPr/>
        </p:nvPicPr>
        <p:blipFill>
          <a:blip r:embed="rId3"/>
          <a:stretch>
            <a:fillRect/>
          </a:stretch>
        </p:blipFill>
        <p:spPr>
          <a:xfrm>
            <a:off x="548640" y="1861052"/>
            <a:ext cx="11064240" cy="3620526"/>
          </a:xfrm>
          <a:prstGeom prst="rect">
            <a:avLst/>
          </a:prstGeom>
        </p:spPr>
      </p:pic>
      <p:sp>
        <p:nvSpPr>
          <p:cNvPr id="9" name="Rounded Rectangle 8"/>
          <p:cNvSpPr/>
          <p:nvPr/>
        </p:nvSpPr>
        <p:spPr>
          <a:xfrm>
            <a:off x="502920" y="5687568"/>
            <a:ext cx="11155680" cy="530352"/>
          </a:xfrm>
          <a:prstGeom prst="roundRect">
            <a:avLst>
              <a:gd name="adj" fmla="val 6000"/>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5797296"/>
            <a:ext cx="10789920" cy="329184"/>
          </a:xfrm>
          <a:prstGeom prst="rect">
            <a:avLst/>
          </a:prstGeom>
          <a:noFill/>
        </p:spPr>
        <p:txBody>
          <a:bodyPr wrap="square" lIns="0" rIns="0" tIns="0" bIns="0">
            <a:spAutoFit/>
          </a:bodyPr>
          <a:lstStyle/>
          <a:p>
            <a:pPr>
              <a:spcAft>
                <a:spcPts val="900"/>
              </a:spcAft>
              <a:defRPr sz="1800" b="1">
                <a:solidFill>
                  <a:srgbClr val="12283E"/>
                </a:solidFill>
                <a:latin typeface="Arial"/>
              </a:defRPr>
            </a:pPr>
            <a:r>
              <a:t>position[vertex] finds the heap entry in O(1); sift-up takes O(log 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